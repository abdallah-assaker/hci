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(Title)
Key message: Frame the presentation as a comprehensive examination of the human and organizational dimensions of software engineering.
Say: "This report addresses team management across the full software engineering lifecycle — from how teams form, to how they scale, to how AI is reshaping the engineering workforce."
Emphasize: The report synthesizes academic theory, industry frameworks, and case studies from Google, Spotify, Netflix, Amazon, Microsoft, and Atlassian.
Expected Q: "Why focus on team management and not just technical practices?" 
A: Because Google's Project Aristotle, Edmondson's research, and DeMarco &amp; Lister's Peopleware all demonstrate that team dynamics and culture are stronger predictors of success than technical tooling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(Why Team Management Matters)
Key message: Modern software development is fundamentally a team sport — individual genius is insufficient.
Say: "Software systems today are too complex for any individual to build alone. Teams that span time zones, disciplines, and cultures are the norm — not the exception."
Emphasize: The shift is from technical architecture as the key challenge to organizational architecture and human coordination as the decisive factor.
Key stat to mention: Google's Project Aristotle found that WHO is on the team matters less than HOW the team works together.
Expected Q: "How has AI changed the team management challenge?"
A: AI tools like GitHub Copilot boost individual productivity, but they introduce new coordination challenges — code review processes, security policies, and the risk of skill atrophy.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(Foundations)
Key message: Psychological safety is the single most important predictor of team effectiveness — above talent, skills, and team composition.
Say: "Google's Project Aristotle analyzed 180 teams over two years. The finding that surprised everyone: it wasn't who was on the team that predicted success, but how they interacted. Psychological safety — the belief that you can take risks without fear of punishment — was factor number one."
Emphasize: The difference between a group (shared workspace) and a real team (mutual accountability). Many software teams are actually groups.
Key theorist: Amy Edmondson — "The Fearless Organization." Teams with high psychological safety are more creative, learn faster from errors, and sustain high performance under pressure.
Expected Q: "How do you measure psychological safety?"
A: Through anonymous pulse surveys, observation of team retrospectives (do people surface problems honestly?), and analysis of incident reports (do engineers report close calls, or hide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(Team Structures)
Key message: Organizational structure is a strategic decision — not just a reporting chart. The wrong structure creates friction in both delivery and architecture.
Say: "Each model has distinct trade-offs. Functional teams give you specialists but create handoff delays. Cross-functional teams move fast but need generalists. The autonomous 'pod' model — as used by Amazon and Spotify — maximizes speed but requires strong architectural governance to prevent divergence."
Emphasize: Conway's Law — your system architecture will look like your org chart. Amazon deliberately uses the two-pizza team model to force microservices boundaries.
Expected Q: "How do you choose the right structure?"
A: It depends on your product stage, team maturity, and technical architecture. Early-stage startups benefit from small cross-functional teams. Large enterprises with compliance requirements may need matrix structures. The key is intentional design, not accidental 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(Team Topologies)
Key message: Team Topologies provides a principled, repeatable model for organizational design in software engineering — replacing ad hoc team creation.
Say: "Skelton and Pais introduce four team types and three interaction modes. The key insight is cognitive load: stream-aligned teams should focus on business value, not on managing their own CI/CD pipelines. Platform teams absorb that complexity."
Emphasize: The concept of "fast flow" — the goal is to minimize organizational drag so stream-aligned teams can deliver continuously.
Key connection: Team Topologies + Conway's Law = the Inverse Conway Maneuver. Design your teams to match the architecture you want to build.
Expected Q: "What's the difference between enabling teams and platform teams?"
A: Platform teams provide services (self-service tools, APIs). Enabling teams provide capability — they coach, upskill, and then step back. Platform teams are ongoing; enabling teams are typically time-bounded.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(Tuckman's Model)
Key message: Teams don't automatically perform — they evolve through predictable stages, and management interventions must match each stage.
Say: "Bruce Tuckman's model, popularized by Atlassian's Team Playbook, identifies five sequential stages. The critical insight for managers is that conflict — the Storming stage — is normal and healthy. A team that skips Storming hasn't resolved its tensions; it's suppressed them."
Emphasize: The goal of good team management is to accelerate through Forming and Storming, reach Performing faster, and spend as much time there as possible.
Key tool: Atlassian's Team Playbook provides structured facilitation exercises for each stage — health monitors, retrospective formats, goal-setting workshops.
Expected Q: "What happens if a team regresses — goes back to Storming after being in Performing?"
A: Team regression is common after major changes: new members join, leadership changes, or the technical context shifts dramatically. Managers should recognize the regression signals early and re-apply Forming/Storming interventions.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7 (Leadership)
Key message: Servant leadership is the dominant paradigm for modern software engineering management — but context determines which style is most effective.
Say: "Winters, Manshreck, and Wright in 'Software Engineering at Google' articulate leadership grounded in humility and psychological safety. Google engineering managers are expected to mentor, not supervise — to remove blockers, not generate them."
Emphasize: The shift from 'tell and control' to 'ask and support.' Atlassian's principle: 'Teams are empowered to decide and act with autonomy' — leaders provide direction, not decisions.
Key insight: Amazon's leadership principles (Earn Trust, Bias for Action, Ownership) shape how engineering managers behave in practice — even influencing code review culture.
Expected Q: "When is transactional leadership appropriate in software engineering?"
A: When delivering to hard deadlines (regulatory, safety-critical), when onboarding junior engineers who need clear structure, or during incident response when clear command chains are essential.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8 (Communication)
Key message: Communication architecture is as important as software architecture. The tools are secondary to the norms and discipline.
Say: "Atlassian's guidance for distributed teams is to 'overcommunicate' — ensure decisions, rationale, and status are documented in persistent channels, not just spoken in meetings. If it wasn't written down, it didn't happen."
Emphasize: Code review is not just a quality gate — it's a communication mechanism. GitHub PR comments are structured asynchronous dialogue that transfers knowledge and aligns on standards.
Practical tip to mention: Atlassian recommends that new hires write an introductory blog post on the company wiki — enabling colleagues across time zones to learn their background, interests, and working style. Simple but powerful for building social capital.
Expected Q: "How do you communicate effectively across time zones?"
A: Async-first — write ADRs (Architecture Decision Records), use Loom/async video for updates, define core overlap hours, and maintain rigorous Confluence/wiki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9 (Agile)
Key message: Scrum and Kanban are the building blocks of agile delivery — the Spotify Model shows how to scale these principles across hundreds of engineers without losing team autonomy.
Say: "Scrum provides cadence and ceremony; Kanban provides flow and flexibility. Neither is universally superior — the choice depends on the work type. Feature development teams benefit from Scrum's structure; operations teams benefit from Kanban's continuous intake."
Emphasize: The Spotify model's balance of autonomy and alignment. Squads operate like independent Scrum teams, but Chapters maintain technical standards, and Guilds spread knowledge across tribes.
Key insight: Kniberg and Ivarsson (2012) describe Spotify's model as 'autonomous squads with tribal alignment' — a deliberate balance of independence and coherence.
Expected Q: "Is the Spotify model still in use at Spotify?"
A: Spotify has evolved beyond the original model — it was never a rigid prescription. Kniberg himself clarified it was a snapshot of their thinking at one point in time. The value is the underlying principles: autonomy, alignment, and chapter/guild knowledge sharing.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10 (Motivation &amp; Conflict)
Key message: Intrinsic motivation — not bonuses or titles — drives software engineer performance. Conflict, managed well, improves technical decisions.
Say: "Daniel Pink's Drive model is particularly well-suited to software engineering. Engineers want autonomy over how they solve problems, the opportunity to develop mastery, and a sense that their work has purpose beyond shipping features."
Emphasize: Herzberg's practical insight — before adding motivators (recognition, growth), eliminate demotivators. Slow CI pipelines, poor tooling, and excessive meetings are hygiene failures that undermine everything else.
Key insight: Task conflict (disagreement about technical approach) is healthy and should be encouraged — it surfaces better solutions. Relationship conflict must be addressed immediately before it erodes trust.
Expected Q: "How do you apply the Thomas-Kilmann model in practice?"
A: The Scrum Master or engineering manager acts as a facilitator. For technical debates, push toward Collaborating — design reviews, architecture decision records, structured spike work. Reserve Competing for genuine emergencies (production incidents, safety-critical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11 (Distributed Teams)
Key message: Distributed teams can outperform co-located teams — but only with deliberate process design, documentation discipline, and structured relationship-building.
Say: "The pandemic normalized distributed work. The organizations that did it best — Atlassian, GitLab, Automattic — invested heavily in async-first communication, wiki culture, and deliberate social rituals."
Emphasize: The 'follow-the-sun' model — where distributed teams in different time zones hand off work — requires extremely disciplined documentation and handover processes. It's a potential advantage, but only if coordination overhead is managed.
Key framework: Atlassian recommends two distribution patterns: product mirroring (each region works on related features) or architectural distribution (components owned by location of expertise). Both reduce cross-timezone dependency surface area.
Expected Q: "What's the biggest risk for distributed teams?"
A: Knowledge silos and isolation-related burnout. The mitigation is the same: overcommunication, documentation-first culture, regular synchronous touchpoints, and explicit investment in building social capital across geographic distances.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12 (Knowledge Management)
Key message: Knowledge is a software team's most critical asset — and its most fragile. Losing institutional knowledge is an existential risk.
Say: "Nonaka and Takeuchi's SECI model maps perfectly onto software engineering practices. Pair programming is pure socialization — tacit knowledge transferred through direct interaction. Architecture Decision Records are externalization — converting tacit design intuitions into explicit, searchable artifacts."
Emphasize: The 'bus factor' risk. If the answer to 'who knows how this system works' is one person, the team is critically vulnerable. Cross-training, documented runbooks, and mandatory code review are the mitigations.
Key practice: Spotify's guilds provide cross-tribe knowledge sharing — a 'Testing Guild' spreads test automation best practices across all squads, not just within one tribe.
Expected Q: "How do you balance documentation overhead with delivery speed?"
A: Documentation should be lightweight and embedded in workflow — commit messages, PR descriptions, ADRs in the repository, runbooks in the wiki. The overhead is low; the value compounds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13 (Performance Metrics)
Key message: DORA metrics are the gold standard for measuring software delivery performance — they correlate directly with business outcomes.
Say: "Forsgren, Humble, and Kim's Accelerate research established over four years that DORA metrics are not just efficiency measures — they predict organizational profitability, market share, and customer satisfaction. Elite performers are 50% more profitable on average."
Emphasize: The key insight is that speed and stability are NOT a trade-off. Elite teams deploy more frequently AND have lower change failure rates. The constraint is process maturity, not a fundamental tension.
Key caveat to mention: Metrics can be gamed. Velocity is particularly dangerous — high sprint velocity with poor quality just moves failure downstream. OKRs must be tied to outcomes, not output.
Expected Q: "How should a team start measuring if they have no metrics today?"
A: Start with DORA. Lead Time and Deployment Frequency are easiest to measure first — check your CI/CD logs. Change Failure Rate and MTTR come from incident tracking. These four metrics together give you a balanced view of delivery 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14 (DevOps, Platform, AI)
Key message: DevOps, platform engineering, and AI are the three converging forces reshaping what it means to be a software engineering team in 2026.
Say: "DevOps removed the wall between development and operations. Platform engineering removed the cognitive burden of infrastructure management from product teams. AI is now beginning to augment — and in some cases automate — routine engineering tasks."
Emphasize: The Netflix 'full-cycle developer' model — build, deploy, operate, monitor, on-call — represents the logical endpoint of DevOps culture. It creates extreme accountability and very short feedback loops.
Key AI insight from Raghavan (2023) at Harness: GitHub Copilot produced 10.6% more PRs and reduced cycle time by 3.5 hours. But Noor (2025) found that less experienced developers struggled with AI-generated code they couldn't fully evaluate.
Expected Q: "What is the biggest risk with AI-assisted development from a team management perspective?"
A: Two risks — first, skill atrophy if engineers stop engaging deeply with code. Second, false confidence in AI-generated code that passes review without proper understanding. Both require process mitigations: mandatory code review of all AI output, and deliberate skill development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15 (Future Trends &amp; Recommendations)
Key message: The future of software team management is remote-first, AI-augmented, and diversity-driven — but the fundamentals never change: safety, clarity, and leadership.
Say: "This slide synthesizes the two most important takeaways from the entire report. The trends show where software team management is heading. The recommendations are the concrete actions an engineering manager should take today."
Emphasize: Psychological safety is Recommendation #1 for a reason — every other recommendation depends on it. You cannot have servant leadership, knowledge sharing, or responsible AI adoption without a foundation of trust.
Key closing insight: The technical challenges of building complex software are immense. But as DeMarco and Lister argued in Peopleware, the people challenges are no less demanding — and arguably more decisive.
Expected Q: "What's the single most impactful change a new engineering manager could make?"
A: Build psychological safety. It's the highest-leverage intervention — it enables honest retrospectives, blameless incident culture, productive conflict, and genuine knowledge sharing. Without it, every other framework and tool is significantly less effective.
Final point: "I'm happy to discuss any specific area in more depth — the report covers each of these topics with significant empirical evidence and case study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16 (References)
This slide presents the 16 key sources cited throughout the presentation.
Note: The full reference list in the submitted report contains additional sources including Amazon Web Services, Boehm &amp; Turner, Cockburn, Davenport &amp; Prusak, Katzenbach &amp; Smith, Larman &amp; Vodde, Microsoft Corporation, PMI (2021), and Pressman (2014).
All citations follow APA 7th Edition format as used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1A5296"/>
          </a:solidFill>
          <a:ln w="12700">
            <a:solidFill>
              <a:srgbClr val="1A5296"/>
            </a:solidFill>
            <a:prstDash val="solid"/>
          </a:ln>
        </p:spPr>
      </p:sp>
      <p:sp>
        <p:nvSpPr>
          <p:cNvPr id="3" name="Shape 1"/>
          <p:cNvSpPr/>
          <p:nvPr/>
        </p:nvSpPr>
        <p:spPr>
          <a:xfrm>
            <a:off x="548640" y="0"/>
            <a:ext cx="73152" cy="5143500"/>
          </a:xfrm>
          <a:prstGeom prst="rect">
            <a:avLst/>
          </a:prstGeom>
          <a:solidFill>
            <a:srgbClr val="0891B2"/>
          </a:solidFill>
          <a:ln w="12700">
            <a:solidFill>
              <a:srgbClr val="0891B2"/>
            </a:solidFill>
            <a:prstDash val="solid"/>
          </a:ln>
        </p:spPr>
      </p:sp>
      <p:sp>
        <p:nvSpPr>
          <p:cNvPr id="4" name="Shape 2"/>
          <p:cNvSpPr/>
          <p:nvPr/>
        </p:nvSpPr>
        <p:spPr>
          <a:xfrm>
            <a:off x="0" y="4114800"/>
            <a:ext cx="9144000" cy="1028700"/>
          </a:xfrm>
          <a:prstGeom prst="rect">
            <a:avLst/>
          </a:prstGeom>
          <a:solidFill>
            <a:srgbClr val="091630"/>
          </a:solidFill>
          <a:ln w="12700">
            <a:solidFill>
              <a:srgbClr val="091630"/>
            </a:solidFill>
            <a:prstDash val="solid"/>
          </a:ln>
        </p:spPr>
      </p:sp>
      <p:sp>
        <p:nvSpPr>
          <p:cNvPr id="5" name="Text 3"/>
          <p:cNvSpPr/>
          <p:nvPr/>
        </p:nvSpPr>
        <p:spPr>
          <a:xfrm>
            <a:off x="914400" y="640080"/>
            <a:ext cx="7772400" cy="685800"/>
          </a:xfrm>
          <a:prstGeom prst="rect">
            <a:avLst/>
          </a:prstGeom>
          <a:noFill/>
          <a:ln/>
        </p:spPr>
        <p:txBody>
          <a:bodyPr wrap="square"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Team Management in</a:t>
            </a:r>
            <a:endParaRPr lang="en-US" sz="3800" dirty="0"/>
          </a:p>
        </p:txBody>
      </p:sp>
      <p:sp>
        <p:nvSpPr>
          <p:cNvPr id="6" name="Text 4"/>
          <p:cNvSpPr/>
          <p:nvPr/>
        </p:nvSpPr>
        <p:spPr>
          <a:xfrm>
            <a:off x="914400" y="1325880"/>
            <a:ext cx="7772400" cy="685800"/>
          </a:xfrm>
          <a:prstGeom prst="rect">
            <a:avLst/>
          </a:prstGeom>
          <a:noFill/>
          <a:ln/>
        </p:spPr>
        <p:txBody>
          <a:bodyPr wrap="square" rtlCol="0" anchor="ctr"/>
          <a:lstStyle/>
          <a:p>
            <a:pPr indent="0" marL="0">
              <a:buNone/>
            </a:pPr>
            <a:r>
              <a:rPr lang="en-US" sz="3800" b="1" dirty="0">
                <a:solidFill>
                  <a:srgbClr val="CADCFC"/>
                </a:solidFill>
                <a:latin typeface="Calibri" pitchFamily="34" charset="0"/>
                <a:ea typeface="Calibri" pitchFamily="34" charset="-122"/>
                <a:cs typeface="Calibri" pitchFamily="34" charset="-120"/>
              </a:rPr>
              <a:t>Engineered Software Development</a:t>
            </a:r>
            <a:endParaRPr lang="en-US" sz="3800" dirty="0"/>
          </a:p>
        </p:txBody>
      </p:sp>
      <p:sp>
        <p:nvSpPr>
          <p:cNvPr id="7" name="Shape 5"/>
          <p:cNvSpPr/>
          <p:nvPr/>
        </p:nvSpPr>
        <p:spPr>
          <a:xfrm>
            <a:off x="914400" y="2103120"/>
            <a:ext cx="4114800" cy="45720"/>
          </a:xfrm>
          <a:prstGeom prst="rect">
            <a:avLst/>
          </a:prstGeom>
          <a:solidFill>
            <a:srgbClr val="0891B2"/>
          </a:solidFill>
          <a:ln w="12700">
            <a:solidFill>
              <a:srgbClr val="0891B2"/>
            </a:solidFill>
            <a:prstDash val="solid"/>
          </a:ln>
        </p:spPr>
      </p:sp>
      <p:sp>
        <p:nvSpPr>
          <p:cNvPr id="8" name="Text 6"/>
          <p:cNvSpPr/>
          <p:nvPr/>
        </p:nvSpPr>
        <p:spPr>
          <a:xfrm>
            <a:off x="914400" y="2286000"/>
            <a:ext cx="7772400" cy="347472"/>
          </a:xfrm>
          <a:prstGeom prst="rect">
            <a:avLst/>
          </a:prstGeom>
          <a:noFill/>
          <a:ln/>
        </p:spPr>
        <p:txBody>
          <a:bodyPr wrap="square"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Course: </a:t>
            </a:r>
            <a:pPr indent="0" marL="0">
              <a:buNone/>
            </a:pPr>
            <a:r>
              <a:rPr lang="en-US" sz="1300" dirty="0">
                <a:solidFill>
                  <a:srgbClr val="94B8D6"/>
                </a:solidFill>
                <a:latin typeface="Calibri" pitchFamily="34" charset="0"/>
                <a:ea typeface="Calibri" pitchFamily="34" charset="-122"/>
                <a:cs typeface="Calibri" pitchFamily="34" charset="-120"/>
              </a:rPr>
              <a:t>Managing an Engineered Software Development</a:t>
            </a:r>
            <a:endParaRPr lang="en-US" sz="1300" dirty="0"/>
          </a:p>
        </p:txBody>
      </p:sp>
      <p:sp>
        <p:nvSpPr>
          <p:cNvPr id="9" name="Text 7"/>
          <p:cNvSpPr/>
          <p:nvPr/>
        </p:nvSpPr>
        <p:spPr>
          <a:xfrm>
            <a:off x="914400" y="2651760"/>
            <a:ext cx="7772400" cy="347472"/>
          </a:xfrm>
          <a:prstGeom prst="rect">
            <a:avLst/>
          </a:prstGeom>
          <a:noFill/>
          <a:ln/>
        </p:spPr>
        <p:txBody>
          <a:bodyPr wrap="square"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Student: </a:t>
            </a:r>
            <a:pPr indent="0" marL="0">
              <a:buNone/>
            </a:pPr>
            <a:r>
              <a:rPr lang="en-US" sz="1300" dirty="0">
                <a:solidFill>
                  <a:srgbClr val="94B8D6"/>
                </a:solidFill>
                <a:latin typeface="Calibri" pitchFamily="34" charset="0"/>
                <a:ea typeface="Calibri" pitchFamily="34" charset="-122"/>
                <a:cs typeface="Calibri" pitchFamily="34" charset="-120"/>
              </a:rPr>
              <a:t>Abdallah Yasser Assaker</a:t>
            </a:r>
            <a:endParaRPr lang="en-US" sz="1300" dirty="0"/>
          </a:p>
        </p:txBody>
      </p:sp>
      <p:sp>
        <p:nvSpPr>
          <p:cNvPr id="10" name="Text 8"/>
          <p:cNvSpPr/>
          <p:nvPr/>
        </p:nvSpPr>
        <p:spPr>
          <a:xfrm>
            <a:off x="914400" y="3017520"/>
            <a:ext cx="7772400" cy="347472"/>
          </a:xfrm>
          <a:prstGeom prst="rect">
            <a:avLst/>
          </a:prstGeom>
          <a:noFill/>
          <a:ln/>
        </p:spPr>
        <p:txBody>
          <a:bodyPr wrap="square"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Instructor: </a:t>
            </a:r>
            <a:pPr indent="0" marL="0">
              <a:buNone/>
            </a:pPr>
            <a:r>
              <a:rPr lang="en-US" sz="1300" dirty="0">
                <a:solidFill>
                  <a:srgbClr val="94B8D6"/>
                </a:solidFill>
                <a:latin typeface="Calibri" pitchFamily="34" charset="0"/>
                <a:ea typeface="Calibri" pitchFamily="34" charset="-122"/>
                <a:cs typeface="Calibri" pitchFamily="34" charset="-120"/>
              </a:rPr>
              <a:t>Dr. Atef Ghaloush</a:t>
            </a:r>
            <a:endParaRPr lang="en-US" sz="1300" dirty="0"/>
          </a:p>
        </p:txBody>
      </p:sp>
      <p:sp>
        <p:nvSpPr>
          <p:cNvPr id="11" name="Text 9"/>
          <p:cNvSpPr/>
          <p:nvPr/>
        </p:nvSpPr>
        <p:spPr>
          <a:xfrm>
            <a:off x="914400" y="4160520"/>
            <a:ext cx="7315200" cy="365760"/>
          </a:xfrm>
          <a:prstGeom prst="rect">
            <a:avLst/>
          </a:prstGeom>
          <a:noFill/>
          <a:ln/>
        </p:spPr>
        <p:txBody>
          <a:bodyPr wrap="square" rtlCol="0" anchor="ctr"/>
          <a:lstStyle/>
          <a:p>
            <a:pPr indent="0" marL="0">
              <a:buNone/>
            </a:pPr>
            <a:r>
              <a:rPr lang="en-US" sz="1200" dirty="0">
                <a:solidFill>
                  <a:srgbClr val="94B8D6"/>
                </a:solidFill>
                <a:latin typeface="Calibri" pitchFamily="34" charset="0"/>
                <a:ea typeface="Calibri" pitchFamily="34" charset="-122"/>
                <a:cs typeface="Calibri" pitchFamily="34" charset="-120"/>
              </a:rPr>
              <a:t>May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Why Team Management Matters</a:t>
            </a:r>
            <a:endParaRPr lang="en-US" sz="3000" dirty="0"/>
          </a:p>
        </p:txBody>
      </p:sp>
      <p:sp>
        <p:nvSpPr>
          <p:cNvPr id="3" name="Text 1"/>
          <p:cNvSpPr/>
          <p:nvPr/>
        </p:nvSpPr>
        <p:spPr>
          <a:xfrm>
            <a:off x="457200" y="841248"/>
            <a:ext cx="8229600" cy="320040"/>
          </a:xfrm>
          <a:prstGeom prst="rect">
            <a:avLst/>
          </a:prstGeom>
          <a:noFill/>
          <a:ln/>
        </p:spPr>
        <p:txBody>
          <a:bodyPr wrap="square" rtlCol="0" anchor="ctr"/>
          <a:lstStyle/>
          <a:p>
            <a:pPr indent="0" marL="0">
              <a:buNone/>
            </a:pPr>
            <a:r>
              <a:rPr lang="en-US" sz="1400" dirty="0">
                <a:solidFill>
                  <a:srgbClr val="0891B2"/>
                </a:solidFill>
                <a:latin typeface="Calibri" pitchFamily="34" charset="0"/>
                <a:ea typeface="Calibri" pitchFamily="34" charset="-122"/>
                <a:cs typeface="Calibri" pitchFamily="34" charset="-120"/>
              </a:rPr>
              <a:t>The shift from individual contributors to team-based delivery</a:t>
            </a:r>
            <a:endParaRPr lang="en-US" sz="1400" dirty="0"/>
          </a:p>
        </p:txBody>
      </p:sp>
      <p:sp>
        <p:nvSpPr>
          <p:cNvPr id="4" name="Shape 2"/>
          <p:cNvSpPr/>
          <p:nvPr/>
        </p:nvSpPr>
        <p:spPr>
          <a:xfrm>
            <a:off x="457200" y="1143000"/>
            <a:ext cx="8229600" cy="22860"/>
          </a:xfrm>
          <a:prstGeom prst="rect">
            <a:avLst/>
          </a:prstGeom>
          <a:solidFill>
            <a:srgbClr val="0891B2"/>
          </a:solidFill>
          <a:ln w="12700">
            <a:solidFill>
              <a:srgbClr val="0891B2"/>
            </a:solidFill>
            <a:prstDash val="solid"/>
          </a:ln>
        </p:spPr>
      </p:sp>
      <p:sp>
        <p:nvSpPr>
          <p:cNvPr id="5" name="Shape 3"/>
          <p:cNvSpPr/>
          <p:nvPr/>
        </p:nvSpPr>
        <p:spPr>
          <a:xfrm>
            <a:off x="347472" y="1325880"/>
            <a:ext cx="1600200" cy="26517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347472" y="1325880"/>
            <a:ext cx="73152" cy="2651760"/>
          </a:xfrm>
          <a:prstGeom prst="rect">
            <a:avLst/>
          </a:prstGeom>
          <a:solidFill>
            <a:srgbClr val="1A5296"/>
          </a:solidFill>
          <a:ln w="12700">
            <a:solidFill>
              <a:srgbClr val="1A5296"/>
            </a:solidFill>
            <a:prstDash val="solid"/>
          </a:ln>
        </p:spPr>
      </p:sp>
      <p:sp>
        <p:nvSpPr>
          <p:cNvPr id="7" name="Shape 5"/>
          <p:cNvSpPr/>
          <p:nvPr/>
        </p:nvSpPr>
        <p:spPr>
          <a:xfrm>
            <a:off x="841248" y="1481328"/>
            <a:ext cx="594360" cy="594360"/>
          </a:xfrm>
          <a:prstGeom prst="ellipse">
            <a:avLst/>
          </a:prstGeom>
          <a:solidFill>
            <a:srgbClr val="1A5296"/>
          </a:solidFill>
          <a:ln w="12700">
            <a:solidFill>
              <a:srgbClr val="1A5296"/>
            </a:solidFill>
            <a:prstDash val="solid"/>
          </a:ln>
        </p:spPr>
      </p:sp>
      <p:sp>
        <p:nvSpPr>
          <p:cNvPr id="8" name="Text 6"/>
          <p:cNvSpPr/>
          <p:nvPr/>
        </p:nvSpPr>
        <p:spPr>
          <a:xfrm>
            <a:off x="841248" y="1490472"/>
            <a:ext cx="594360" cy="56692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9" name="Text 7"/>
          <p:cNvSpPr/>
          <p:nvPr/>
        </p:nvSpPr>
        <p:spPr>
          <a:xfrm>
            <a:off x="438912" y="2176272"/>
            <a:ext cx="1435608" cy="475488"/>
          </a:xfrm>
          <a:prstGeom prst="rect">
            <a:avLst/>
          </a:prstGeom>
          <a:noFill/>
          <a:ln/>
        </p:spPr>
        <p:txBody>
          <a:bodyPr wrap="square" rtlCol="0" anchor="ctr"/>
          <a:lstStyle/>
          <a:p>
            <a:pPr algn="ctr" indent="0" marL="0">
              <a:buNone/>
            </a:pPr>
            <a:r>
              <a:rPr lang="en-US" sz="1100" b="1" dirty="0">
                <a:solidFill>
                  <a:srgbClr val="1A5296"/>
                </a:solidFill>
                <a:latin typeface="Calibri" pitchFamily="34" charset="0"/>
                <a:ea typeface="Calibri" pitchFamily="34" charset="-122"/>
                <a:cs typeface="Calibri" pitchFamily="34" charset="-120"/>
              </a:rPr>
              <a:t>Software</a:t>
            </a:r>
            <a:endParaRPr lang="en-US" sz="1100" dirty="0"/>
          </a:p>
          <a:p>
            <a:pPr algn="ctr" indent="0" marL="0">
              <a:buNone/>
            </a:pPr>
            <a:r>
              <a:rPr lang="en-US" sz="1100" b="1" dirty="0">
                <a:solidFill>
                  <a:srgbClr val="1A5296"/>
                </a:solidFill>
                <a:latin typeface="Calibri" pitchFamily="34" charset="0"/>
                <a:ea typeface="Calibri" pitchFamily="34" charset="-122"/>
                <a:cs typeface="Calibri" pitchFamily="34" charset="-120"/>
              </a:rPr>
              <a:t>Complexity</a:t>
            </a:r>
            <a:endParaRPr lang="en-US" sz="1100" dirty="0"/>
          </a:p>
        </p:txBody>
      </p:sp>
      <p:sp>
        <p:nvSpPr>
          <p:cNvPr id="10" name="Text 8"/>
          <p:cNvSpPr/>
          <p:nvPr/>
        </p:nvSpPr>
        <p:spPr>
          <a:xfrm>
            <a:off x="457200" y="2670048"/>
            <a:ext cx="1399032" cy="1097280"/>
          </a:xfrm>
          <a:prstGeom prst="rect">
            <a:avLst/>
          </a:prstGeom>
          <a:noFill/>
          <a:ln/>
        </p:spPr>
        <p:txBody>
          <a:bodyPr wrap="square" rtlCol="0" anchor="ctr"/>
          <a:lstStyle/>
          <a:p>
            <a:pPr algn="ctr" indent="0" marL="0">
              <a:buNone/>
            </a:pPr>
            <a:r>
              <a:rPr lang="en-US" sz="950" dirty="0">
                <a:solidFill>
                  <a:srgbClr val="334155"/>
                </a:solidFill>
                <a:latin typeface="Calibri" pitchFamily="34" charset="0"/>
                <a:ea typeface="Calibri" pitchFamily="34" charset="-122"/>
                <a:cs typeface="Calibri" pitchFamily="34" charset="-120"/>
              </a:rPr>
              <a:t>Systems span millions of lines, microservices, and distributed architectures</a:t>
            </a:r>
            <a:endParaRPr lang="en-US" sz="950" dirty="0"/>
          </a:p>
        </p:txBody>
      </p:sp>
      <p:sp>
        <p:nvSpPr>
          <p:cNvPr id="11" name="Shape 9"/>
          <p:cNvSpPr/>
          <p:nvPr/>
        </p:nvSpPr>
        <p:spPr>
          <a:xfrm>
            <a:off x="2057400" y="1325880"/>
            <a:ext cx="1600200" cy="26517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2057400" y="1325880"/>
            <a:ext cx="73152" cy="2651760"/>
          </a:xfrm>
          <a:prstGeom prst="rect">
            <a:avLst/>
          </a:prstGeom>
          <a:solidFill>
            <a:srgbClr val="0891B2"/>
          </a:solidFill>
          <a:ln w="12700">
            <a:solidFill>
              <a:srgbClr val="0891B2"/>
            </a:solidFill>
            <a:prstDash val="solid"/>
          </a:ln>
        </p:spPr>
      </p:sp>
      <p:sp>
        <p:nvSpPr>
          <p:cNvPr id="13" name="Shape 11"/>
          <p:cNvSpPr/>
          <p:nvPr/>
        </p:nvSpPr>
        <p:spPr>
          <a:xfrm>
            <a:off x="2551176" y="1481328"/>
            <a:ext cx="594360" cy="594360"/>
          </a:xfrm>
          <a:prstGeom prst="ellipse">
            <a:avLst/>
          </a:prstGeom>
          <a:solidFill>
            <a:srgbClr val="0891B2"/>
          </a:solidFill>
          <a:ln w="12700">
            <a:solidFill>
              <a:srgbClr val="0891B2"/>
            </a:solidFill>
            <a:prstDash val="solid"/>
          </a:ln>
        </p:spPr>
      </p:sp>
      <p:sp>
        <p:nvSpPr>
          <p:cNvPr id="14" name="Text 12"/>
          <p:cNvSpPr/>
          <p:nvPr/>
        </p:nvSpPr>
        <p:spPr>
          <a:xfrm>
            <a:off x="2551176" y="1490472"/>
            <a:ext cx="594360" cy="56692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5" name="Text 13"/>
          <p:cNvSpPr/>
          <p:nvPr/>
        </p:nvSpPr>
        <p:spPr>
          <a:xfrm>
            <a:off x="2148840" y="2176272"/>
            <a:ext cx="1435608" cy="475488"/>
          </a:xfrm>
          <a:prstGeom prst="rect">
            <a:avLst/>
          </a:prstGeom>
          <a:noFill/>
          <a:ln/>
        </p:spPr>
        <p:txBody>
          <a:bodyPr wrap="square" rtlCol="0" anchor="ctr"/>
          <a:lstStyle/>
          <a:p>
            <a:pPr algn="ctr" indent="0" marL="0">
              <a:buNone/>
            </a:pPr>
            <a:r>
              <a:rPr lang="en-US" sz="1100" b="1" dirty="0">
                <a:solidFill>
                  <a:srgbClr val="0891B2"/>
                </a:solidFill>
                <a:latin typeface="Calibri" pitchFamily="34" charset="0"/>
                <a:ea typeface="Calibri" pitchFamily="34" charset="-122"/>
                <a:cs typeface="Calibri" pitchFamily="34" charset="-120"/>
              </a:rPr>
              <a:t>Distributed</a:t>
            </a:r>
            <a:endParaRPr lang="en-US" sz="1100" dirty="0"/>
          </a:p>
          <a:p>
            <a:pPr algn="ctr" indent="0" marL="0">
              <a:buNone/>
            </a:pPr>
            <a:r>
              <a:rPr lang="en-US" sz="1100" b="1" dirty="0">
                <a:solidFill>
                  <a:srgbClr val="0891B2"/>
                </a:solidFill>
                <a:latin typeface="Calibri" pitchFamily="34" charset="0"/>
                <a:ea typeface="Calibri" pitchFamily="34" charset="-122"/>
                <a:cs typeface="Calibri" pitchFamily="34" charset="-120"/>
              </a:rPr>
              <a:t>Dev</a:t>
            </a:r>
            <a:endParaRPr lang="en-US" sz="1100" dirty="0"/>
          </a:p>
        </p:txBody>
      </p:sp>
      <p:sp>
        <p:nvSpPr>
          <p:cNvPr id="16" name="Text 14"/>
          <p:cNvSpPr/>
          <p:nvPr/>
        </p:nvSpPr>
        <p:spPr>
          <a:xfrm>
            <a:off x="2167128" y="2670048"/>
            <a:ext cx="1399032" cy="1097280"/>
          </a:xfrm>
          <a:prstGeom prst="rect">
            <a:avLst/>
          </a:prstGeom>
          <a:noFill/>
          <a:ln/>
        </p:spPr>
        <p:txBody>
          <a:bodyPr wrap="square" rtlCol="0" anchor="ctr"/>
          <a:lstStyle/>
          <a:p>
            <a:pPr algn="ctr" indent="0" marL="0">
              <a:buNone/>
            </a:pPr>
            <a:r>
              <a:rPr lang="en-US" sz="950" dirty="0">
                <a:solidFill>
                  <a:srgbClr val="334155"/>
                </a:solidFill>
                <a:latin typeface="Calibri" pitchFamily="34" charset="0"/>
                <a:ea typeface="Calibri" pitchFamily="34" charset="-122"/>
                <a:cs typeface="Calibri" pitchFamily="34" charset="-120"/>
              </a:rPr>
              <a:t>Global teams across time zones — coordination is now a core competency</a:t>
            </a:r>
            <a:endParaRPr lang="en-US" sz="950" dirty="0"/>
          </a:p>
        </p:txBody>
      </p:sp>
      <p:sp>
        <p:nvSpPr>
          <p:cNvPr id="17" name="Shape 15"/>
          <p:cNvSpPr/>
          <p:nvPr/>
        </p:nvSpPr>
        <p:spPr>
          <a:xfrm>
            <a:off x="3767328" y="1325880"/>
            <a:ext cx="1600200" cy="26517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3767328" y="1325880"/>
            <a:ext cx="73152" cy="2651760"/>
          </a:xfrm>
          <a:prstGeom prst="rect">
            <a:avLst/>
          </a:prstGeom>
          <a:solidFill>
            <a:srgbClr val="7C3AED"/>
          </a:solidFill>
          <a:ln w="12700">
            <a:solidFill>
              <a:srgbClr val="7C3AED"/>
            </a:solidFill>
            <a:prstDash val="solid"/>
          </a:ln>
        </p:spPr>
      </p:sp>
      <p:sp>
        <p:nvSpPr>
          <p:cNvPr id="19" name="Shape 17"/>
          <p:cNvSpPr/>
          <p:nvPr/>
        </p:nvSpPr>
        <p:spPr>
          <a:xfrm>
            <a:off x="4261104" y="1481328"/>
            <a:ext cx="594360" cy="594360"/>
          </a:xfrm>
          <a:prstGeom prst="ellipse">
            <a:avLst/>
          </a:prstGeom>
          <a:solidFill>
            <a:srgbClr val="7C3AED"/>
          </a:solidFill>
          <a:ln w="12700">
            <a:solidFill>
              <a:srgbClr val="7C3AED"/>
            </a:solidFill>
            <a:prstDash val="solid"/>
          </a:ln>
        </p:spPr>
      </p:sp>
      <p:sp>
        <p:nvSpPr>
          <p:cNvPr id="20" name="Text 18"/>
          <p:cNvSpPr/>
          <p:nvPr/>
        </p:nvSpPr>
        <p:spPr>
          <a:xfrm>
            <a:off x="4261104" y="1490472"/>
            <a:ext cx="594360" cy="56692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21" name="Text 19"/>
          <p:cNvSpPr/>
          <p:nvPr/>
        </p:nvSpPr>
        <p:spPr>
          <a:xfrm>
            <a:off x="3858768" y="2176272"/>
            <a:ext cx="1435608" cy="475488"/>
          </a:xfrm>
          <a:prstGeom prst="rect">
            <a:avLst/>
          </a:prstGeom>
          <a:noFill/>
          <a:ln/>
        </p:spPr>
        <p:txBody>
          <a:bodyPr wrap="square" rtlCol="0" anchor="ctr"/>
          <a:lstStyle/>
          <a:p>
            <a:pPr algn="ctr" indent="0" marL="0">
              <a:buNone/>
            </a:pPr>
            <a:r>
              <a:rPr lang="en-US" sz="1100" b="1" dirty="0">
                <a:solidFill>
                  <a:srgbClr val="7C3AED"/>
                </a:solidFill>
                <a:latin typeface="Calibri" pitchFamily="34" charset="0"/>
                <a:ea typeface="Calibri" pitchFamily="34" charset="-122"/>
                <a:cs typeface="Calibri" pitchFamily="34" charset="-120"/>
              </a:rPr>
              <a:t>Tech</a:t>
            </a:r>
            <a:endParaRPr lang="en-US" sz="1100" dirty="0"/>
          </a:p>
          <a:p>
            <a:pPr algn="ctr" indent="0" marL="0">
              <a:buNone/>
            </a:pPr>
            <a:r>
              <a:rPr lang="en-US" sz="1100" b="1" dirty="0">
                <a:solidFill>
                  <a:srgbClr val="7C3AED"/>
                </a:solidFill>
                <a:latin typeface="Calibri" pitchFamily="34" charset="0"/>
                <a:ea typeface="Calibri" pitchFamily="34" charset="-122"/>
                <a:cs typeface="Calibri" pitchFamily="34" charset="-120"/>
              </a:rPr>
              <a:t>Evolution</a:t>
            </a:r>
            <a:endParaRPr lang="en-US" sz="1100" dirty="0"/>
          </a:p>
        </p:txBody>
      </p:sp>
      <p:sp>
        <p:nvSpPr>
          <p:cNvPr id="22" name="Text 20"/>
          <p:cNvSpPr/>
          <p:nvPr/>
        </p:nvSpPr>
        <p:spPr>
          <a:xfrm>
            <a:off x="3877056" y="2670048"/>
            <a:ext cx="1399032" cy="1097280"/>
          </a:xfrm>
          <a:prstGeom prst="rect">
            <a:avLst/>
          </a:prstGeom>
          <a:noFill/>
          <a:ln/>
        </p:spPr>
        <p:txBody>
          <a:bodyPr wrap="square" rtlCol="0" anchor="ctr"/>
          <a:lstStyle/>
          <a:p>
            <a:pPr algn="ctr" indent="0" marL="0">
              <a:buNone/>
            </a:pPr>
            <a:r>
              <a:rPr lang="en-US" sz="950" dirty="0">
                <a:solidFill>
                  <a:srgbClr val="334155"/>
                </a:solidFill>
                <a:latin typeface="Calibri" pitchFamily="34" charset="0"/>
                <a:ea typeface="Calibri" pitchFamily="34" charset="-122"/>
                <a:cs typeface="Calibri" pitchFamily="34" charset="-120"/>
              </a:rPr>
              <a:t>Frameworks &amp; languages evolve faster than individual training cycles</a:t>
            </a:r>
            <a:endParaRPr lang="en-US" sz="950" dirty="0"/>
          </a:p>
        </p:txBody>
      </p:sp>
      <p:sp>
        <p:nvSpPr>
          <p:cNvPr id="23" name="Shape 21"/>
          <p:cNvSpPr/>
          <p:nvPr/>
        </p:nvSpPr>
        <p:spPr>
          <a:xfrm>
            <a:off x="5477256" y="1325880"/>
            <a:ext cx="1600200" cy="26517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4" name="Shape 22"/>
          <p:cNvSpPr/>
          <p:nvPr/>
        </p:nvSpPr>
        <p:spPr>
          <a:xfrm>
            <a:off x="5477256" y="1325880"/>
            <a:ext cx="73152" cy="2651760"/>
          </a:xfrm>
          <a:prstGeom prst="rect">
            <a:avLst/>
          </a:prstGeom>
          <a:solidFill>
            <a:srgbClr val="F59E0B"/>
          </a:solidFill>
          <a:ln w="12700">
            <a:solidFill>
              <a:srgbClr val="F59E0B"/>
            </a:solidFill>
            <a:prstDash val="solid"/>
          </a:ln>
        </p:spPr>
      </p:sp>
      <p:sp>
        <p:nvSpPr>
          <p:cNvPr id="25" name="Shape 23"/>
          <p:cNvSpPr/>
          <p:nvPr/>
        </p:nvSpPr>
        <p:spPr>
          <a:xfrm>
            <a:off x="5971032" y="1481328"/>
            <a:ext cx="594360" cy="594360"/>
          </a:xfrm>
          <a:prstGeom prst="ellipse">
            <a:avLst/>
          </a:prstGeom>
          <a:solidFill>
            <a:srgbClr val="F59E0B"/>
          </a:solidFill>
          <a:ln w="12700">
            <a:solidFill>
              <a:srgbClr val="F59E0B"/>
            </a:solidFill>
            <a:prstDash val="solid"/>
          </a:ln>
        </p:spPr>
      </p:sp>
      <p:sp>
        <p:nvSpPr>
          <p:cNvPr id="26" name="Text 24"/>
          <p:cNvSpPr/>
          <p:nvPr/>
        </p:nvSpPr>
        <p:spPr>
          <a:xfrm>
            <a:off x="5971032" y="1490472"/>
            <a:ext cx="594360" cy="56692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27" name="Text 25"/>
          <p:cNvSpPr/>
          <p:nvPr/>
        </p:nvSpPr>
        <p:spPr>
          <a:xfrm>
            <a:off x="5568696" y="2176272"/>
            <a:ext cx="1435608" cy="475488"/>
          </a:xfrm>
          <a:prstGeom prst="rect">
            <a:avLst/>
          </a:prstGeom>
          <a:noFill/>
          <a:ln/>
        </p:spPr>
        <p:txBody>
          <a:bodyPr wrap="square" rtlCol="0" anchor="ctr"/>
          <a:lstStyle/>
          <a:p>
            <a:pPr algn="ctr" indent="0" marL="0">
              <a:buNone/>
            </a:pPr>
            <a:r>
              <a:rPr lang="en-US" sz="1100" b="1" dirty="0">
                <a:solidFill>
                  <a:srgbClr val="F59E0B"/>
                </a:solidFill>
                <a:latin typeface="Calibri" pitchFamily="34" charset="0"/>
                <a:ea typeface="Calibri" pitchFamily="34" charset="-122"/>
                <a:cs typeface="Calibri" pitchFamily="34" charset="-120"/>
              </a:rPr>
              <a:t>AI</a:t>
            </a:r>
            <a:endParaRPr lang="en-US" sz="1100" dirty="0"/>
          </a:p>
          <a:p>
            <a:pPr algn="ctr" indent="0" marL="0">
              <a:buNone/>
            </a:pPr>
            <a:r>
              <a:rPr lang="en-US" sz="1100" b="1" dirty="0">
                <a:solidFill>
                  <a:srgbClr val="F59E0B"/>
                </a:solidFill>
                <a:latin typeface="Calibri" pitchFamily="34" charset="0"/>
                <a:ea typeface="Calibri" pitchFamily="34" charset="-122"/>
                <a:cs typeface="Calibri" pitchFamily="34" charset="-120"/>
              </a:rPr>
              <a:t>Augmentation</a:t>
            </a:r>
            <a:endParaRPr lang="en-US" sz="1100" dirty="0"/>
          </a:p>
        </p:txBody>
      </p:sp>
      <p:sp>
        <p:nvSpPr>
          <p:cNvPr id="28" name="Text 26"/>
          <p:cNvSpPr/>
          <p:nvPr/>
        </p:nvSpPr>
        <p:spPr>
          <a:xfrm>
            <a:off x="5586984" y="2670048"/>
            <a:ext cx="1399032" cy="1097280"/>
          </a:xfrm>
          <a:prstGeom prst="rect">
            <a:avLst/>
          </a:prstGeom>
          <a:noFill/>
          <a:ln/>
        </p:spPr>
        <p:txBody>
          <a:bodyPr wrap="square" rtlCol="0" anchor="ctr"/>
          <a:lstStyle/>
          <a:p>
            <a:pPr algn="ctr" indent="0" marL="0">
              <a:buNone/>
            </a:pPr>
            <a:r>
              <a:rPr lang="en-US" sz="950" dirty="0">
                <a:solidFill>
                  <a:srgbClr val="334155"/>
                </a:solidFill>
                <a:latin typeface="Calibri" pitchFamily="34" charset="0"/>
                <a:ea typeface="Calibri" pitchFamily="34" charset="-122"/>
                <a:cs typeface="Calibri" pitchFamily="34" charset="-120"/>
              </a:rPr>
              <a:t>AI tools are reshaping roles, requiring new governance and oversight skills</a:t>
            </a:r>
            <a:endParaRPr lang="en-US" sz="950" dirty="0"/>
          </a:p>
        </p:txBody>
      </p:sp>
      <p:sp>
        <p:nvSpPr>
          <p:cNvPr id="29" name="Shape 27"/>
          <p:cNvSpPr/>
          <p:nvPr/>
        </p:nvSpPr>
        <p:spPr>
          <a:xfrm>
            <a:off x="7187184" y="1325880"/>
            <a:ext cx="1600200" cy="26517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0" name="Shape 28"/>
          <p:cNvSpPr/>
          <p:nvPr/>
        </p:nvSpPr>
        <p:spPr>
          <a:xfrm>
            <a:off x="7187184" y="1325880"/>
            <a:ext cx="73152" cy="2651760"/>
          </a:xfrm>
          <a:prstGeom prst="rect">
            <a:avLst/>
          </a:prstGeom>
          <a:solidFill>
            <a:srgbClr val="10B981"/>
          </a:solidFill>
          <a:ln w="12700">
            <a:solidFill>
              <a:srgbClr val="10B981"/>
            </a:solidFill>
            <a:prstDash val="solid"/>
          </a:ln>
        </p:spPr>
      </p:sp>
      <p:sp>
        <p:nvSpPr>
          <p:cNvPr id="31" name="Shape 29"/>
          <p:cNvSpPr/>
          <p:nvPr/>
        </p:nvSpPr>
        <p:spPr>
          <a:xfrm>
            <a:off x="7680960" y="1481328"/>
            <a:ext cx="594360" cy="594360"/>
          </a:xfrm>
          <a:prstGeom prst="ellipse">
            <a:avLst/>
          </a:prstGeom>
          <a:solidFill>
            <a:srgbClr val="10B981"/>
          </a:solidFill>
          <a:ln w="12700">
            <a:solidFill>
              <a:srgbClr val="10B981"/>
            </a:solidFill>
            <a:prstDash val="solid"/>
          </a:ln>
        </p:spPr>
      </p:sp>
      <p:sp>
        <p:nvSpPr>
          <p:cNvPr id="32" name="Text 30"/>
          <p:cNvSpPr/>
          <p:nvPr/>
        </p:nvSpPr>
        <p:spPr>
          <a:xfrm>
            <a:off x="7680960" y="1490472"/>
            <a:ext cx="594360" cy="56692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33" name="Text 31"/>
          <p:cNvSpPr/>
          <p:nvPr/>
        </p:nvSpPr>
        <p:spPr>
          <a:xfrm>
            <a:off x="7278624" y="2176272"/>
            <a:ext cx="1435608" cy="475488"/>
          </a:xfrm>
          <a:prstGeom prst="rect">
            <a:avLst/>
          </a:prstGeom>
          <a:noFill/>
          <a:ln/>
        </p:spPr>
        <p:txBody>
          <a:bodyPr wrap="square" rtlCol="0" anchor="ctr"/>
          <a:lstStyle/>
          <a:p>
            <a:pPr algn="ctr" indent="0" marL="0">
              <a:buNone/>
            </a:pPr>
            <a:r>
              <a:rPr lang="en-US" sz="1100" b="1" dirty="0">
                <a:solidFill>
                  <a:srgbClr val="10B981"/>
                </a:solidFill>
                <a:latin typeface="Calibri" pitchFamily="34" charset="0"/>
                <a:ea typeface="Calibri" pitchFamily="34" charset="-122"/>
                <a:cs typeface="Calibri" pitchFamily="34" charset="-120"/>
              </a:rPr>
              <a:t>Delivery</a:t>
            </a:r>
            <a:endParaRPr lang="en-US" sz="1100" dirty="0"/>
          </a:p>
          <a:p>
            <a:pPr algn="ctr" indent="0" marL="0">
              <a:buNone/>
            </a:pPr>
            <a:r>
              <a:rPr lang="en-US" sz="1100" b="1" dirty="0">
                <a:solidFill>
                  <a:srgbClr val="10B981"/>
                </a:solidFill>
                <a:latin typeface="Calibri" pitchFamily="34" charset="0"/>
                <a:ea typeface="Calibri" pitchFamily="34" charset="-122"/>
                <a:cs typeface="Calibri" pitchFamily="34" charset="-120"/>
              </a:rPr>
              <a:t>Success</a:t>
            </a:r>
            <a:endParaRPr lang="en-US" sz="1100" dirty="0"/>
          </a:p>
        </p:txBody>
      </p:sp>
      <p:sp>
        <p:nvSpPr>
          <p:cNvPr id="34" name="Text 32"/>
          <p:cNvSpPr/>
          <p:nvPr/>
        </p:nvSpPr>
        <p:spPr>
          <a:xfrm>
            <a:off x="7296912" y="2670048"/>
            <a:ext cx="1399032" cy="1097280"/>
          </a:xfrm>
          <a:prstGeom prst="rect">
            <a:avLst/>
          </a:prstGeom>
          <a:noFill/>
          <a:ln/>
        </p:spPr>
        <p:txBody>
          <a:bodyPr wrap="square" rtlCol="0" anchor="ctr"/>
          <a:lstStyle/>
          <a:p>
            <a:pPr algn="ctr" indent="0" marL="0">
              <a:buNone/>
            </a:pPr>
            <a:r>
              <a:rPr lang="en-US" sz="950" dirty="0">
                <a:solidFill>
                  <a:srgbClr val="334155"/>
                </a:solidFill>
                <a:latin typeface="Calibri" pitchFamily="34" charset="0"/>
                <a:ea typeface="Calibri" pitchFamily="34" charset="-122"/>
                <a:cs typeface="Calibri" pitchFamily="34" charset="-120"/>
              </a:rPr>
              <a:t>Team quality directly determines product quality and organizational outcomes</a:t>
            </a:r>
            <a:endParaRPr lang="en-US" sz="950" dirty="0"/>
          </a:p>
        </p:txBody>
      </p:sp>
      <p:sp>
        <p:nvSpPr>
          <p:cNvPr id="35" name="Shape 33"/>
          <p:cNvSpPr/>
          <p:nvPr/>
        </p:nvSpPr>
        <p:spPr>
          <a:xfrm>
            <a:off x="347472" y="4069080"/>
            <a:ext cx="8449056" cy="594360"/>
          </a:xfrm>
          <a:prstGeom prst="rect">
            <a:avLst/>
          </a:prstGeom>
          <a:solidFill>
            <a:srgbClr val="0D1F3C"/>
          </a:solidFill>
          <a:ln w="12700">
            <a:solidFill>
              <a:srgbClr val="0D1F3C"/>
            </a:solidFill>
            <a:prstDash val="solid"/>
          </a:ln>
        </p:spPr>
      </p:sp>
      <p:sp>
        <p:nvSpPr>
          <p:cNvPr id="36" name="Text 34"/>
          <p:cNvSpPr/>
          <p:nvPr/>
        </p:nvSpPr>
        <p:spPr>
          <a:xfrm>
            <a:off x="457200" y="4087368"/>
            <a:ext cx="8229600" cy="548640"/>
          </a:xfrm>
          <a:prstGeom prst="rect">
            <a:avLst/>
          </a:prstGeom>
          <a:noFill/>
          <a:ln/>
        </p:spPr>
        <p:txBody>
          <a:bodyPr wrap="square" rtlCol="0" anchor="ctr"/>
          <a:lstStyle/>
          <a:p>
            <a:pPr algn="ctr" indent="0" marL="0">
              <a:buNone/>
            </a:pPr>
            <a:r>
              <a:rPr lang="en-US" sz="1200" i="1" dirty="0">
                <a:solidFill>
                  <a:srgbClr val="CADCFC"/>
                </a:solidFill>
                <a:latin typeface="Calibri" pitchFamily="34" charset="0"/>
                <a:ea typeface="Calibri" pitchFamily="34" charset="-122"/>
                <a:cs typeface="Calibri" pitchFamily="34" charset="-120"/>
              </a:rPr>
              <a:t>💡  "The major problems in software development are not technical — they are sociological."  — DeMarco &amp; Lister, Peopleware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Foundations of Effective Software Teams</a:t>
            </a:r>
            <a:endParaRPr lang="en-US" sz="3000" dirty="0"/>
          </a:p>
        </p:txBody>
      </p:sp>
      <p:sp>
        <p:nvSpPr>
          <p:cNvPr id="3" name="Text 1"/>
          <p:cNvSpPr/>
          <p:nvPr/>
        </p:nvSpPr>
        <p:spPr>
          <a:xfrm>
            <a:off x="457200" y="841248"/>
            <a:ext cx="8229600" cy="320040"/>
          </a:xfrm>
          <a:prstGeom prst="rect">
            <a:avLst/>
          </a:prstGeom>
          <a:noFill/>
          <a:ln/>
        </p:spPr>
        <p:txBody>
          <a:bodyPr wrap="square" rtlCol="0" anchor="ctr"/>
          <a:lstStyle/>
          <a:p>
            <a:pPr indent="0" marL="0">
              <a:buNone/>
            </a:pPr>
            <a:r>
              <a:rPr lang="en-US" sz="1400" dirty="0">
                <a:solidFill>
                  <a:srgbClr val="0891B2"/>
                </a:solidFill>
                <a:latin typeface="Calibri" pitchFamily="34" charset="0"/>
                <a:ea typeface="Calibri" pitchFamily="34" charset="-122"/>
                <a:cs typeface="Calibri" pitchFamily="34" charset="-120"/>
              </a:rPr>
              <a:t>Google's Project Aristotle — 180 teams, 2 years of research</a:t>
            </a:r>
            <a:endParaRPr lang="en-US" sz="1400" dirty="0"/>
          </a:p>
        </p:txBody>
      </p:sp>
      <p:sp>
        <p:nvSpPr>
          <p:cNvPr id="4" name="Shape 2"/>
          <p:cNvSpPr/>
          <p:nvPr/>
        </p:nvSpPr>
        <p:spPr>
          <a:xfrm>
            <a:off x="457200" y="1143000"/>
            <a:ext cx="8229600" cy="22860"/>
          </a:xfrm>
          <a:prstGeom prst="rect">
            <a:avLst/>
          </a:prstGeom>
          <a:solidFill>
            <a:srgbClr val="0891B2"/>
          </a:solidFill>
          <a:ln w="12700">
            <a:solidFill>
              <a:srgbClr val="0891B2"/>
            </a:solidFill>
            <a:prstDash val="solid"/>
          </a:ln>
        </p:spPr>
      </p:sp>
      <p:sp>
        <p:nvSpPr>
          <p:cNvPr id="5" name="Shape 3"/>
          <p:cNvSpPr/>
          <p:nvPr/>
        </p:nvSpPr>
        <p:spPr>
          <a:xfrm>
            <a:off x="347472" y="1325880"/>
            <a:ext cx="2743200" cy="3291840"/>
          </a:xfrm>
          <a:prstGeom prst="rect">
            <a:avLst/>
          </a:prstGeom>
          <a:solidFill>
            <a:srgbClr val="EBF3FB"/>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347472" y="1325880"/>
            <a:ext cx="73152" cy="3291840"/>
          </a:xfrm>
          <a:prstGeom prst="rect">
            <a:avLst/>
          </a:prstGeom>
          <a:solidFill>
            <a:srgbClr val="1A5296"/>
          </a:solidFill>
          <a:ln w="12700">
            <a:solidFill>
              <a:srgbClr val="1A5296"/>
            </a:solidFill>
            <a:prstDash val="solid"/>
          </a:ln>
        </p:spPr>
      </p:sp>
      <p:sp>
        <p:nvSpPr>
          <p:cNvPr id="7" name="Text 5"/>
          <p:cNvSpPr/>
          <p:nvPr/>
        </p:nvSpPr>
        <p:spPr>
          <a:xfrm>
            <a:off x="502920" y="1417320"/>
            <a:ext cx="2468880" cy="347472"/>
          </a:xfrm>
          <a:prstGeom prst="rect">
            <a:avLst/>
          </a:prstGeom>
          <a:noFill/>
          <a:ln/>
        </p:spPr>
        <p:txBody>
          <a:bodyPr wrap="square" rtlCol="0" anchor="ctr"/>
          <a:lstStyle/>
          <a:p>
            <a:pPr indent="0" marL="0">
              <a:buNone/>
            </a:pPr>
            <a:r>
              <a:rPr lang="en-US" sz="1300" b="1" dirty="0">
                <a:solidFill>
                  <a:srgbClr val="1A5296"/>
                </a:solidFill>
                <a:latin typeface="Calibri" pitchFamily="34" charset="0"/>
                <a:ea typeface="Calibri" pitchFamily="34" charset="-122"/>
                <a:cs typeface="Calibri" pitchFamily="34" charset="-120"/>
              </a:rPr>
              <a:t>Teams vs. Groups</a:t>
            </a:r>
            <a:endParaRPr lang="en-US" sz="1300" dirty="0"/>
          </a:p>
        </p:txBody>
      </p:sp>
      <p:sp>
        <p:nvSpPr>
          <p:cNvPr id="8" name="Text 6"/>
          <p:cNvSpPr/>
          <p:nvPr/>
        </p:nvSpPr>
        <p:spPr>
          <a:xfrm>
            <a:off x="502920" y="1828800"/>
            <a:ext cx="2514600" cy="2651760"/>
          </a:xfrm>
          <a:prstGeom prst="rect">
            <a:avLst/>
          </a:prstGeom>
          <a:noFill/>
          <a:ln/>
        </p:spPr>
        <p:txBody>
          <a:bodyPr wrap="square" rtlCol="0" anchor="ctr"/>
          <a:lstStyle/>
          <a:p>
            <a:pPr indent="0" marL="0">
              <a:buNone/>
            </a:pPr>
            <a:r>
              <a:rPr lang="en-US" sz="1100" b="1" dirty="0">
                <a:solidFill>
                  <a:srgbClr val="1A5296"/>
                </a:solidFill>
                <a:latin typeface="Calibri" pitchFamily="34" charset="0"/>
                <a:ea typeface="Calibri" pitchFamily="34" charset="-122"/>
                <a:cs typeface="Calibri" pitchFamily="34" charset="-120"/>
              </a:rPr>
              <a:t>GROUP</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 Shared workspace only</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 No interdependent goals</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 Individual accountability</a:t>
            </a:r>
            <a:endParaRPr lang="en-US" sz="1100" dirty="0"/>
          </a:p>
          <a:p>
            <a:pPr indent="0" marL="0">
              <a:buNone/>
            </a:pPr>
            <a:endParaRPr lang="en-US" sz="1100" dirty="0"/>
          </a:p>
          <a:p>
            <a:pPr indent="0" marL="0">
              <a:buNone/>
            </a:pPr>
            <a:r>
              <a:rPr lang="en-US" sz="1100" b="1" dirty="0">
                <a:solidFill>
                  <a:srgbClr val="0891B2"/>
                </a:solidFill>
                <a:latin typeface="Calibri" pitchFamily="34" charset="0"/>
                <a:ea typeface="Calibri" pitchFamily="34" charset="-122"/>
                <a:cs typeface="Calibri" pitchFamily="34" charset="-120"/>
              </a:rPr>
              <a:t>TEAM</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 Shared purpose &amp; skills</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 Collective responsibility</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 Joint ownership of outcomes</a:t>
            </a:r>
            <a:endParaRPr lang="en-US" sz="1100" dirty="0"/>
          </a:p>
        </p:txBody>
      </p:sp>
      <p:sp>
        <p:nvSpPr>
          <p:cNvPr id="9" name="Shape 7"/>
          <p:cNvSpPr/>
          <p:nvPr/>
        </p:nvSpPr>
        <p:spPr>
          <a:xfrm>
            <a:off x="3246120" y="1325880"/>
            <a:ext cx="2788920" cy="32918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0" name="Text 8"/>
          <p:cNvSpPr/>
          <p:nvPr/>
        </p:nvSpPr>
        <p:spPr>
          <a:xfrm>
            <a:off x="3337560" y="1417320"/>
            <a:ext cx="2606040" cy="502920"/>
          </a:xfrm>
          <a:prstGeom prst="rect">
            <a:avLst/>
          </a:prstGeom>
          <a:noFill/>
          <a:ln/>
        </p:spPr>
        <p:txBody>
          <a:bodyPr wrap="square" rtlCol="0" anchor="ctr"/>
          <a:lstStyle/>
          <a:p>
            <a:pPr algn="ctr" indent="0" marL="0">
              <a:buNone/>
            </a:pPr>
            <a:r>
              <a:rPr lang="en-US" sz="1200" b="1" dirty="0">
                <a:solidFill>
                  <a:srgbClr val="0D1F3C"/>
                </a:solidFill>
                <a:latin typeface="Calibri" pitchFamily="34" charset="0"/>
                <a:ea typeface="Calibri" pitchFamily="34" charset="-122"/>
                <a:cs typeface="Calibri" pitchFamily="34" charset="-120"/>
              </a:rPr>
              <a:t>Project Aristotle</a:t>
            </a:r>
            <a:endParaRPr lang="en-US" sz="1200" dirty="0"/>
          </a:p>
          <a:p>
            <a:pPr algn="ctr" indent="0" marL="0">
              <a:buNone/>
            </a:pPr>
            <a:r>
              <a:rPr lang="en-US" sz="1200" b="1" dirty="0">
                <a:solidFill>
                  <a:srgbClr val="0D1F3C"/>
                </a:solidFill>
                <a:latin typeface="Calibri" pitchFamily="34" charset="0"/>
                <a:ea typeface="Calibri" pitchFamily="34" charset="-122"/>
                <a:cs typeface="Calibri" pitchFamily="34" charset="-120"/>
              </a:rPr>
              <a:t>Top 5 Factors</a:t>
            </a:r>
            <a:endParaRPr lang="en-US" sz="1200" dirty="0"/>
          </a:p>
        </p:txBody>
      </p:sp>
      <p:sp>
        <p:nvSpPr>
          <p:cNvPr id="11" name="Shape 9"/>
          <p:cNvSpPr/>
          <p:nvPr/>
        </p:nvSpPr>
        <p:spPr>
          <a:xfrm>
            <a:off x="3451860" y="2057400"/>
            <a:ext cx="2377440" cy="402336"/>
          </a:xfrm>
          <a:prstGeom prst="rect">
            <a:avLst/>
          </a:prstGeom>
          <a:solidFill>
            <a:srgbClr val="0891B2"/>
          </a:solidFill>
          <a:ln w="12700">
            <a:solidFill>
              <a:srgbClr val="0891B2"/>
            </a:solidFill>
            <a:prstDash val="solid"/>
          </a:ln>
        </p:spPr>
      </p:sp>
      <p:sp>
        <p:nvSpPr>
          <p:cNvPr id="12" name="Text 10"/>
          <p:cNvSpPr/>
          <p:nvPr/>
        </p:nvSpPr>
        <p:spPr>
          <a:xfrm>
            <a:off x="3451860" y="2057400"/>
            <a:ext cx="2377440" cy="40233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① Psychological Safety</a:t>
            </a:r>
            <a:endParaRPr lang="en-US" sz="900" dirty="0"/>
          </a:p>
        </p:txBody>
      </p:sp>
      <p:sp>
        <p:nvSpPr>
          <p:cNvPr id="13" name="Shape 11"/>
          <p:cNvSpPr/>
          <p:nvPr/>
        </p:nvSpPr>
        <p:spPr>
          <a:xfrm>
            <a:off x="3634740" y="2551176"/>
            <a:ext cx="2011680" cy="402336"/>
          </a:xfrm>
          <a:prstGeom prst="rect">
            <a:avLst/>
          </a:prstGeom>
          <a:solidFill>
            <a:srgbClr val="1A5296"/>
          </a:solidFill>
          <a:ln w="12700">
            <a:solidFill>
              <a:srgbClr val="1A5296"/>
            </a:solidFill>
            <a:prstDash val="solid"/>
          </a:ln>
        </p:spPr>
      </p:sp>
      <p:sp>
        <p:nvSpPr>
          <p:cNvPr id="14" name="Text 12"/>
          <p:cNvSpPr/>
          <p:nvPr/>
        </p:nvSpPr>
        <p:spPr>
          <a:xfrm>
            <a:off x="3634740" y="2551176"/>
            <a:ext cx="2011680" cy="40233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② Dependability</a:t>
            </a:r>
            <a:endParaRPr lang="en-US" sz="900" dirty="0"/>
          </a:p>
        </p:txBody>
      </p:sp>
      <p:sp>
        <p:nvSpPr>
          <p:cNvPr id="15" name="Shape 13"/>
          <p:cNvSpPr/>
          <p:nvPr/>
        </p:nvSpPr>
        <p:spPr>
          <a:xfrm>
            <a:off x="3817620" y="3044952"/>
            <a:ext cx="1645920" cy="402336"/>
          </a:xfrm>
          <a:prstGeom prst="rect">
            <a:avLst/>
          </a:prstGeom>
          <a:solidFill>
            <a:srgbClr val="7C3AED"/>
          </a:solidFill>
          <a:ln w="12700">
            <a:solidFill>
              <a:srgbClr val="7C3AED"/>
            </a:solidFill>
            <a:prstDash val="solid"/>
          </a:ln>
        </p:spPr>
      </p:sp>
      <p:sp>
        <p:nvSpPr>
          <p:cNvPr id="16" name="Text 14"/>
          <p:cNvSpPr/>
          <p:nvPr/>
        </p:nvSpPr>
        <p:spPr>
          <a:xfrm>
            <a:off x="3817620" y="3044952"/>
            <a:ext cx="1645920" cy="40233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③ Structure &amp; Clarity</a:t>
            </a:r>
            <a:endParaRPr lang="en-US" sz="900" dirty="0"/>
          </a:p>
        </p:txBody>
      </p:sp>
      <p:sp>
        <p:nvSpPr>
          <p:cNvPr id="17" name="Shape 15"/>
          <p:cNvSpPr/>
          <p:nvPr/>
        </p:nvSpPr>
        <p:spPr>
          <a:xfrm>
            <a:off x="4000500" y="3538728"/>
            <a:ext cx="1280160" cy="402336"/>
          </a:xfrm>
          <a:prstGeom prst="rect">
            <a:avLst/>
          </a:prstGeom>
          <a:solidFill>
            <a:srgbClr val="10B981"/>
          </a:solidFill>
          <a:ln w="12700">
            <a:solidFill>
              <a:srgbClr val="10B981"/>
            </a:solidFill>
            <a:prstDash val="solid"/>
          </a:ln>
        </p:spPr>
      </p:sp>
      <p:sp>
        <p:nvSpPr>
          <p:cNvPr id="18" name="Text 16"/>
          <p:cNvSpPr/>
          <p:nvPr/>
        </p:nvSpPr>
        <p:spPr>
          <a:xfrm>
            <a:off x="4000500" y="3538728"/>
            <a:ext cx="1280160" cy="40233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④ Meaning of Work</a:t>
            </a:r>
            <a:endParaRPr lang="en-US" sz="900" dirty="0"/>
          </a:p>
        </p:txBody>
      </p:sp>
      <p:sp>
        <p:nvSpPr>
          <p:cNvPr id="19" name="Shape 17"/>
          <p:cNvSpPr/>
          <p:nvPr/>
        </p:nvSpPr>
        <p:spPr>
          <a:xfrm>
            <a:off x="4183380" y="4032504"/>
            <a:ext cx="914400" cy="402336"/>
          </a:xfrm>
          <a:prstGeom prst="rect">
            <a:avLst/>
          </a:prstGeom>
          <a:solidFill>
            <a:srgbClr val="F59E0B"/>
          </a:solidFill>
          <a:ln w="12700">
            <a:solidFill>
              <a:srgbClr val="F59E0B"/>
            </a:solidFill>
            <a:prstDash val="solid"/>
          </a:ln>
        </p:spPr>
      </p:sp>
      <p:sp>
        <p:nvSpPr>
          <p:cNvPr id="20" name="Text 18"/>
          <p:cNvSpPr/>
          <p:nvPr/>
        </p:nvSpPr>
        <p:spPr>
          <a:xfrm>
            <a:off x="4183380" y="4032504"/>
            <a:ext cx="914400" cy="40233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⑤ Impact of Work</a:t>
            </a:r>
            <a:endParaRPr lang="en-US" sz="900" dirty="0"/>
          </a:p>
        </p:txBody>
      </p:sp>
      <p:sp>
        <p:nvSpPr>
          <p:cNvPr id="21" name="Shape 19"/>
          <p:cNvSpPr/>
          <p:nvPr/>
        </p:nvSpPr>
        <p:spPr>
          <a:xfrm>
            <a:off x="6190488" y="1325880"/>
            <a:ext cx="2606040" cy="3291840"/>
          </a:xfrm>
          <a:prstGeom prst="rect">
            <a:avLst/>
          </a:prstGeom>
          <a:solidFill>
            <a:srgbClr val="EBF3FB"/>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2" name="Shape 20"/>
          <p:cNvSpPr/>
          <p:nvPr/>
        </p:nvSpPr>
        <p:spPr>
          <a:xfrm>
            <a:off x="6190488" y="1325880"/>
            <a:ext cx="73152" cy="3291840"/>
          </a:xfrm>
          <a:prstGeom prst="rect">
            <a:avLst/>
          </a:prstGeom>
          <a:solidFill>
            <a:srgbClr val="0891B2"/>
          </a:solidFill>
          <a:ln w="12700">
            <a:solidFill>
              <a:srgbClr val="0891B2"/>
            </a:solidFill>
            <a:prstDash val="solid"/>
          </a:ln>
        </p:spPr>
      </p:sp>
      <p:sp>
        <p:nvSpPr>
          <p:cNvPr id="23" name="Text 21"/>
          <p:cNvSpPr/>
          <p:nvPr/>
        </p:nvSpPr>
        <p:spPr>
          <a:xfrm>
            <a:off x="6345936" y="1417320"/>
            <a:ext cx="2331720" cy="347472"/>
          </a:xfrm>
          <a:prstGeom prst="rect">
            <a:avLst/>
          </a:prstGeom>
          <a:noFill/>
          <a:ln/>
        </p:spPr>
        <p:txBody>
          <a:bodyPr wrap="square" rtlCol="0" anchor="ctr"/>
          <a:lstStyle/>
          <a:p>
            <a:pPr indent="0" marL="0">
              <a:buNone/>
            </a:pPr>
            <a:r>
              <a:rPr lang="en-US" sz="1300" b="1" dirty="0">
                <a:solidFill>
                  <a:srgbClr val="0891B2"/>
                </a:solidFill>
                <a:latin typeface="Calibri" pitchFamily="34" charset="0"/>
                <a:ea typeface="Calibri" pitchFamily="34" charset="-122"/>
                <a:cs typeface="Calibri" pitchFamily="34" charset="-120"/>
              </a:rPr>
              <a:t>Team Culture</a:t>
            </a:r>
            <a:endParaRPr lang="en-US" sz="1300" dirty="0"/>
          </a:p>
        </p:txBody>
      </p:sp>
      <p:sp>
        <p:nvSpPr>
          <p:cNvPr id="24" name="Shape 22"/>
          <p:cNvSpPr/>
          <p:nvPr/>
        </p:nvSpPr>
        <p:spPr>
          <a:xfrm>
            <a:off x="6355080" y="1901952"/>
            <a:ext cx="201168" cy="201168"/>
          </a:xfrm>
          <a:prstGeom prst="ellipse">
            <a:avLst/>
          </a:prstGeom>
          <a:solidFill>
            <a:srgbClr val="0891B2"/>
          </a:solidFill>
          <a:ln w="12700">
            <a:solidFill>
              <a:srgbClr val="0891B2"/>
            </a:solidFill>
            <a:prstDash val="solid"/>
          </a:ln>
        </p:spPr>
      </p:sp>
      <p:sp>
        <p:nvSpPr>
          <p:cNvPr id="25" name="Text 23"/>
          <p:cNvSpPr/>
          <p:nvPr/>
        </p:nvSpPr>
        <p:spPr>
          <a:xfrm>
            <a:off x="6601968" y="1865376"/>
            <a:ext cx="2103120" cy="237744"/>
          </a:xfrm>
          <a:prstGeom prst="rect">
            <a:avLst/>
          </a:prstGeom>
          <a:noFill/>
          <a:ln/>
        </p:spPr>
        <p:txBody>
          <a:bodyPr wrap="square"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Psychological Safety</a:t>
            </a:r>
            <a:endParaRPr lang="en-US" sz="1000" dirty="0"/>
          </a:p>
        </p:txBody>
      </p:sp>
      <p:sp>
        <p:nvSpPr>
          <p:cNvPr id="26" name="Text 24"/>
          <p:cNvSpPr/>
          <p:nvPr/>
        </p:nvSpPr>
        <p:spPr>
          <a:xfrm>
            <a:off x="6601968" y="2103120"/>
            <a:ext cx="2103120" cy="237744"/>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Safe to speak up, fail, and learn</a:t>
            </a:r>
            <a:endParaRPr lang="en-US" sz="900" dirty="0"/>
          </a:p>
        </p:txBody>
      </p:sp>
      <p:sp>
        <p:nvSpPr>
          <p:cNvPr id="27" name="Shape 25"/>
          <p:cNvSpPr/>
          <p:nvPr/>
        </p:nvSpPr>
        <p:spPr>
          <a:xfrm>
            <a:off x="6355080" y="2560320"/>
            <a:ext cx="201168" cy="201168"/>
          </a:xfrm>
          <a:prstGeom prst="ellipse">
            <a:avLst/>
          </a:prstGeom>
          <a:solidFill>
            <a:srgbClr val="0891B2"/>
          </a:solidFill>
          <a:ln w="12700">
            <a:solidFill>
              <a:srgbClr val="0891B2"/>
            </a:solidFill>
            <a:prstDash val="solid"/>
          </a:ln>
        </p:spPr>
      </p:sp>
      <p:sp>
        <p:nvSpPr>
          <p:cNvPr id="28" name="Text 26"/>
          <p:cNvSpPr/>
          <p:nvPr/>
        </p:nvSpPr>
        <p:spPr>
          <a:xfrm>
            <a:off x="6601968" y="2523744"/>
            <a:ext cx="2103120" cy="237744"/>
          </a:xfrm>
          <a:prstGeom prst="rect">
            <a:avLst/>
          </a:prstGeom>
          <a:noFill/>
          <a:ln/>
        </p:spPr>
        <p:txBody>
          <a:bodyPr wrap="square"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Trust &amp; Equality</a:t>
            </a:r>
            <a:endParaRPr lang="en-US" sz="1000" dirty="0"/>
          </a:p>
        </p:txBody>
      </p:sp>
      <p:sp>
        <p:nvSpPr>
          <p:cNvPr id="29" name="Text 27"/>
          <p:cNvSpPr/>
          <p:nvPr/>
        </p:nvSpPr>
        <p:spPr>
          <a:xfrm>
            <a:off x="6601968" y="2761488"/>
            <a:ext cx="2103120" cy="237744"/>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All voices carry equal weight</a:t>
            </a:r>
            <a:endParaRPr lang="en-US" sz="900" dirty="0"/>
          </a:p>
        </p:txBody>
      </p:sp>
      <p:sp>
        <p:nvSpPr>
          <p:cNvPr id="30" name="Shape 28"/>
          <p:cNvSpPr/>
          <p:nvPr/>
        </p:nvSpPr>
        <p:spPr>
          <a:xfrm>
            <a:off x="6355080" y="3218688"/>
            <a:ext cx="201168" cy="201168"/>
          </a:xfrm>
          <a:prstGeom prst="ellipse">
            <a:avLst/>
          </a:prstGeom>
          <a:solidFill>
            <a:srgbClr val="0891B2"/>
          </a:solidFill>
          <a:ln w="12700">
            <a:solidFill>
              <a:srgbClr val="0891B2"/>
            </a:solidFill>
            <a:prstDash val="solid"/>
          </a:ln>
        </p:spPr>
      </p:sp>
      <p:sp>
        <p:nvSpPr>
          <p:cNvPr id="31" name="Text 29"/>
          <p:cNvSpPr/>
          <p:nvPr/>
        </p:nvSpPr>
        <p:spPr>
          <a:xfrm>
            <a:off x="6601968" y="3182112"/>
            <a:ext cx="2103120" cy="237744"/>
          </a:xfrm>
          <a:prstGeom prst="rect">
            <a:avLst/>
          </a:prstGeom>
          <a:noFill/>
          <a:ln/>
        </p:spPr>
        <p:txBody>
          <a:bodyPr wrap="square"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Blameless Culture</a:t>
            </a:r>
            <a:endParaRPr lang="en-US" sz="1000" dirty="0"/>
          </a:p>
        </p:txBody>
      </p:sp>
      <p:sp>
        <p:nvSpPr>
          <p:cNvPr id="32" name="Text 30"/>
          <p:cNvSpPr/>
          <p:nvPr/>
        </p:nvSpPr>
        <p:spPr>
          <a:xfrm>
            <a:off x="6601968" y="3419856"/>
            <a:ext cx="2103120" cy="237744"/>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Incidents → learning, not blame</a:t>
            </a:r>
            <a:endParaRPr lang="en-US" sz="900" dirty="0"/>
          </a:p>
        </p:txBody>
      </p:sp>
      <p:sp>
        <p:nvSpPr>
          <p:cNvPr id="33" name="Shape 31"/>
          <p:cNvSpPr/>
          <p:nvPr/>
        </p:nvSpPr>
        <p:spPr>
          <a:xfrm>
            <a:off x="6355080" y="3877056"/>
            <a:ext cx="201168" cy="201168"/>
          </a:xfrm>
          <a:prstGeom prst="ellipse">
            <a:avLst/>
          </a:prstGeom>
          <a:solidFill>
            <a:srgbClr val="0891B2"/>
          </a:solidFill>
          <a:ln w="12700">
            <a:solidFill>
              <a:srgbClr val="0891B2"/>
            </a:solidFill>
            <a:prstDash val="solid"/>
          </a:ln>
        </p:spPr>
      </p:sp>
      <p:sp>
        <p:nvSpPr>
          <p:cNvPr id="34" name="Text 32"/>
          <p:cNvSpPr/>
          <p:nvPr/>
        </p:nvSpPr>
        <p:spPr>
          <a:xfrm>
            <a:off x="6601968" y="3840480"/>
            <a:ext cx="2103120" cy="237744"/>
          </a:xfrm>
          <a:prstGeom prst="rect">
            <a:avLst/>
          </a:prstGeom>
          <a:noFill/>
          <a:ln/>
        </p:spPr>
        <p:txBody>
          <a:bodyPr wrap="square"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Continuous Learning</a:t>
            </a:r>
            <a:endParaRPr lang="en-US" sz="1000" dirty="0"/>
          </a:p>
        </p:txBody>
      </p:sp>
      <p:sp>
        <p:nvSpPr>
          <p:cNvPr id="35" name="Text 33"/>
          <p:cNvSpPr/>
          <p:nvPr/>
        </p:nvSpPr>
        <p:spPr>
          <a:xfrm>
            <a:off x="6601968" y="4078224"/>
            <a:ext cx="2103120" cy="237744"/>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Retrospectives, mentoring, CoPs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Software Team Structures</a:t>
            </a:r>
            <a:endParaRPr lang="en-US" sz="3000" dirty="0"/>
          </a:p>
        </p:txBody>
      </p:sp>
      <p:sp>
        <p:nvSpPr>
          <p:cNvPr id="3" name="Text 1"/>
          <p:cNvSpPr/>
          <p:nvPr/>
        </p:nvSpPr>
        <p:spPr>
          <a:xfrm>
            <a:off x="457200" y="841248"/>
            <a:ext cx="8229600" cy="320040"/>
          </a:xfrm>
          <a:prstGeom prst="rect">
            <a:avLst/>
          </a:prstGeom>
          <a:noFill/>
          <a:ln/>
        </p:spPr>
        <p:txBody>
          <a:bodyPr wrap="square" rtlCol="0" anchor="ctr"/>
          <a:lstStyle/>
          <a:p>
            <a:pPr indent="0" marL="0">
              <a:buNone/>
            </a:pPr>
            <a:r>
              <a:rPr lang="en-US" sz="1400" dirty="0">
                <a:solidFill>
                  <a:srgbClr val="0891B2"/>
                </a:solidFill>
                <a:latin typeface="Calibri" pitchFamily="34" charset="0"/>
                <a:ea typeface="Calibri" pitchFamily="34" charset="-122"/>
                <a:cs typeface="Calibri" pitchFamily="34" charset="-120"/>
              </a:rPr>
              <a:t>Four organizational models — trade-offs and best-fit contexts</a:t>
            </a:r>
            <a:endParaRPr lang="en-US" sz="1400" dirty="0"/>
          </a:p>
        </p:txBody>
      </p:sp>
      <p:sp>
        <p:nvSpPr>
          <p:cNvPr id="4" name="Shape 2"/>
          <p:cNvSpPr/>
          <p:nvPr/>
        </p:nvSpPr>
        <p:spPr>
          <a:xfrm>
            <a:off x="457200" y="1143000"/>
            <a:ext cx="8229600" cy="22860"/>
          </a:xfrm>
          <a:prstGeom prst="rect">
            <a:avLst/>
          </a:prstGeom>
          <a:solidFill>
            <a:srgbClr val="0891B2"/>
          </a:solidFill>
          <a:ln w="12700">
            <a:solidFill>
              <a:srgbClr val="0891B2"/>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47472" y="1325880"/>
          <a:ext cx="8449056" cy="914400"/>
        </p:xfrm>
        <a:graphic>
          <a:graphicData uri="http://schemas.openxmlformats.org/drawingml/2006/table">
            <a:tbl>
              <a:tblPr/>
              <a:tblGrid>
                <a:gridCol w="1920240"/>
                <a:gridCol w="1828800"/>
                <a:gridCol w="1920240"/>
                <a:gridCol w="1691640"/>
                <a:gridCol w="1417320"/>
              </a:tblGrid>
              <a:tr h="621792">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Structure</a:t>
                      </a:r>
                      <a:endParaRPr lang="en-US" sz="11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1F3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Key Strength</a:t>
                      </a:r>
                      <a:endParaRPr lang="en-US" sz="11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1F3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Key Challenge</a:t>
                      </a:r>
                      <a:endParaRPr lang="en-US" sz="11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1F3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Best For</a:t>
                      </a:r>
                      <a:endParaRPr lang="en-US" sz="11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1F3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Example</a:t>
                      </a:r>
                      <a:endParaRPr lang="en-US" sz="11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1F3C"/>
                    </a:solidFill>
                  </a:tcPr>
                </a:tc>
              </a:tr>
              <a:tr h="621792">
                <a:tc>
                  <a:txBody>
                    <a:bodyPr/>
                    <a:lstStyle/>
                    <a:p>
                      <a:pPr algn="l" indent="0" marL="0">
                        <a:buNone/>
                      </a:pPr>
                      <a:r>
                        <a:rPr lang="en-US" sz="1000" dirty="0">
                          <a:solidFill>
                            <a:srgbClr val="1A5296"/>
                          </a:solidFill>
                          <a:latin typeface="Calibri" pitchFamily="34" charset="0"/>
                          <a:ea typeface="Calibri" pitchFamily="34" charset="-122"/>
                          <a:cs typeface="Calibri" pitchFamily="34" charset="-120"/>
                        </a:rPr>
                        <a:t>🔧 Functional Teams</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Deep specialization &amp; clear career paths</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Silos; slow handoffs; no end-to-end ownership</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Large enterprises with stable products</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Traditional IT depts</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621792">
                <a:tc>
                  <a:txBody>
                    <a:bodyPr/>
                    <a:lstStyle/>
                    <a:p>
                      <a:pPr algn="l" indent="0" marL="0">
                        <a:buNone/>
                      </a:pPr>
                      <a:r>
                        <a:rPr lang="en-US" sz="1000" dirty="0">
                          <a:solidFill>
                            <a:srgbClr val="1A5296"/>
                          </a:solidFill>
                          <a:latin typeface="Calibri" pitchFamily="34" charset="0"/>
                          <a:ea typeface="Calibri" pitchFamily="34" charset="-122"/>
                          <a:cs typeface="Calibri" pitchFamily="34" charset="-120"/>
                        </a:rPr>
                        <a:t>🎯 Cross-Functional Teams</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7FF"/>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High ownership; fast end-to-end delivery</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7FF"/>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Needs broad skills; coordination overhead</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7FF"/>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Product-focused organizations</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7FF"/>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Spotify Squads</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7FF"/>
                    </a:solidFill>
                  </a:tcPr>
                </a:tc>
              </a:tr>
              <a:tr h="621792">
                <a:tc>
                  <a:txBody>
                    <a:bodyPr/>
                    <a:lstStyle/>
                    <a:p>
                      <a:pPr algn="l" indent="0" marL="0">
                        <a:buNone/>
                      </a:pPr>
                      <a:r>
                        <a:rPr lang="en-US" sz="1000" dirty="0">
                          <a:solidFill>
                            <a:srgbClr val="1A5296"/>
                          </a:solidFill>
                          <a:latin typeface="Calibri" pitchFamily="34" charset="0"/>
                          <a:ea typeface="Calibri" pitchFamily="34" charset="-122"/>
                          <a:cs typeface="Calibri" pitchFamily="34" charset="-120"/>
                        </a:rPr>
                        <a:t>🔀 Matrix Organizations</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Skill sharing with project focus</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Role ambiguity; dual reporting complexity</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Balancing specialization &amp; delivery</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Consulting firms</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621792">
                <a:tc>
                  <a:txBody>
                    <a:bodyPr/>
                    <a:lstStyle/>
                    <a:p>
                      <a:pPr algn="l" indent="0" marL="0">
                        <a:buNone/>
                      </a:pPr>
                      <a:r>
                        <a:rPr lang="en-US" sz="1000" dirty="0">
                          <a:solidFill>
                            <a:srgbClr val="1A5296"/>
                          </a:solidFill>
                          <a:latin typeface="Calibri" pitchFamily="34" charset="0"/>
                          <a:ea typeface="Calibri" pitchFamily="34" charset="-122"/>
                          <a:cs typeface="Calibri" pitchFamily="34" charset="-120"/>
                        </a:rPr>
                        <a:t>🚀 Autonomous / Pod</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7FF"/>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Maximum speed &amp; accountability</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7FF"/>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Needs strong architectural governance</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7FF"/>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High-growth digital organizations</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7FF"/>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Amazon 2-Pizza Teams</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7FF"/>
                    </a:solidFill>
                  </a:tcPr>
                </a:tc>
              </a:tr>
            </a:tbl>
          </a:graphicData>
        </a:graphic>
      </p:graphicFrame>
      <p:sp>
        <p:nvSpPr>
          <p:cNvPr id="6" name="Shape 3"/>
          <p:cNvSpPr/>
          <p:nvPr/>
        </p:nvSpPr>
        <p:spPr>
          <a:xfrm>
            <a:off x="347472" y="4279392"/>
            <a:ext cx="8449056" cy="475488"/>
          </a:xfrm>
          <a:prstGeom prst="rect">
            <a:avLst/>
          </a:prstGeom>
          <a:solidFill>
            <a:srgbClr val="EFF6FF"/>
          </a:solidFill>
          <a:ln w="12700">
            <a:solidFill>
              <a:srgbClr val="BFDBFE"/>
            </a:solidFill>
            <a:prstDash val="solid"/>
          </a:ln>
        </p:spPr>
      </p:sp>
      <p:sp>
        <p:nvSpPr>
          <p:cNvPr id="7" name="Text 4"/>
          <p:cNvSpPr/>
          <p:nvPr/>
        </p:nvSpPr>
        <p:spPr>
          <a:xfrm>
            <a:off x="457200" y="4297680"/>
            <a:ext cx="8229600" cy="420624"/>
          </a:xfrm>
          <a:prstGeom prst="rect">
            <a:avLst/>
          </a:prstGeom>
          <a:noFill/>
          <a:ln/>
        </p:spPr>
        <p:txBody>
          <a:bodyPr wrap="square" rtlCol="0" anchor="ctr"/>
          <a:lstStyle/>
          <a:p>
            <a:pPr indent="0" marL="0">
              <a:buNone/>
            </a:pPr>
            <a:r>
              <a:rPr lang="en-US" sz="1050" i="1" dirty="0">
                <a:solidFill>
                  <a:srgbClr val="1A5296"/>
                </a:solidFill>
                <a:latin typeface="Calibri" pitchFamily="34" charset="0"/>
                <a:ea typeface="Calibri" pitchFamily="34" charset="-122"/>
                <a:cs typeface="Calibri" pitchFamily="34" charset="-120"/>
              </a:rPr>
              <a:t>🔗  Conway's Law: Systems mirror team communication structure → use the "Inverse Conway Maneuver" to align team boundaries with desired architecture.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Team Topologies Framework</a:t>
            </a:r>
            <a:endParaRPr lang="en-US" sz="3000" dirty="0"/>
          </a:p>
        </p:txBody>
      </p:sp>
      <p:sp>
        <p:nvSpPr>
          <p:cNvPr id="3" name="Text 1"/>
          <p:cNvSpPr/>
          <p:nvPr/>
        </p:nvSpPr>
        <p:spPr>
          <a:xfrm>
            <a:off x="457200" y="841248"/>
            <a:ext cx="8229600" cy="320040"/>
          </a:xfrm>
          <a:prstGeom prst="rect">
            <a:avLst/>
          </a:prstGeom>
          <a:noFill/>
          <a:ln/>
        </p:spPr>
        <p:txBody>
          <a:bodyPr wrap="square" rtlCol="0" anchor="ctr"/>
          <a:lstStyle/>
          <a:p>
            <a:pPr indent="0" marL="0">
              <a:buNone/>
            </a:pPr>
            <a:r>
              <a:rPr lang="en-US" sz="1400" dirty="0">
                <a:solidFill>
                  <a:srgbClr val="0891B2"/>
                </a:solidFill>
                <a:latin typeface="Calibri" pitchFamily="34" charset="0"/>
                <a:ea typeface="Calibri" pitchFamily="34" charset="-122"/>
                <a:cs typeface="Calibri" pitchFamily="34" charset="-120"/>
              </a:rPr>
              <a:t>Skelton &amp; Pais (2019) — Organizing for Fast Flow</a:t>
            </a:r>
            <a:endParaRPr lang="en-US" sz="1400" dirty="0"/>
          </a:p>
        </p:txBody>
      </p:sp>
      <p:sp>
        <p:nvSpPr>
          <p:cNvPr id="4" name="Shape 2"/>
          <p:cNvSpPr/>
          <p:nvPr/>
        </p:nvSpPr>
        <p:spPr>
          <a:xfrm>
            <a:off x="457200" y="1143000"/>
            <a:ext cx="8229600" cy="22860"/>
          </a:xfrm>
          <a:prstGeom prst="rect">
            <a:avLst/>
          </a:prstGeom>
          <a:solidFill>
            <a:srgbClr val="0891B2"/>
          </a:solidFill>
          <a:ln w="12700">
            <a:solidFill>
              <a:srgbClr val="0891B2"/>
            </a:solidFill>
            <a:prstDash val="solid"/>
          </a:ln>
        </p:spPr>
      </p:sp>
      <p:sp>
        <p:nvSpPr>
          <p:cNvPr id="5" name="Shape 3"/>
          <p:cNvSpPr/>
          <p:nvPr/>
        </p:nvSpPr>
        <p:spPr>
          <a:xfrm>
            <a:off x="347472" y="1325880"/>
            <a:ext cx="2011680" cy="26060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347472" y="1325880"/>
            <a:ext cx="2011680" cy="530352"/>
          </a:xfrm>
          <a:prstGeom prst="rect">
            <a:avLst/>
          </a:prstGeom>
          <a:solidFill>
            <a:srgbClr val="0891B2"/>
          </a:solidFill>
          <a:ln w="12700">
            <a:solidFill>
              <a:srgbClr val="0891B2"/>
            </a:solidFill>
            <a:prstDash val="solid"/>
          </a:ln>
        </p:spPr>
      </p:sp>
      <p:sp>
        <p:nvSpPr>
          <p:cNvPr id="7" name="Text 5"/>
          <p:cNvSpPr/>
          <p:nvPr/>
        </p:nvSpPr>
        <p:spPr>
          <a:xfrm>
            <a:off x="393192" y="1371600"/>
            <a:ext cx="192024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Stream-Aligned</a:t>
            </a:r>
            <a:endParaRPr lang="en-US" sz="1200" dirty="0"/>
          </a:p>
        </p:txBody>
      </p:sp>
      <p:sp>
        <p:nvSpPr>
          <p:cNvPr id="8" name="Shape 6"/>
          <p:cNvSpPr/>
          <p:nvPr/>
        </p:nvSpPr>
        <p:spPr>
          <a:xfrm>
            <a:off x="1005840" y="1801368"/>
            <a:ext cx="713232" cy="237744"/>
          </a:xfrm>
          <a:prstGeom prst="rect">
            <a:avLst/>
          </a:prstGeom>
          <a:solidFill>
            <a:srgbClr val="D6EAF7"/>
          </a:solidFill>
          <a:ln w="12700">
            <a:solidFill>
              <a:srgbClr val="0891B2"/>
            </a:solidFill>
            <a:prstDash val="solid"/>
          </a:ln>
        </p:spPr>
      </p:sp>
      <p:sp>
        <p:nvSpPr>
          <p:cNvPr id="9" name="Text 7"/>
          <p:cNvSpPr/>
          <p:nvPr/>
        </p:nvSpPr>
        <p:spPr>
          <a:xfrm>
            <a:off x="1005840" y="1801368"/>
            <a:ext cx="713232" cy="237744"/>
          </a:xfrm>
          <a:prstGeom prst="rect">
            <a:avLst/>
          </a:prstGeom>
          <a:noFill/>
          <a:ln/>
        </p:spPr>
        <p:txBody>
          <a:bodyPr wrap="square" lIns="0" tIns="0" rIns="0" bIns="0" rtlCol="0" anchor="ctr"/>
          <a:lstStyle/>
          <a:p>
            <a:pPr algn="ctr" indent="0" marL="0">
              <a:buNone/>
            </a:pPr>
            <a:r>
              <a:rPr lang="en-US" sz="800" b="1" dirty="0">
                <a:solidFill>
                  <a:srgbClr val="0891B2"/>
                </a:solidFill>
                <a:latin typeface="Calibri" pitchFamily="34" charset="0"/>
                <a:ea typeface="Calibri" pitchFamily="34" charset="-122"/>
                <a:cs typeface="Calibri" pitchFamily="34" charset="-120"/>
              </a:rPr>
              <a:t>PRIMARY</a:t>
            </a:r>
            <a:endParaRPr lang="en-US" sz="800" dirty="0"/>
          </a:p>
        </p:txBody>
      </p:sp>
      <p:sp>
        <p:nvSpPr>
          <p:cNvPr id="10" name="Text 8"/>
          <p:cNvSpPr/>
          <p:nvPr/>
        </p:nvSpPr>
        <p:spPr>
          <a:xfrm>
            <a:off x="438912" y="2103120"/>
            <a:ext cx="1847088" cy="1691640"/>
          </a:xfrm>
          <a:prstGeom prst="rect">
            <a:avLst/>
          </a:prstGeom>
          <a:noFill/>
          <a:ln/>
        </p:spPr>
        <p:txBody>
          <a:bodyPr wrap="square" rtlCol="0" anchor="ctr"/>
          <a:lstStyle/>
          <a:p>
            <a:pPr indent="0" marL="0">
              <a:buNone/>
            </a:pPr>
            <a:r>
              <a:rPr lang="en-US" sz="1000" dirty="0">
                <a:solidFill>
                  <a:srgbClr val="334155"/>
                </a:solidFill>
                <a:latin typeface="Calibri" pitchFamily="34" charset="0"/>
                <a:ea typeface="Calibri" pitchFamily="34" charset="-122"/>
                <a:cs typeface="Calibri" pitchFamily="34" charset="-120"/>
              </a:rPr>
              <a:t>Own a value stream end-to-end. Deliver business value directly. Most common type.</a:t>
            </a:r>
            <a:endParaRPr lang="en-US" sz="1000" dirty="0"/>
          </a:p>
        </p:txBody>
      </p:sp>
      <p:sp>
        <p:nvSpPr>
          <p:cNvPr id="11" name="Shape 9"/>
          <p:cNvSpPr/>
          <p:nvPr/>
        </p:nvSpPr>
        <p:spPr>
          <a:xfrm>
            <a:off x="2523744" y="1325880"/>
            <a:ext cx="2011680" cy="26060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2523744" y="1325880"/>
            <a:ext cx="2011680" cy="530352"/>
          </a:xfrm>
          <a:prstGeom prst="rect">
            <a:avLst/>
          </a:prstGeom>
          <a:solidFill>
            <a:srgbClr val="1A5296"/>
          </a:solidFill>
          <a:ln w="12700">
            <a:solidFill>
              <a:srgbClr val="1A5296"/>
            </a:solidFill>
            <a:prstDash val="solid"/>
          </a:ln>
        </p:spPr>
      </p:sp>
      <p:sp>
        <p:nvSpPr>
          <p:cNvPr id="13" name="Text 11"/>
          <p:cNvSpPr/>
          <p:nvPr/>
        </p:nvSpPr>
        <p:spPr>
          <a:xfrm>
            <a:off x="2569464" y="1371600"/>
            <a:ext cx="192024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Platform</a:t>
            </a:r>
            <a:endParaRPr lang="en-US" sz="1200" dirty="0"/>
          </a:p>
        </p:txBody>
      </p:sp>
      <p:sp>
        <p:nvSpPr>
          <p:cNvPr id="14" name="Shape 12"/>
          <p:cNvSpPr/>
          <p:nvPr/>
        </p:nvSpPr>
        <p:spPr>
          <a:xfrm>
            <a:off x="3182112" y="1801368"/>
            <a:ext cx="713232" cy="237744"/>
          </a:xfrm>
          <a:prstGeom prst="rect">
            <a:avLst/>
          </a:prstGeom>
          <a:solidFill>
            <a:srgbClr val="D6EAF7"/>
          </a:solidFill>
          <a:ln w="12700">
            <a:solidFill>
              <a:srgbClr val="1A5296"/>
            </a:solidFill>
            <a:prstDash val="solid"/>
          </a:ln>
        </p:spPr>
      </p:sp>
      <p:sp>
        <p:nvSpPr>
          <p:cNvPr id="15" name="Text 13"/>
          <p:cNvSpPr/>
          <p:nvPr/>
        </p:nvSpPr>
        <p:spPr>
          <a:xfrm>
            <a:off x="3182112" y="1801368"/>
            <a:ext cx="713232" cy="237744"/>
          </a:xfrm>
          <a:prstGeom prst="rect">
            <a:avLst/>
          </a:prstGeom>
          <a:noFill/>
          <a:ln/>
        </p:spPr>
        <p:txBody>
          <a:bodyPr wrap="square" lIns="0" tIns="0" rIns="0" bIns="0" rtlCol="0" anchor="ctr"/>
          <a:lstStyle/>
          <a:p>
            <a:pPr algn="ctr" indent="0" marL="0">
              <a:buNone/>
            </a:pPr>
            <a:r>
              <a:rPr lang="en-US" sz="800" b="1" dirty="0">
                <a:solidFill>
                  <a:srgbClr val="1A5296"/>
                </a:solidFill>
                <a:latin typeface="Calibri" pitchFamily="34" charset="0"/>
                <a:ea typeface="Calibri" pitchFamily="34" charset="-122"/>
                <a:cs typeface="Calibri" pitchFamily="34" charset="-120"/>
              </a:rPr>
              <a:t>ENABLER</a:t>
            </a:r>
            <a:endParaRPr lang="en-US" sz="800" dirty="0"/>
          </a:p>
        </p:txBody>
      </p:sp>
      <p:sp>
        <p:nvSpPr>
          <p:cNvPr id="16" name="Text 14"/>
          <p:cNvSpPr/>
          <p:nvPr/>
        </p:nvSpPr>
        <p:spPr>
          <a:xfrm>
            <a:off x="2615184" y="2103120"/>
            <a:ext cx="1847088" cy="1691640"/>
          </a:xfrm>
          <a:prstGeom prst="rect">
            <a:avLst/>
          </a:prstGeom>
          <a:noFill/>
          <a:ln/>
        </p:spPr>
        <p:txBody>
          <a:bodyPr wrap="square" rtlCol="0" anchor="ctr"/>
          <a:lstStyle/>
          <a:p>
            <a:pPr indent="0" marL="0">
              <a:buNone/>
            </a:pPr>
            <a:r>
              <a:rPr lang="en-US" sz="1000" dirty="0">
                <a:solidFill>
                  <a:srgbClr val="334155"/>
                </a:solidFill>
                <a:latin typeface="Calibri" pitchFamily="34" charset="0"/>
                <a:ea typeface="Calibri" pitchFamily="34" charset="-122"/>
                <a:cs typeface="Calibri" pitchFamily="34" charset="-120"/>
              </a:rPr>
              <a:t>Provide self-service tooling. Reduce cognitive load for other teams. IDP / CI-CD.</a:t>
            </a:r>
            <a:endParaRPr lang="en-US" sz="1000" dirty="0"/>
          </a:p>
        </p:txBody>
      </p:sp>
      <p:sp>
        <p:nvSpPr>
          <p:cNvPr id="17" name="Shape 15"/>
          <p:cNvSpPr/>
          <p:nvPr/>
        </p:nvSpPr>
        <p:spPr>
          <a:xfrm>
            <a:off x="4700016" y="1325880"/>
            <a:ext cx="2011680" cy="26060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4700016" y="1325880"/>
            <a:ext cx="2011680" cy="530352"/>
          </a:xfrm>
          <a:prstGeom prst="rect">
            <a:avLst/>
          </a:prstGeom>
          <a:solidFill>
            <a:srgbClr val="10B981"/>
          </a:solidFill>
          <a:ln w="12700">
            <a:solidFill>
              <a:srgbClr val="10B981"/>
            </a:solidFill>
            <a:prstDash val="solid"/>
          </a:ln>
        </p:spPr>
      </p:sp>
      <p:sp>
        <p:nvSpPr>
          <p:cNvPr id="19" name="Text 17"/>
          <p:cNvSpPr/>
          <p:nvPr/>
        </p:nvSpPr>
        <p:spPr>
          <a:xfrm>
            <a:off x="4745736" y="1371600"/>
            <a:ext cx="192024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Enabling</a:t>
            </a:r>
            <a:endParaRPr lang="en-US" sz="1200" dirty="0"/>
          </a:p>
        </p:txBody>
      </p:sp>
      <p:sp>
        <p:nvSpPr>
          <p:cNvPr id="20" name="Shape 18"/>
          <p:cNvSpPr/>
          <p:nvPr/>
        </p:nvSpPr>
        <p:spPr>
          <a:xfrm>
            <a:off x="5358384" y="1801368"/>
            <a:ext cx="713232" cy="237744"/>
          </a:xfrm>
          <a:prstGeom prst="rect">
            <a:avLst/>
          </a:prstGeom>
          <a:solidFill>
            <a:srgbClr val="D6EAF7"/>
          </a:solidFill>
          <a:ln w="12700">
            <a:solidFill>
              <a:srgbClr val="10B981"/>
            </a:solidFill>
            <a:prstDash val="solid"/>
          </a:ln>
        </p:spPr>
      </p:sp>
      <p:sp>
        <p:nvSpPr>
          <p:cNvPr id="21" name="Text 19"/>
          <p:cNvSpPr/>
          <p:nvPr/>
        </p:nvSpPr>
        <p:spPr>
          <a:xfrm>
            <a:off x="5358384" y="1801368"/>
            <a:ext cx="713232" cy="237744"/>
          </a:xfrm>
          <a:prstGeom prst="rect">
            <a:avLst/>
          </a:prstGeom>
          <a:noFill/>
          <a:ln/>
        </p:spPr>
        <p:txBody>
          <a:bodyPr wrap="square" lIns="0" tIns="0" rIns="0" bIns="0" rtlCol="0" anchor="ctr"/>
          <a:lstStyle/>
          <a:p>
            <a:pPr algn="ctr" indent="0" marL="0">
              <a:buNone/>
            </a:pPr>
            <a:r>
              <a:rPr lang="en-US" sz="800" b="1" dirty="0">
                <a:solidFill>
                  <a:srgbClr val="10B981"/>
                </a:solidFill>
                <a:latin typeface="Calibri" pitchFamily="34" charset="0"/>
                <a:ea typeface="Calibri" pitchFamily="34" charset="-122"/>
                <a:cs typeface="Calibri" pitchFamily="34" charset="-120"/>
              </a:rPr>
              <a:t>SUPPORT</a:t>
            </a:r>
            <a:endParaRPr lang="en-US" sz="800" dirty="0"/>
          </a:p>
        </p:txBody>
      </p:sp>
      <p:sp>
        <p:nvSpPr>
          <p:cNvPr id="22" name="Text 20"/>
          <p:cNvSpPr/>
          <p:nvPr/>
        </p:nvSpPr>
        <p:spPr>
          <a:xfrm>
            <a:off x="4791456" y="2103120"/>
            <a:ext cx="1847088" cy="1691640"/>
          </a:xfrm>
          <a:prstGeom prst="rect">
            <a:avLst/>
          </a:prstGeom>
          <a:noFill/>
          <a:ln/>
        </p:spPr>
        <p:txBody>
          <a:bodyPr wrap="square" rtlCol="0" anchor="ctr"/>
          <a:lstStyle/>
          <a:p>
            <a:pPr indent="0" marL="0">
              <a:buNone/>
            </a:pPr>
            <a:r>
              <a:rPr lang="en-US" sz="1000" dirty="0">
                <a:solidFill>
                  <a:srgbClr val="334155"/>
                </a:solidFill>
                <a:latin typeface="Calibri" pitchFamily="34" charset="0"/>
                <a:ea typeface="Calibri" pitchFamily="34" charset="-122"/>
                <a:cs typeface="Calibri" pitchFamily="34" charset="-120"/>
              </a:rPr>
              <a:t>Build capability in stream-aligned teams. Help adopt new practices. Time-boxed.</a:t>
            </a:r>
            <a:endParaRPr lang="en-US" sz="1000" dirty="0"/>
          </a:p>
        </p:txBody>
      </p:sp>
      <p:sp>
        <p:nvSpPr>
          <p:cNvPr id="23" name="Shape 21"/>
          <p:cNvSpPr/>
          <p:nvPr/>
        </p:nvSpPr>
        <p:spPr>
          <a:xfrm>
            <a:off x="6876288" y="1325880"/>
            <a:ext cx="2011680" cy="26060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4" name="Shape 22"/>
          <p:cNvSpPr/>
          <p:nvPr/>
        </p:nvSpPr>
        <p:spPr>
          <a:xfrm>
            <a:off x="6876288" y="1325880"/>
            <a:ext cx="2011680" cy="530352"/>
          </a:xfrm>
          <a:prstGeom prst="rect">
            <a:avLst/>
          </a:prstGeom>
          <a:solidFill>
            <a:srgbClr val="7C3AED"/>
          </a:solidFill>
          <a:ln w="12700">
            <a:solidFill>
              <a:srgbClr val="7C3AED"/>
            </a:solidFill>
            <a:prstDash val="solid"/>
          </a:ln>
        </p:spPr>
      </p:sp>
      <p:sp>
        <p:nvSpPr>
          <p:cNvPr id="25" name="Text 23"/>
          <p:cNvSpPr/>
          <p:nvPr/>
        </p:nvSpPr>
        <p:spPr>
          <a:xfrm>
            <a:off x="6922008" y="1371600"/>
            <a:ext cx="192024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Complicated</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Subsystem</a:t>
            </a:r>
            <a:endParaRPr lang="en-US" sz="1200" dirty="0"/>
          </a:p>
        </p:txBody>
      </p:sp>
      <p:sp>
        <p:nvSpPr>
          <p:cNvPr id="26" name="Shape 24"/>
          <p:cNvSpPr/>
          <p:nvPr/>
        </p:nvSpPr>
        <p:spPr>
          <a:xfrm>
            <a:off x="7534656" y="1801368"/>
            <a:ext cx="713232" cy="237744"/>
          </a:xfrm>
          <a:prstGeom prst="rect">
            <a:avLst/>
          </a:prstGeom>
          <a:solidFill>
            <a:srgbClr val="D6EAF7"/>
          </a:solidFill>
          <a:ln w="12700">
            <a:solidFill>
              <a:srgbClr val="7C3AED"/>
            </a:solidFill>
            <a:prstDash val="solid"/>
          </a:ln>
        </p:spPr>
      </p:sp>
      <p:sp>
        <p:nvSpPr>
          <p:cNvPr id="27" name="Text 25"/>
          <p:cNvSpPr/>
          <p:nvPr/>
        </p:nvSpPr>
        <p:spPr>
          <a:xfrm>
            <a:off x="7534656" y="1801368"/>
            <a:ext cx="713232" cy="237744"/>
          </a:xfrm>
          <a:prstGeom prst="rect">
            <a:avLst/>
          </a:prstGeom>
          <a:noFill/>
          <a:ln/>
        </p:spPr>
        <p:txBody>
          <a:bodyPr wrap="square" lIns="0" tIns="0" rIns="0" bIns="0" rtlCol="0" anchor="ctr"/>
          <a:lstStyle/>
          <a:p>
            <a:pPr algn="ctr" indent="0" marL="0">
              <a:buNone/>
            </a:pPr>
            <a:r>
              <a:rPr lang="en-US" sz="800" b="1" dirty="0">
                <a:solidFill>
                  <a:srgbClr val="7C3AED"/>
                </a:solidFill>
                <a:latin typeface="Calibri" pitchFamily="34" charset="0"/>
                <a:ea typeface="Calibri" pitchFamily="34" charset="-122"/>
                <a:cs typeface="Calibri" pitchFamily="34" charset="-120"/>
              </a:rPr>
              <a:t>SPECIALIST</a:t>
            </a:r>
            <a:endParaRPr lang="en-US" sz="800" dirty="0"/>
          </a:p>
        </p:txBody>
      </p:sp>
      <p:sp>
        <p:nvSpPr>
          <p:cNvPr id="28" name="Text 26"/>
          <p:cNvSpPr/>
          <p:nvPr/>
        </p:nvSpPr>
        <p:spPr>
          <a:xfrm>
            <a:off x="6967728" y="2103120"/>
            <a:ext cx="1847088" cy="1691640"/>
          </a:xfrm>
          <a:prstGeom prst="rect">
            <a:avLst/>
          </a:prstGeom>
          <a:noFill/>
          <a:ln/>
        </p:spPr>
        <p:txBody>
          <a:bodyPr wrap="square" rtlCol="0" anchor="ctr"/>
          <a:lstStyle/>
          <a:p>
            <a:pPr indent="0" marL="0">
              <a:buNone/>
            </a:pPr>
            <a:r>
              <a:rPr lang="en-US" sz="1000" dirty="0">
                <a:solidFill>
                  <a:srgbClr val="334155"/>
                </a:solidFill>
                <a:latin typeface="Calibri" pitchFamily="34" charset="0"/>
                <a:ea typeface="Calibri" pitchFamily="34" charset="-122"/>
                <a:cs typeface="Calibri" pitchFamily="34" charset="-120"/>
              </a:rPr>
              <a:t>Own technically complex components requiring deep specialist expertise.</a:t>
            </a:r>
            <a:endParaRPr lang="en-US" sz="1000" dirty="0"/>
          </a:p>
        </p:txBody>
      </p:sp>
      <p:sp>
        <p:nvSpPr>
          <p:cNvPr id="29" name="Shape 27"/>
          <p:cNvSpPr/>
          <p:nvPr/>
        </p:nvSpPr>
        <p:spPr>
          <a:xfrm>
            <a:off x="347472" y="4005072"/>
            <a:ext cx="8449056" cy="777240"/>
          </a:xfrm>
          <a:prstGeom prst="rect">
            <a:avLst/>
          </a:prstGeom>
          <a:solidFill>
            <a:srgbClr val="F0F7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0" name="Text 28"/>
          <p:cNvSpPr/>
          <p:nvPr/>
        </p:nvSpPr>
        <p:spPr>
          <a:xfrm>
            <a:off x="502920" y="4087368"/>
            <a:ext cx="1463040" cy="256032"/>
          </a:xfrm>
          <a:prstGeom prst="rect">
            <a:avLst/>
          </a:prstGeom>
          <a:noFill/>
          <a:ln/>
        </p:spPr>
        <p:txBody>
          <a:bodyPr wrap="square" rtlCol="0" anchor="ctr"/>
          <a:lstStyle/>
          <a:p>
            <a:pPr indent="0" marL="0">
              <a:buNone/>
            </a:pPr>
            <a:r>
              <a:rPr lang="en-US" sz="1100" b="1" dirty="0">
                <a:solidFill>
                  <a:srgbClr val="0D1F3C"/>
                </a:solidFill>
                <a:latin typeface="Calibri" pitchFamily="34" charset="0"/>
                <a:ea typeface="Calibri" pitchFamily="34" charset="-122"/>
                <a:cs typeface="Calibri" pitchFamily="34" charset="-120"/>
              </a:rPr>
              <a:t>Interaction Modes:</a:t>
            </a:r>
            <a:endParaRPr lang="en-US" sz="1100" dirty="0"/>
          </a:p>
        </p:txBody>
      </p:sp>
      <p:sp>
        <p:nvSpPr>
          <p:cNvPr id="31" name="Shape 29"/>
          <p:cNvSpPr/>
          <p:nvPr/>
        </p:nvSpPr>
        <p:spPr>
          <a:xfrm>
            <a:off x="2011680" y="4087368"/>
            <a:ext cx="1097280" cy="256032"/>
          </a:xfrm>
          <a:prstGeom prst="rect">
            <a:avLst/>
          </a:prstGeom>
          <a:solidFill>
            <a:srgbClr val="0891B2"/>
          </a:solidFill>
          <a:ln w="12700">
            <a:solidFill>
              <a:srgbClr val="0891B2"/>
            </a:solidFill>
            <a:prstDash val="solid"/>
          </a:ln>
        </p:spPr>
      </p:sp>
      <p:sp>
        <p:nvSpPr>
          <p:cNvPr id="32" name="Text 30"/>
          <p:cNvSpPr/>
          <p:nvPr/>
        </p:nvSpPr>
        <p:spPr>
          <a:xfrm>
            <a:off x="2011680" y="4087368"/>
            <a:ext cx="10972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Collaboration</a:t>
            </a:r>
            <a:endParaRPr lang="en-US" sz="900" dirty="0"/>
          </a:p>
        </p:txBody>
      </p:sp>
      <p:sp>
        <p:nvSpPr>
          <p:cNvPr id="33" name="Text 31"/>
          <p:cNvSpPr/>
          <p:nvPr/>
        </p:nvSpPr>
        <p:spPr>
          <a:xfrm>
            <a:off x="3154680" y="4087368"/>
            <a:ext cx="1463040" cy="256032"/>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Close joint work — high bandwidth</a:t>
            </a:r>
            <a:endParaRPr lang="en-US" sz="900" dirty="0"/>
          </a:p>
        </p:txBody>
      </p:sp>
      <p:sp>
        <p:nvSpPr>
          <p:cNvPr id="34" name="Shape 32"/>
          <p:cNvSpPr/>
          <p:nvPr/>
        </p:nvSpPr>
        <p:spPr>
          <a:xfrm>
            <a:off x="4297680" y="4087368"/>
            <a:ext cx="1097280" cy="256032"/>
          </a:xfrm>
          <a:prstGeom prst="rect">
            <a:avLst/>
          </a:prstGeom>
          <a:solidFill>
            <a:srgbClr val="1A5296"/>
          </a:solidFill>
          <a:ln w="12700">
            <a:solidFill>
              <a:srgbClr val="1A5296"/>
            </a:solidFill>
            <a:prstDash val="solid"/>
          </a:ln>
        </p:spPr>
      </p:sp>
      <p:sp>
        <p:nvSpPr>
          <p:cNvPr id="35" name="Text 33"/>
          <p:cNvSpPr/>
          <p:nvPr/>
        </p:nvSpPr>
        <p:spPr>
          <a:xfrm>
            <a:off x="4297680" y="4087368"/>
            <a:ext cx="10972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X-as-a-Service</a:t>
            </a:r>
            <a:endParaRPr lang="en-US" sz="900" dirty="0"/>
          </a:p>
        </p:txBody>
      </p:sp>
      <p:sp>
        <p:nvSpPr>
          <p:cNvPr id="36" name="Text 34"/>
          <p:cNvSpPr/>
          <p:nvPr/>
        </p:nvSpPr>
        <p:spPr>
          <a:xfrm>
            <a:off x="5440680" y="4087368"/>
            <a:ext cx="1463040" cy="256032"/>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Clear API contract — low coupling</a:t>
            </a:r>
            <a:endParaRPr lang="en-US" sz="900" dirty="0"/>
          </a:p>
        </p:txBody>
      </p:sp>
      <p:sp>
        <p:nvSpPr>
          <p:cNvPr id="37" name="Shape 35"/>
          <p:cNvSpPr/>
          <p:nvPr/>
        </p:nvSpPr>
        <p:spPr>
          <a:xfrm>
            <a:off x="6583680" y="4087368"/>
            <a:ext cx="1097280" cy="256032"/>
          </a:xfrm>
          <a:prstGeom prst="rect">
            <a:avLst/>
          </a:prstGeom>
          <a:solidFill>
            <a:srgbClr val="10B981"/>
          </a:solidFill>
          <a:ln w="12700">
            <a:solidFill>
              <a:srgbClr val="10B981"/>
            </a:solidFill>
            <a:prstDash val="solid"/>
          </a:ln>
        </p:spPr>
      </p:sp>
      <p:sp>
        <p:nvSpPr>
          <p:cNvPr id="38" name="Text 36"/>
          <p:cNvSpPr/>
          <p:nvPr/>
        </p:nvSpPr>
        <p:spPr>
          <a:xfrm>
            <a:off x="6583680" y="4087368"/>
            <a:ext cx="10972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Facilitating</a:t>
            </a:r>
            <a:endParaRPr lang="en-US" sz="900" dirty="0"/>
          </a:p>
        </p:txBody>
      </p:sp>
      <p:sp>
        <p:nvSpPr>
          <p:cNvPr id="39" name="Text 37"/>
          <p:cNvSpPr/>
          <p:nvPr/>
        </p:nvSpPr>
        <p:spPr>
          <a:xfrm>
            <a:off x="7726680" y="4087368"/>
            <a:ext cx="1463040" cy="256032"/>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Coaching, unblocking — time-limited</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Team Formation &amp; Development</a:t>
            </a:r>
            <a:endParaRPr lang="en-US" sz="3000" dirty="0"/>
          </a:p>
        </p:txBody>
      </p:sp>
      <p:sp>
        <p:nvSpPr>
          <p:cNvPr id="3" name="Text 1"/>
          <p:cNvSpPr/>
          <p:nvPr/>
        </p:nvSpPr>
        <p:spPr>
          <a:xfrm>
            <a:off x="457200" y="841248"/>
            <a:ext cx="8229600" cy="320040"/>
          </a:xfrm>
          <a:prstGeom prst="rect">
            <a:avLst/>
          </a:prstGeom>
          <a:noFill/>
          <a:ln/>
        </p:spPr>
        <p:txBody>
          <a:bodyPr wrap="square" rtlCol="0" anchor="ctr"/>
          <a:lstStyle/>
          <a:p>
            <a:pPr indent="0" marL="0">
              <a:buNone/>
            </a:pPr>
            <a:r>
              <a:rPr lang="en-US" sz="1400" dirty="0">
                <a:solidFill>
                  <a:srgbClr val="0891B2"/>
                </a:solidFill>
                <a:latin typeface="Calibri" pitchFamily="34" charset="0"/>
                <a:ea typeface="Calibri" pitchFamily="34" charset="-122"/>
                <a:cs typeface="Calibri" pitchFamily="34" charset="-120"/>
              </a:rPr>
              <a:t>Tuckman's Model (1965) — Five Stages of Team Evolution</a:t>
            </a:r>
            <a:endParaRPr lang="en-US" sz="1400" dirty="0"/>
          </a:p>
        </p:txBody>
      </p:sp>
      <p:sp>
        <p:nvSpPr>
          <p:cNvPr id="4" name="Shape 2"/>
          <p:cNvSpPr/>
          <p:nvPr/>
        </p:nvSpPr>
        <p:spPr>
          <a:xfrm>
            <a:off x="457200" y="1143000"/>
            <a:ext cx="8229600" cy="22860"/>
          </a:xfrm>
          <a:prstGeom prst="rect">
            <a:avLst/>
          </a:prstGeom>
          <a:solidFill>
            <a:srgbClr val="0891B2"/>
          </a:solidFill>
          <a:ln w="12700">
            <a:solidFill>
              <a:srgbClr val="0891B2"/>
            </a:solidFill>
            <a:prstDash val="solid"/>
          </a:ln>
        </p:spPr>
      </p:sp>
      <p:sp>
        <p:nvSpPr>
          <p:cNvPr id="5" name="Shape 3"/>
          <p:cNvSpPr/>
          <p:nvPr/>
        </p:nvSpPr>
        <p:spPr>
          <a:xfrm>
            <a:off x="1920240" y="2331720"/>
            <a:ext cx="137160" cy="274320"/>
          </a:xfrm>
          <a:prstGeom prst="rect">
            <a:avLst/>
          </a:prstGeom>
          <a:solidFill>
            <a:srgbClr val="CBD5E1"/>
          </a:solidFill>
          <a:ln w="12700">
            <a:solidFill>
              <a:srgbClr val="CBD5E1"/>
            </a:solidFill>
            <a:prstDash val="solid"/>
          </a:ln>
        </p:spPr>
      </p:sp>
      <p:sp>
        <p:nvSpPr>
          <p:cNvPr id="6" name="Shape 4"/>
          <p:cNvSpPr/>
          <p:nvPr/>
        </p:nvSpPr>
        <p:spPr>
          <a:xfrm>
            <a:off x="347472" y="1298448"/>
            <a:ext cx="1572768" cy="32918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347472" y="1298448"/>
            <a:ext cx="1572768" cy="438912"/>
          </a:xfrm>
          <a:prstGeom prst="rect">
            <a:avLst/>
          </a:prstGeom>
          <a:solidFill>
            <a:srgbClr val="64748B"/>
          </a:solidFill>
          <a:ln w="12700">
            <a:solidFill>
              <a:srgbClr val="64748B"/>
            </a:solidFill>
            <a:prstDash val="solid"/>
          </a:ln>
        </p:spPr>
      </p:sp>
      <p:sp>
        <p:nvSpPr>
          <p:cNvPr id="8" name="Text 6"/>
          <p:cNvSpPr/>
          <p:nvPr/>
        </p:nvSpPr>
        <p:spPr>
          <a:xfrm>
            <a:off x="347472" y="1316736"/>
            <a:ext cx="1572768"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FORMING</a:t>
            </a:r>
            <a:endParaRPr lang="en-US" sz="1000" dirty="0"/>
          </a:p>
        </p:txBody>
      </p:sp>
      <p:sp>
        <p:nvSpPr>
          <p:cNvPr id="9" name="Text 7"/>
          <p:cNvSpPr/>
          <p:nvPr/>
        </p:nvSpPr>
        <p:spPr>
          <a:xfrm>
            <a:off x="420624" y="1801368"/>
            <a:ext cx="1463040" cy="228600"/>
          </a:xfrm>
          <a:prstGeom prst="rect">
            <a:avLst/>
          </a:prstGeom>
          <a:noFill/>
          <a:ln/>
        </p:spPr>
        <p:txBody>
          <a:bodyPr wrap="square" rtlCol="0" anchor="ctr"/>
          <a:lstStyle/>
          <a:p>
            <a:pPr indent="0" marL="0">
              <a:buNone/>
            </a:pPr>
            <a:r>
              <a:rPr lang="en-US" sz="850" b="1" dirty="0">
                <a:solidFill>
                  <a:srgbClr val="64748B"/>
                </a:solidFill>
                <a:latin typeface="Calibri" pitchFamily="34" charset="0"/>
                <a:ea typeface="Calibri" pitchFamily="34" charset="-122"/>
                <a:cs typeface="Calibri" pitchFamily="34" charset="-120"/>
              </a:rPr>
              <a:t>Characteristics</a:t>
            </a:r>
            <a:endParaRPr lang="en-US" sz="850" dirty="0"/>
          </a:p>
        </p:txBody>
      </p:sp>
      <p:sp>
        <p:nvSpPr>
          <p:cNvPr id="10" name="Text 8"/>
          <p:cNvSpPr/>
          <p:nvPr/>
        </p:nvSpPr>
        <p:spPr>
          <a:xfrm>
            <a:off x="420624" y="2029968"/>
            <a:ext cx="1463040" cy="1005840"/>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High dependency on leader</a:t>
            </a: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 Unclear roles &amp; norms</a:t>
            </a: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 Polite but uncertain</a:t>
            </a:r>
            <a:endParaRPr lang="en-US" sz="850" dirty="0"/>
          </a:p>
        </p:txBody>
      </p:sp>
      <p:sp>
        <p:nvSpPr>
          <p:cNvPr id="11" name="Shape 9"/>
          <p:cNvSpPr/>
          <p:nvPr/>
        </p:nvSpPr>
        <p:spPr>
          <a:xfrm>
            <a:off x="420624" y="3090672"/>
            <a:ext cx="1426464" cy="18288"/>
          </a:xfrm>
          <a:prstGeom prst="rect">
            <a:avLst/>
          </a:prstGeom>
          <a:solidFill>
            <a:srgbClr val="E2E8F0"/>
          </a:solidFill>
          <a:ln w="12700">
            <a:solidFill>
              <a:srgbClr val="E2E8F0"/>
            </a:solidFill>
            <a:prstDash val="solid"/>
          </a:ln>
        </p:spPr>
      </p:sp>
      <p:sp>
        <p:nvSpPr>
          <p:cNvPr id="12" name="Text 10"/>
          <p:cNvSpPr/>
          <p:nvPr/>
        </p:nvSpPr>
        <p:spPr>
          <a:xfrm>
            <a:off x="420624" y="3145536"/>
            <a:ext cx="1463040" cy="228600"/>
          </a:xfrm>
          <a:prstGeom prst="rect">
            <a:avLst/>
          </a:prstGeom>
          <a:noFill/>
          <a:ln/>
        </p:spPr>
        <p:txBody>
          <a:bodyPr wrap="square" rtlCol="0" anchor="ctr"/>
          <a:lstStyle/>
          <a:p>
            <a:pPr indent="0" marL="0">
              <a:buNone/>
            </a:pPr>
            <a:r>
              <a:rPr lang="en-US" sz="850" b="1" dirty="0">
                <a:solidFill>
                  <a:srgbClr val="0D1F3C"/>
                </a:solidFill>
                <a:latin typeface="Calibri" pitchFamily="34" charset="0"/>
                <a:ea typeface="Calibri" pitchFamily="34" charset="-122"/>
                <a:cs typeface="Calibri" pitchFamily="34" charset="-120"/>
              </a:rPr>
              <a:t>Management Actions</a:t>
            </a:r>
            <a:endParaRPr lang="en-US" sz="850" dirty="0"/>
          </a:p>
        </p:txBody>
      </p:sp>
      <p:sp>
        <p:nvSpPr>
          <p:cNvPr id="13" name="Text 11"/>
          <p:cNvSpPr/>
          <p:nvPr/>
        </p:nvSpPr>
        <p:spPr>
          <a:xfrm>
            <a:off x="420624" y="3383280"/>
            <a:ext cx="1463040" cy="1051560"/>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Clarify goals &amp; roles</a:t>
            </a: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Invest in introductions</a:t>
            </a: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Create team charter</a:t>
            </a:r>
            <a:endParaRPr lang="en-US" sz="850" dirty="0"/>
          </a:p>
        </p:txBody>
      </p:sp>
      <p:sp>
        <p:nvSpPr>
          <p:cNvPr id="14" name="Shape 12"/>
          <p:cNvSpPr/>
          <p:nvPr/>
        </p:nvSpPr>
        <p:spPr>
          <a:xfrm>
            <a:off x="3630168" y="2331720"/>
            <a:ext cx="137160" cy="274320"/>
          </a:xfrm>
          <a:prstGeom prst="rect">
            <a:avLst/>
          </a:prstGeom>
          <a:solidFill>
            <a:srgbClr val="CBD5E1"/>
          </a:solidFill>
          <a:ln w="12700">
            <a:solidFill>
              <a:srgbClr val="CBD5E1"/>
            </a:solidFill>
            <a:prstDash val="solid"/>
          </a:ln>
        </p:spPr>
      </p:sp>
      <p:sp>
        <p:nvSpPr>
          <p:cNvPr id="15" name="Shape 13"/>
          <p:cNvSpPr/>
          <p:nvPr/>
        </p:nvSpPr>
        <p:spPr>
          <a:xfrm>
            <a:off x="2057400" y="1298448"/>
            <a:ext cx="1572768" cy="32918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2057400" y="1298448"/>
            <a:ext cx="1572768" cy="438912"/>
          </a:xfrm>
          <a:prstGeom prst="rect">
            <a:avLst/>
          </a:prstGeom>
          <a:solidFill>
            <a:srgbClr val="EF4444"/>
          </a:solidFill>
          <a:ln w="12700">
            <a:solidFill>
              <a:srgbClr val="EF4444"/>
            </a:solidFill>
            <a:prstDash val="solid"/>
          </a:ln>
        </p:spPr>
      </p:sp>
      <p:sp>
        <p:nvSpPr>
          <p:cNvPr id="17" name="Text 15"/>
          <p:cNvSpPr/>
          <p:nvPr/>
        </p:nvSpPr>
        <p:spPr>
          <a:xfrm>
            <a:off x="2057400" y="1316736"/>
            <a:ext cx="1572768"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STORMING</a:t>
            </a:r>
            <a:endParaRPr lang="en-US" sz="1000" dirty="0"/>
          </a:p>
        </p:txBody>
      </p:sp>
      <p:sp>
        <p:nvSpPr>
          <p:cNvPr id="18" name="Text 16"/>
          <p:cNvSpPr/>
          <p:nvPr/>
        </p:nvSpPr>
        <p:spPr>
          <a:xfrm>
            <a:off x="2130552" y="1801368"/>
            <a:ext cx="1463040" cy="228600"/>
          </a:xfrm>
          <a:prstGeom prst="rect">
            <a:avLst/>
          </a:prstGeom>
          <a:noFill/>
          <a:ln/>
        </p:spPr>
        <p:txBody>
          <a:bodyPr wrap="square" rtlCol="0" anchor="ctr"/>
          <a:lstStyle/>
          <a:p>
            <a:pPr indent="0" marL="0">
              <a:buNone/>
            </a:pPr>
            <a:r>
              <a:rPr lang="en-US" sz="850" b="1" dirty="0">
                <a:solidFill>
                  <a:srgbClr val="EF4444"/>
                </a:solidFill>
                <a:latin typeface="Calibri" pitchFamily="34" charset="0"/>
                <a:ea typeface="Calibri" pitchFamily="34" charset="-122"/>
                <a:cs typeface="Calibri" pitchFamily="34" charset="-120"/>
              </a:rPr>
              <a:t>Characteristics</a:t>
            </a:r>
            <a:endParaRPr lang="en-US" sz="850" dirty="0"/>
          </a:p>
        </p:txBody>
      </p:sp>
      <p:sp>
        <p:nvSpPr>
          <p:cNvPr id="19" name="Text 17"/>
          <p:cNvSpPr/>
          <p:nvPr/>
        </p:nvSpPr>
        <p:spPr>
          <a:xfrm>
            <a:off x="2130552" y="2029968"/>
            <a:ext cx="1463040" cy="1005840"/>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Conflict over approach</a:t>
            </a: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 Jockeying for influence</a:t>
            </a: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 Resistance to direction</a:t>
            </a:r>
            <a:endParaRPr lang="en-US" sz="850" dirty="0"/>
          </a:p>
        </p:txBody>
      </p:sp>
      <p:sp>
        <p:nvSpPr>
          <p:cNvPr id="20" name="Shape 18"/>
          <p:cNvSpPr/>
          <p:nvPr/>
        </p:nvSpPr>
        <p:spPr>
          <a:xfrm>
            <a:off x="2130552" y="3090672"/>
            <a:ext cx="1426464" cy="18288"/>
          </a:xfrm>
          <a:prstGeom prst="rect">
            <a:avLst/>
          </a:prstGeom>
          <a:solidFill>
            <a:srgbClr val="E2E8F0"/>
          </a:solidFill>
          <a:ln w="12700">
            <a:solidFill>
              <a:srgbClr val="E2E8F0"/>
            </a:solidFill>
            <a:prstDash val="solid"/>
          </a:ln>
        </p:spPr>
      </p:sp>
      <p:sp>
        <p:nvSpPr>
          <p:cNvPr id="21" name="Text 19"/>
          <p:cNvSpPr/>
          <p:nvPr/>
        </p:nvSpPr>
        <p:spPr>
          <a:xfrm>
            <a:off x="2130552" y="3145536"/>
            <a:ext cx="1463040" cy="228600"/>
          </a:xfrm>
          <a:prstGeom prst="rect">
            <a:avLst/>
          </a:prstGeom>
          <a:noFill/>
          <a:ln/>
        </p:spPr>
        <p:txBody>
          <a:bodyPr wrap="square" rtlCol="0" anchor="ctr"/>
          <a:lstStyle/>
          <a:p>
            <a:pPr indent="0" marL="0">
              <a:buNone/>
            </a:pPr>
            <a:r>
              <a:rPr lang="en-US" sz="850" b="1" dirty="0">
                <a:solidFill>
                  <a:srgbClr val="0D1F3C"/>
                </a:solidFill>
                <a:latin typeface="Calibri" pitchFamily="34" charset="0"/>
                <a:ea typeface="Calibri" pitchFamily="34" charset="-122"/>
                <a:cs typeface="Calibri" pitchFamily="34" charset="-120"/>
              </a:rPr>
              <a:t>Management Actions</a:t>
            </a:r>
            <a:endParaRPr lang="en-US" sz="850" dirty="0"/>
          </a:p>
        </p:txBody>
      </p:sp>
      <p:sp>
        <p:nvSpPr>
          <p:cNvPr id="22" name="Text 20"/>
          <p:cNvSpPr/>
          <p:nvPr/>
        </p:nvSpPr>
        <p:spPr>
          <a:xfrm>
            <a:off x="2130552" y="3383280"/>
            <a:ext cx="1463040" cy="1051560"/>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Facilitate disagreement</a:t>
            </a: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Surface tensions early</a:t>
            </a: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Act as neutral mediator</a:t>
            </a:r>
            <a:endParaRPr lang="en-US" sz="850" dirty="0"/>
          </a:p>
        </p:txBody>
      </p:sp>
      <p:sp>
        <p:nvSpPr>
          <p:cNvPr id="23" name="Shape 21"/>
          <p:cNvSpPr/>
          <p:nvPr/>
        </p:nvSpPr>
        <p:spPr>
          <a:xfrm>
            <a:off x="5340096" y="2331720"/>
            <a:ext cx="137160" cy="274320"/>
          </a:xfrm>
          <a:prstGeom prst="rect">
            <a:avLst/>
          </a:prstGeom>
          <a:solidFill>
            <a:srgbClr val="CBD5E1"/>
          </a:solidFill>
          <a:ln w="12700">
            <a:solidFill>
              <a:srgbClr val="CBD5E1"/>
            </a:solidFill>
            <a:prstDash val="solid"/>
          </a:ln>
        </p:spPr>
      </p:sp>
      <p:sp>
        <p:nvSpPr>
          <p:cNvPr id="24" name="Shape 22"/>
          <p:cNvSpPr/>
          <p:nvPr/>
        </p:nvSpPr>
        <p:spPr>
          <a:xfrm>
            <a:off x="3767328" y="1298448"/>
            <a:ext cx="1572768" cy="32918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3767328" y="1298448"/>
            <a:ext cx="1572768" cy="438912"/>
          </a:xfrm>
          <a:prstGeom prst="rect">
            <a:avLst/>
          </a:prstGeom>
          <a:solidFill>
            <a:srgbClr val="F59E0B"/>
          </a:solidFill>
          <a:ln w="12700">
            <a:solidFill>
              <a:srgbClr val="F59E0B"/>
            </a:solidFill>
            <a:prstDash val="solid"/>
          </a:ln>
        </p:spPr>
      </p:sp>
      <p:sp>
        <p:nvSpPr>
          <p:cNvPr id="26" name="Text 24"/>
          <p:cNvSpPr/>
          <p:nvPr/>
        </p:nvSpPr>
        <p:spPr>
          <a:xfrm>
            <a:off x="3767328" y="1316736"/>
            <a:ext cx="1572768"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NORMING</a:t>
            </a:r>
            <a:endParaRPr lang="en-US" sz="1000" dirty="0"/>
          </a:p>
        </p:txBody>
      </p:sp>
      <p:sp>
        <p:nvSpPr>
          <p:cNvPr id="27" name="Text 25"/>
          <p:cNvSpPr/>
          <p:nvPr/>
        </p:nvSpPr>
        <p:spPr>
          <a:xfrm>
            <a:off x="3840480" y="1801368"/>
            <a:ext cx="1463040" cy="228600"/>
          </a:xfrm>
          <a:prstGeom prst="rect">
            <a:avLst/>
          </a:prstGeom>
          <a:noFill/>
          <a:ln/>
        </p:spPr>
        <p:txBody>
          <a:bodyPr wrap="square" rtlCol="0" anchor="ctr"/>
          <a:lstStyle/>
          <a:p>
            <a:pPr indent="0" marL="0">
              <a:buNone/>
            </a:pPr>
            <a:r>
              <a:rPr lang="en-US" sz="850" b="1" dirty="0">
                <a:solidFill>
                  <a:srgbClr val="F59E0B"/>
                </a:solidFill>
                <a:latin typeface="Calibri" pitchFamily="34" charset="0"/>
                <a:ea typeface="Calibri" pitchFamily="34" charset="-122"/>
                <a:cs typeface="Calibri" pitchFamily="34" charset="-120"/>
              </a:rPr>
              <a:t>Characteristics</a:t>
            </a:r>
            <a:endParaRPr lang="en-US" sz="850" dirty="0"/>
          </a:p>
        </p:txBody>
      </p:sp>
      <p:sp>
        <p:nvSpPr>
          <p:cNvPr id="28" name="Text 26"/>
          <p:cNvSpPr/>
          <p:nvPr/>
        </p:nvSpPr>
        <p:spPr>
          <a:xfrm>
            <a:off x="3840480" y="2029968"/>
            <a:ext cx="1463040" cy="1005840"/>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Shared working agreements</a:t>
            </a: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 Emerging trust</a:t>
            </a: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 Collaborative problem-solving</a:t>
            </a:r>
            <a:endParaRPr lang="en-US" sz="850" dirty="0"/>
          </a:p>
        </p:txBody>
      </p:sp>
      <p:sp>
        <p:nvSpPr>
          <p:cNvPr id="29" name="Shape 27"/>
          <p:cNvSpPr/>
          <p:nvPr/>
        </p:nvSpPr>
        <p:spPr>
          <a:xfrm>
            <a:off x="3840480" y="3090672"/>
            <a:ext cx="1426464" cy="18288"/>
          </a:xfrm>
          <a:prstGeom prst="rect">
            <a:avLst/>
          </a:prstGeom>
          <a:solidFill>
            <a:srgbClr val="E2E8F0"/>
          </a:solidFill>
          <a:ln w="12700">
            <a:solidFill>
              <a:srgbClr val="E2E8F0"/>
            </a:solidFill>
            <a:prstDash val="solid"/>
          </a:ln>
        </p:spPr>
      </p:sp>
      <p:sp>
        <p:nvSpPr>
          <p:cNvPr id="30" name="Text 28"/>
          <p:cNvSpPr/>
          <p:nvPr/>
        </p:nvSpPr>
        <p:spPr>
          <a:xfrm>
            <a:off x="3840480" y="3145536"/>
            <a:ext cx="1463040" cy="228600"/>
          </a:xfrm>
          <a:prstGeom prst="rect">
            <a:avLst/>
          </a:prstGeom>
          <a:noFill/>
          <a:ln/>
        </p:spPr>
        <p:txBody>
          <a:bodyPr wrap="square" rtlCol="0" anchor="ctr"/>
          <a:lstStyle/>
          <a:p>
            <a:pPr indent="0" marL="0">
              <a:buNone/>
            </a:pPr>
            <a:r>
              <a:rPr lang="en-US" sz="850" b="1" dirty="0">
                <a:solidFill>
                  <a:srgbClr val="0D1F3C"/>
                </a:solidFill>
                <a:latin typeface="Calibri" pitchFamily="34" charset="0"/>
                <a:ea typeface="Calibri" pitchFamily="34" charset="-122"/>
                <a:cs typeface="Calibri" pitchFamily="34" charset="-120"/>
              </a:rPr>
              <a:t>Management Actions</a:t>
            </a:r>
            <a:endParaRPr lang="en-US" sz="850" dirty="0"/>
          </a:p>
        </p:txBody>
      </p:sp>
      <p:sp>
        <p:nvSpPr>
          <p:cNvPr id="31" name="Text 29"/>
          <p:cNvSpPr/>
          <p:nvPr/>
        </p:nvSpPr>
        <p:spPr>
          <a:xfrm>
            <a:off x="3840480" y="3383280"/>
            <a:ext cx="1463040" cy="1051560"/>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Reinforce positives</a:t>
            </a: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Formalize processes</a:t>
            </a: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Encourage feedback</a:t>
            </a:r>
            <a:endParaRPr lang="en-US" sz="850" dirty="0"/>
          </a:p>
        </p:txBody>
      </p:sp>
      <p:sp>
        <p:nvSpPr>
          <p:cNvPr id="32" name="Shape 30"/>
          <p:cNvSpPr/>
          <p:nvPr/>
        </p:nvSpPr>
        <p:spPr>
          <a:xfrm>
            <a:off x="7050024" y="2331720"/>
            <a:ext cx="137160" cy="274320"/>
          </a:xfrm>
          <a:prstGeom prst="rect">
            <a:avLst/>
          </a:prstGeom>
          <a:solidFill>
            <a:srgbClr val="CBD5E1"/>
          </a:solidFill>
          <a:ln w="12700">
            <a:solidFill>
              <a:srgbClr val="CBD5E1"/>
            </a:solidFill>
            <a:prstDash val="solid"/>
          </a:ln>
        </p:spPr>
      </p:sp>
      <p:sp>
        <p:nvSpPr>
          <p:cNvPr id="33" name="Shape 31"/>
          <p:cNvSpPr/>
          <p:nvPr/>
        </p:nvSpPr>
        <p:spPr>
          <a:xfrm>
            <a:off x="5477256" y="1298448"/>
            <a:ext cx="1572768" cy="32918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4" name="Shape 32"/>
          <p:cNvSpPr/>
          <p:nvPr/>
        </p:nvSpPr>
        <p:spPr>
          <a:xfrm>
            <a:off x="5477256" y="1298448"/>
            <a:ext cx="1572768" cy="438912"/>
          </a:xfrm>
          <a:prstGeom prst="rect">
            <a:avLst/>
          </a:prstGeom>
          <a:solidFill>
            <a:srgbClr val="10B981"/>
          </a:solidFill>
          <a:ln w="12700">
            <a:solidFill>
              <a:srgbClr val="10B981"/>
            </a:solidFill>
            <a:prstDash val="solid"/>
          </a:ln>
        </p:spPr>
      </p:sp>
      <p:sp>
        <p:nvSpPr>
          <p:cNvPr id="35" name="Text 33"/>
          <p:cNvSpPr/>
          <p:nvPr/>
        </p:nvSpPr>
        <p:spPr>
          <a:xfrm>
            <a:off x="5477256" y="1316736"/>
            <a:ext cx="1572768"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PERFORMING</a:t>
            </a:r>
            <a:endParaRPr lang="en-US" sz="1000" dirty="0"/>
          </a:p>
        </p:txBody>
      </p:sp>
      <p:sp>
        <p:nvSpPr>
          <p:cNvPr id="36" name="Text 34"/>
          <p:cNvSpPr/>
          <p:nvPr/>
        </p:nvSpPr>
        <p:spPr>
          <a:xfrm>
            <a:off x="5550408" y="1801368"/>
            <a:ext cx="1463040" cy="228600"/>
          </a:xfrm>
          <a:prstGeom prst="rect">
            <a:avLst/>
          </a:prstGeom>
          <a:noFill/>
          <a:ln/>
        </p:spPr>
        <p:txBody>
          <a:bodyPr wrap="square" rtlCol="0" anchor="ctr"/>
          <a:lstStyle/>
          <a:p>
            <a:pPr indent="0" marL="0">
              <a:buNone/>
            </a:pPr>
            <a:r>
              <a:rPr lang="en-US" sz="850" b="1" dirty="0">
                <a:solidFill>
                  <a:srgbClr val="10B981"/>
                </a:solidFill>
                <a:latin typeface="Calibri" pitchFamily="34" charset="0"/>
                <a:ea typeface="Calibri" pitchFamily="34" charset="-122"/>
                <a:cs typeface="Calibri" pitchFamily="34" charset="-120"/>
              </a:rPr>
              <a:t>Characteristics</a:t>
            </a:r>
            <a:endParaRPr lang="en-US" sz="850" dirty="0"/>
          </a:p>
        </p:txBody>
      </p:sp>
      <p:sp>
        <p:nvSpPr>
          <p:cNvPr id="37" name="Text 35"/>
          <p:cNvSpPr/>
          <p:nvPr/>
        </p:nvSpPr>
        <p:spPr>
          <a:xfrm>
            <a:off x="5550408" y="2029968"/>
            <a:ext cx="1463040" cy="1005840"/>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High autonomy</a:t>
            </a: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 Interdependence</a:t>
            </a: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 Continuous improvement</a:t>
            </a:r>
            <a:endParaRPr lang="en-US" sz="850" dirty="0"/>
          </a:p>
        </p:txBody>
      </p:sp>
      <p:sp>
        <p:nvSpPr>
          <p:cNvPr id="38" name="Shape 36"/>
          <p:cNvSpPr/>
          <p:nvPr/>
        </p:nvSpPr>
        <p:spPr>
          <a:xfrm>
            <a:off x="5550408" y="3090672"/>
            <a:ext cx="1426464" cy="18288"/>
          </a:xfrm>
          <a:prstGeom prst="rect">
            <a:avLst/>
          </a:prstGeom>
          <a:solidFill>
            <a:srgbClr val="E2E8F0"/>
          </a:solidFill>
          <a:ln w="12700">
            <a:solidFill>
              <a:srgbClr val="E2E8F0"/>
            </a:solidFill>
            <a:prstDash val="solid"/>
          </a:ln>
        </p:spPr>
      </p:sp>
      <p:sp>
        <p:nvSpPr>
          <p:cNvPr id="39" name="Text 37"/>
          <p:cNvSpPr/>
          <p:nvPr/>
        </p:nvSpPr>
        <p:spPr>
          <a:xfrm>
            <a:off x="5550408" y="3145536"/>
            <a:ext cx="1463040" cy="228600"/>
          </a:xfrm>
          <a:prstGeom prst="rect">
            <a:avLst/>
          </a:prstGeom>
          <a:noFill/>
          <a:ln/>
        </p:spPr>
        <p:txBody>
          <a:bodyPr wrap="square" rtlCol="0" anchor="ctr"/>
          <a:lstStyle/>
          <a:p>
            <a:pPr indent="0" marL="0">
              <a:buNone/>
            </a:pPr>
            <a:r>
              <a:rPr lang="en-US" sz="850" b="1" dirty="0">
                <a:solidFill>
                  <a:srgbClr val="0D1F3C"/>
                </a:solidFill>
                <a:latin typeface="Calibri" pitchFamily="34" charset="0"/>
                <a:ea typeface="Calibri" pitchFamily="34" charset="-122"/>
                <a:cs typeface="Calibri" pitchFamily="34" charset="-120"/>
              </a:rPr>
              <a:t>Management Actions</a:t>
            </a:r>
            <a:endParaRPr lang="en-US" sz="850" dirty="0"/>
          </a:p>
        </p:txBody>
      </p:sp>
      <p:sp>
        <p:nvSpPr>
          <p:cNvPr id="40" name="Text 38"/>
          <p:cNvSpPr/>
          <p:nvPr/>
        </p:nvSpPr>
        <p:spPr>
          <a:xfrm>
            <a:off x="5550408" y="3383280"/>
            <a:ext cx="1463040" cy="1051560"/>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Delegate authority</a:t>
            </a: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Remove impediments</a:t>
            </a: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Celebrate achievements</a:t>
            </a:r>
            <a:endParaRPr lang="en-US" sz="850" dirty="0"/>
          </a:p>
        </p:txBody>
      </p:sp>
      <p:sp>
        <p:nvSpPr>
          <p:cNvPr id="41" name="Shape 39"/>
          <p:cNvSpPr/>
          <p:nvPr/>
        </p:nvSpPr>
        <p:spPr>
          <a:xfrm>
            <a:off x="7187184" y="1298448"/>
            <a:ext cx="1572768" cy="32918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42" name="Shape 40"/>
          <p:cNvSpPr/>
          <p:nvPr/>
        </p:nvSpPr>
        <p:spPr>
          <a:xfrm>
            <a:off x="7187184" y="1298448"/>
            <a:ext cx="1572768" cy="438912"/>
          </a:xfrm>
          <a:prstGeom prst="rect">
            <a:avLst/>
          </a:prstGeom>
          <a:solidFill>
            <a:srgbClr val="1A5296"/>
          </a:solidFill>
          <a:ln w="12700">
            <a:solidFill>
              <a:srgbClr val="1A5296"/>
            </a:solidFill>
            <a:prstDash val="solid"/>
          </a:ln>
        </p:spPr>
      </p:sp>
      <p:sp>
        <p:nvSpPr>
          <p:cNvPr id="43" name="Text 41"/>
          <p:cNvSpPr/>
          <p:nvPr/>
        </p:nvSpPr>
        <p:spPr>
          <a:xfrm>
            <a:off x="7187184" y="1316736"/>
            <a:ext cx="1572768"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ADJOURNING</a:t>
            </a:r>
            <a:endParaRPr lang="en-US" sz="1000" dirty="0"/>
          </a:p>
        </p:txBody>
      </p:sp>
      <p:sp>
        <p:nvSpPr>
          <p:cNvPr id="44" name="Text 42"/>
          <p:cNvSpPr/>
          <p:nvPr/>
        </p:nvSpPr>
        <p:spPr>
          <a:xfrm>
            <a:off x="7260336" y="1801368"/>
            <a:ext cx="1463040" cy="228600"/>
          </a:xfrm>
          <a:prstGeom prst="rect">
            <a:avLst/>
          </a:prstGeom>
          <a:noFill/>
          <a:ln/>
        </p:spPr>
        <p:txBody>
          <a:bodyPr wrap="square" rtlCol="0" anchor="ctr"/>
          <a:lstStyle/>
          <a:p>
            <a:pPr indent="0" marL="0">
              <a:buNone/>
            </a:pPr>
            <a:r>
              <a:rPr lang="en-US" sz="850" b="1" dirty="0">
                <a:solidFill>
                  <a:srgbClr val="1A5296"/>
                </a:solidFill>
                <a:latin typeface="Calibri" pitchFamily="34" charset="0"/>
                <a:ea typeface="Calibri" pitchFamily="34" charset="-122"/>
                <a:cs typeface="Calibri" pitchFamily="34" charset="-120"/>
              </a:rPr>
              <a:t>Characteristics</a:t>
            </a:r>
            <a:endParaRPr lang="en-US" sz="850" dirty="0"/>
          </a:p>
        </p:txBody>
      </p:sp>
      <p:sp>
        <p:nvSpPr>
          <p:cNvPr id="45" name="Text 43"/>
          <p:cNvSpPr/>
          <p:nvPr/>
        </p:nvSpPr>
        <p:spPr>
          <a:xfrm>
            <a:off x="7260336" y="2029968"/>
            <a:ext cx="1463040" cy="1005840"/>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Project completion</a:t>
            </a: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 Team dissolution</a:t>
            </a: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 Transition planning</a:t>
            </a:r>
            <a:endParaRPr lang="en-US" sz="850" dirty="0"/>
          </a:p>
        </p:txBody>
      </p:sp>
      <p:sp>
        <p:nvSpPr>
          <p:cNvPr id="46" name="Shape 44"/>
          <p:cNvSpPr/>
          <p:nvPr/>
        </p:nvSpPr>
        <p:spPr>
          <a:xfrm>
            <a:off x="7260336" y="3090672"/>
            <a:ext cx="1426464" cy="18288"/>
          </a:xfrm>
          <a:prstGeom prst="rect">
            <a:avLst/>
          </a:prstGeom>
          <a:solidFill>
            <a:srgbClr val="E2E8F0"/>
          </a:solidFill>
          <a:ln w="12700">
            <a:solidFill>
              <a:srgbClr val="E2E8F0"/>
            </a:solidFill>
            <a:prstDash val="solid"/>
          </a:ln>
        </p:spPr>
      </p:sp>
      <p:sp>
        <p:nvSpPr>
          <p:cNvPr id="47" name="Text 45"/>
          <p:cNvSpPr/>
          <p:nvPr/>
        </p:nvSpPr>
        <p:spPr>
          <a:xfrm>
            <a:off x="7260336" y="3145536"/>
            <a:ext cx="1463040" cy="228600"/>
          </a:xfrm>
          <a:prstGeom prst="rect">
            <a:avLst/>
          </a:prstGeom>
          <a:noFill/>
          <a:ln/>
        </p:spPr>
        <p:txBody>
          <a:bodyPr wrap="square" rtlCol="0" anchor="ctr"/>
          <a:lstStyle/>
          <a:p>
            <a:pPr indent="0" marL="0">
              <a:buNone/>
            </a:pPr>
            <a:r>
              <a:rPr lang="en-US" sz="850" b="1" dirty="0">
                <a:solidFill>
                  <a:srgbClr val="0D1F3C"/>
                </a:solidFill>
                <a:latin typeface="Calibri" pitchFamily="34" charset="0"/>
                <a:ea typeface="Calibri" pitchFamily="34" charset="-122"/>
                <a:cs typeface="Calibri" pitchFamily="34" charset="-120"/>
              </a:rPr>
              <a:t>Management Actions</a:t>
            </a:r>
            <a:endParaRPr lang="en-US" sz="850" dirty="0"/>
          </a:p>
        </p:txBody>
      </p:sp>
      <p:sp>
        <p:nvSpPr>
          <p:cNvPr id="48" name="Text 46"/>
          <p:cNvSpPr/>
          <p:nvPr/>
        </p:nvSpPr>
        <p:spPr>
          <a:xfrm>
            <a:off x="7260336" y="3383280"/>
            <a:ext cx="1463040" cy="1051560"/>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Recognize contributions</a:t>
            </a: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Run retrospectives</a:t>
            </a: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Manage transitions</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Leadership in Software Engineering</a:t>
            </a:r>
            <a:endParaRPr lang="en-US" sz="3000" dirty="0"/>
          </a:p>
        </p:txBody>
      </p:sp>
      <p:sp>
        <p:nvSpPr>
          <p:cNvPr id="3" name="Text 1"/>
          <p:cNvSpPr/>
          <p:nvPr/>
        </p:nvSpPr>
        <p:spPr>
          <a:xfrm>
            <a:off x="457200" y="841248"/>
            <a:ext cx="8229600" cy="320040"/>
          </a:xfrm>
          <a:prstGeom prst="rect">
            <a:avLst/>
          </a:prstGeom>
          <a:noFill/>
          <a:ln/>
        </p:spPr>
        <p:txBody>
          <a:bodyPr wrap="square" rtlCol="0" anchor="ctr"/>
          <a:lstStyle/>
          <a:p>
            <a:pPr indent="0" marL="0">
              <a:buNone/>
            </a:pPr>
            <a:r>
              <a:rPr lang="en-US" sz="1400" dirty="0">
                <a:solidFill>
                  <a:srgbClr val="0891B2"/>
                </a:solidFill>
                <a:latin typeface="Calibri" pitchFamily="34" charset="0"/>
                <a:ea typeface="Calibri" pitchFamily="34" charset="-122"/>
                <a:cs typeface="Calibri" pitchFamily="34" charset="-120"/>
              </a:rPr>
              <a:t>From command-and-control to servant, transformational, and transactional</a:t>
            </a:r>
            <a:endParaRPr lang="en-US" sz="1400" dirty="0"/>
          </a:p>
        </p:txBody>
      </p:sp>
      <p:sp>
        <p:nvSpPr>
          <p:cNvPr id="4" name="Shape 2"/>
          <p:cNvSpPr/>
          <p:nvPr/>
        </p:nvSpPr>
        <p:spPr>
          <a:xfrm>
            <a:off x="457200" y="1143000"/>
            <a:ext cx="8229600" cy="22860"/>
          </a:xfrm>
          <a:prstGeom prst="rect">
            <a:avLst/>
          </a:prstGeom>
          <a:solidFill>
            <a:srgbClr val="0891B2"/>
          </a:solidFill>
          <a:ln w="12700">
            <a:solidFill>
              <a:srgbClr val="0891B2"/>
            </a:solidFill>
            <a:prstDash val="solid"/>
          </a:ln>
        </p:spPr>
      </p:sp>
      <p:sp>
        <p:nvSpPr>
          <p:cNvPr id="5" name="Shape 3"/>
          <p:cNvSpPr/>
          <p:nvPr/>
        </p:nvSpPr>
        <p:spPr>
          <a:xfrm>
            <a:off x="347472" y="1353312"/>
            <a:ext cx="8449056" cy="111556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347472" y="1353312"/>
            <a:ext cx="73152" cy="1115568"/>
          </a:xfrm>
          <a:prstGeom prst="rect">
            <a:avLst/>
          </a:prstGeom>
          <a:solidFill>
            <a:srgbClr val="0891B2"/>
          </a:solidFill>
          <a:ln w="12700">
            <a:solidFill>
              <a:srgbClr val="0891B2"/>
            </a:solidFill>
            <a:prstDash val="solid"/>
          </a:ln>
        </p:spPr>
      </p:sp>
      <p:sp>
        <p:nvSpPr>
          <p:cNvPr id="7" name="Shape 5"/>
          <p:cNvSpPr/>
          <p:nvPr/>
        </p:nvSpPr>
        <p:spPr>
          <a:xfrm>
            <a:off x="347472" y="1353312"/>
            <a:ext cx="1920240" cy="1115568"/>
          </a:xfrm>
          <a:prstGeom prst="rect">
            <a:avLst/>
          </a:prstGeom>
          <a:solidFill>
            <a:srgbClr val="EEF4FB"/>
          </a:solidFill>
          <a:ln w="12700">
            <a:solidFill>
              <a:srgbClr val="EEF4FB"/>
            </a:solidFill>
            <a:prstDash val="solid"/>
          </a:ln>
        </p:spPr>
      </p:sp>
      <p:sp>
        <p:nvSpPr>
          <p:cNvPr id="8" name="Text 6"/>
          <p:cNvSpPr/>
          <p:nvPr/>
        </p:nvSpPr>
        <p:spPr>
          <a:xfrm>
            <a:off x="457200" y="1399032"/>
            <a:ext cx="1783080" cy="347472"/>
          </a:xfrm>
          <a:prstGeom prst="rect">
            <a:avLst/>
          </a:prstGeom>
          <a:noFill/>
          <a:ln/>
        </p:spPr>
        <p:txBody>
          <a:bodyPr wrap="square" rtlCol="0" anchor="ctr"/>
          <a:lstStyle/>
          <a:p>
            <a:pPr indent="0" marL="0">
              <a:buNone/>
            </a:pPr>
            <a:r>
              <a:rPr lang="en-US" sz="1200" b="1" dirty="0">
                <a:solidFill>
                  <a:srgbClr val="0891B2"/>
                </a:solidFill>
                <a:latin typeface="Calibri" pitchFamily="34" charset="0"/>
                <a:ea typeface="Calibri" pitchFamily="34" charset="-122"/>
                <a:cs typeface="Calibri" pitchFamily="34" charset="-120"/>
              </a:rPr>
              <a:t>Servant Leadership</a:t>
            </a:r>
            <a:endParaRPr lang="en-US" sz="1200" dirty="0"/>
          </a:p>
        </p:txBody>
      </p:sp>
      <p:sp>
        <p:nvSpPr>
          <p:cNvPr id="9" name="Text 7"/>
          <p:cNvSpPr/>
          <p:nvPr/>
        </p:nvSpPr>
        <p:spPr>
          <a:xfrm>
            <a:off x="457200" y="1764792"/>
            <a:ext cx="1737360" cy="640080"/>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Leader prioritizes team needs; removes obstacles; supports growth</a:t>
            </a:r>
            <a:endParaRPr lang="en-US" sz="900" dirty="0"/>
          </a:p>
        </p:txBody>
      </p:sp>
      <p:sp>
        <p:nvSpPr>
          <p:cNvPr id="10" name="Text 8"/>
          <p:cNvSpPr/>
          <p:nvPr/>
        </p:nvSpPr>
        <p:spPr>
          <a:xfrm>
            <a:off x="2377440" y="1408176"/>
            <a:ext cx="1280160" cy="201168"/>
          </a:xfrm>
          <a:prstGeom prst="rect">
            <a:avLst/>
          </a:prstGeom>
          <a:noFill/>
          <a:ln/>
        </p:spPr>
        <p:txBody>
          <a:bodyPr wrap="square" rtlCol="0" anchor="ctr"/>
          <a:lstStyle/>
          <a:p>
            <a:pPr indent="0" marL="0">
              <a:buNone/>
            </a:pPr>
            <a:r>
              <a:rPr lang="en-US" sz="900" b="1" dirty="0">
                <a:solidFill>
                  <a:srgbClr val="0D1F3C"/>
                </a:solidFill>
                <a:latin typeface="Calibri" pitchFamily="34" charset="0"/>
                <a:ea typeface="Calibri" pitchFamily="34" charset="-122"/>
                <a:cs typeface="Calibri" pitchFamily="34" charset="-120"/>
              </a:rPr>
              <a:t>Advantages</a:t>
            </a:r>
            <a:endParaRPr lang="en-US" sz="900" dirty="0"/>
          </a:p>
        </p:txBody>
      </p:sp>
      <p:sp>
        <p:nvSpPr>
          <p:cNvPr id="11" name="Text 9"/>
          <p:cNvSpPr/>
          <p:nvPr/>
        </p:nvSpPr>
        <p:spPr>
          <a:xfrm>
            <a:off x="2377440" y="1627632"/>
            <a:ext cx="2194560" cy="777240"/>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Builds trust; maximizes team autonomy; improves morale</a:t>
            </a:r>
            <a:endParaRPr lang="en-US" sz="900" dirty="0"/>
          </a:p>
        </p:txBody>
      </p:sp>
      <p:sp>
        <p:nvSpPr>
          <p:cNvPr id="12" name="Text 10"/>
          <p:cNvSpPr/>
          <p:nvPr/>
        </p:nvSpPr>
        <p:spPr>
          <a:xfrm>
            <a:off x="4709160" y="1408176"/>
            <a:ext cx="1645920" cy="201168"/>
          </a:xfrm>
          <a:prstGeom prst="rect">
            <a:avLst/>
          </a:prstGeom>
          <a:noFill/>
          <a:ln/>
        </p:spPr>
        <p:txBody>
          <a:bodyPr wrap="square" rtlCol="0" anchor="ctr"/>
          <a:lstStyle/>
          <a:p>
            <a:pPr indent="0" marL="0">
              <a:buNone/>
            </a:pPr>
            <a:r>
              <a:rPr lang="en-US" sz="900" b="1" dirty="0">
                <a:solidFill>
                  <a:srgbClr val="0D1F3C"/>
                </a:solidFill>
                <a:latin typeface="Calibri" pitchFamily="34" charset="0"/>
                <a:ea typeface="Calibri" pitchFamily="34" charset="-122"/>
                <a:cs typeface="Calibri" pitchFamily="34" charset="-120"/>
              </a:rPr>
              <a:t>Best Use Case</a:t>
            </a:r>
            <a:endParaRPr lang="en-US" sz="900" dirty="0"/>
          </a:p>
        </p:txBody>
      </p:sp>
      <p:sp>
        <p:nvSpPr>
          <p:cNvPr id="13" name="Text 11"/>
          <p:cNvSpPr/>
          <p:nvPr/>
        </p:nvSpPr>
        <p:spPr>
          <a:xfrm>
            <a:off x="4709160" y="1627632"/>
            <a:ext cx="1645920" cy="777240"/>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Mature self-organizing agile teams</a:t>
            </a:r>
            <a:endParaRPr lang="en-US" sz="900" dirty="0"/>
          </a:p>
        </p:txBody>
      </p:sp>
      <p:sp>
        <p:nvSpPr>
          <p:cNvPr id="14" name="Text 12"/>
          <p:cNvSpPr/>
          <p:nvPr/>
        </p:nvSpPr>
        <p:spPr>
          <a:xfrm>
            <a:off x="6446520" y="1408176"/>
            <a:ext cx="2286000" cy="201168"/>
          </a:xfrm>
          <a:prstGeom prst="rect">
            <a:avLst/>
          </a:prstGeom>
          <a:noFill/>
          <a:ln/>
        </p:spPr>
        <p:txBody>
          <a:bodyPr wrap="square" rtlCol="0" anchor="ctr"/>
          <a:lstStyle/>
          <a:p>
            <a:pPr indent="0" marL="0">
              <a:buNone/>
            </a:pPr>
            <a:r>
              <a:rPr lang="en-US" sz="900" b="1" dirty="0">
                <a:solidFill>
                  <a:srgbClr val="0D1F3C"/>
                </a:solidFill>
                <a:latin typeface="Calibri" pitchFamily="34" charset="0"/>
                <a:ea typeface="Calibri" pitchFamily="34" charset="-122"/>
                <a:cs typeface="Calibri" pitchFamily="34" charset="-120"/>
              </a:rPr>
              <a:t>Examples</a:t>
            </a:r>
            <a:endParaRPr lang="en-US" sz="900" dirty="0"/>
          </a:p>
        </p:txBody>
      </p:sp>
      <p:sp>
        <p:nvSpPr>
          <p:cNvPr id="15" name="Text 13"/>
          <p:cNvSpPr/>
          <p:nvPr/>
        </p:nvSpPr>
        <p:spPr>
          <a:xfrm>
            <a:off x="6446520" y="1627632"/>
            <a:ext cx="2267712" cy="777240"/>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Scrum Master • Google EM practices • Atlassian</a:t>
            </a:r>
            <a:endParaRPr lang="en-US" sz="900" dirty="0"/>
          </a:p>
        </p:txBody>
      </p:sp>
      <p:sp>
        <p:nvSpPr>
          <p:cNvPr id="16" name="Shape 14"/>
          <p:cNvSpPr/>
          <p:nvPr/>
        </p:nvSpPr>
        <p:spPr>
          <a:xfrm>
            <a:off x="347472" y="2587752"/>
            <a:ext cx="8449056" cy="111556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347472" y="2587752"/>
            <a:ext cx="73152" cy="1115568"/>
          </a:xfrm>
          <a:prstGeom prst="rect">
            <a:avLst/>
          </a:prstGeom>
          <a:solidFill>
            <a:srgbClr val="7C3AED"/>
          </a:solidFill>
          <a:ln w="12700">
            <a:solidFill>
              <a:srgbClr val="7C3AED"/>
            </a:solidFill>
            <a:prstDash val="solid"/>
          </a:ln>
        </p:spPr>
      </p:sp>
      <p:sp>
        <p:nvSpPr>
          <p:cNvPr id="18" name="Shape 16"/>
          <p:cNvSpPr/>
          <p:nvPr/>
        </p:nvSpPr>
        <p:spPr>
          <a:xfrm>
            <a:off x="347472" y="2587752"/>
            <a:ext cx="1920240" cy="1115568"/>
          </a:xfrm>
          <a:prstGeom prst="rect">
            <a:avLst/>
          </a:prstGeom>
          <a:solidFill>
            <a:srgbClr val="EEF4FB"/>
          </a:solidFill>
          <a:ln w="12700">
            <a:solidFill>
              <a:srgbClr val="EEF4FB"/>
            </a:solidFill>
            <a:prstDash val="solid"/>
          </a:ln>
        </p:spPr>
      </p:sp>
      <p:sp>
        <p:nvSpPr>
          <p:cNvPr id="19" name="Text 17"/>
          <p:cNvSpPr/>
          <p:nvPr/>
        </p:nvSpPr>
        <p:spPr>
          <a:xfrm>
            <a:off x="457200" y="2633472"/>
            <a:ext cx="1783080" cy="347472"/>
          </a:xfrm>
          <a:prstGeom prst="rect">
            <a:avLst/>
          </a:prstGeom>
          <a:noFill/>
          <a:ln/>
        </p:spPr>
        <p:txBody>
          <a:bodyPr wrap="square" rtlCol="0" anchor="ctr"/>
          <a:lstStyle/>
          <a:p>
            <a:pPr indent="0" marL="0">
              <a:buNone/>
            </a:pPr>
            <a:r>
              <a:rPr lang="en-US" sz="1200" b="1" dirty="0">
                <a:solidFill>
                  <a:srgbClr val="7C3AED"/>
                </a:solidFill>
                <a:latin typeface="Calibri" pitchFamily="34" charset="0"/>
                <a:ea typeface="Calibri" pitchFamily="34" charset="-122"/>
                <a:cs typeface="Calibri" pitchFamily="34" charset="-120"/>
              </a:rPr>
              <a:t>Transformational</a:t>
            </a:r>
            <a:endParaRPr lang="en-US" sz="1200" dirty="0"/>
          </a:p>
        </p:txBody>
      </p:sp>
      <p:sp>
        <p:nvSpPr>
          <p:cNvPr id="20" name="Text 18"/>
          <p:cNvSpPr/>
          <p:nvPr/>
        </p:nvSpPr>
        <p:spPr>
          <a:xfrm>
            <a:off x="457200" y="2999232"/>
            <a:ext cx="1737360" cy="640080"/>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Leader inspires through vision and intrinsic motivation; drives change</a:t>
            </a:r>
            <a:endParaRPr lang="en-US" sz="900" dirty="0"/>
          </a:p>
        </p:txBody>
      </p:sp>
      <p:sp>
        <p:nvSpPr>
          <p:cNvPr id="21" name="Text 19"/>
          <p:cNvSpPr/>
          <p:nvPr/>
        </p:nvSpPr>
        <p:spPr>
          <a:xfrm>
            <a:off x="2377440" y="2642616"/>
            <a:ext cx="1280160" cy="201168"/>
          </a:xfrm>
          <a:prstGeom prst="rect">
            <a:avLst/>
          </a:prstGeom>
          <a:noFill/>
          <a:ln/>
        </p:spPr>
        <p:txBody>
          <a:bodyPr wrap="square" rtlCol="0" anchor="ctr"/>
          <a:lstStyle/>
          <a:p>
            <a:pPr indent="0" marL="0">
              <a:buNone/>
            </a:pPr>
            <a:r>
              <a:rPr lang="en-US" sz="900" b="1" dirty="0">
                <a:solidFill>
                  <a:srgbClr val="0D1F3C"/>
                </a:solidFill>
                <a:latin typeface="Calibri" pitchFamily="34" charset="0"/>
                <a:ea typeface="Calibri" pitchFamily="34" charset="-122"/>
                <a:cs typeface="Calibri" pitchFamily="34" charset="-120"/>
              </a:rPr>
              <a:t>Advantages</a:t>
            </a:r>
            <a:endParaRPr lang="en-US" sz="900" dirty="0"/>
          </a:p>
        </p:txBody>
      </p:sp>
      <p:sp>
        <p:nvSpPr>
          <p:cNvPr id="22" name="Text 20"/>
          <p:cNvSpPr/>
          <p:nvPr/>
        </p:nvSpPr>
        <p:spPr>
          <a:xfrm>
            <a:off x="2377440" y="2862072"/>
            <a:ext cx="2194560" cy="777240"/>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High engagement; innovation culture; talent attraction</a:t>
            </a:r>
            <a:endParaRPr lang="en-US" sz="900" dirty="0"/>
          </a:p>
        </p:txBody>
      </p:sp>
      <p:sp>
        <p:nvSpPr>
          <p:cNvPr id="23" name="Text 21"/>
          <p:cNvSpPr/>
          <p:nvPr/>
        </p:nvSpPr>
        <p:spPr>
          <a:xfrm>
            <a:off x="4709160" y="2642616"/>
            <a:ext cx="1645920" cy="201168"/>
          </a:xfrm>
          <a:prstGeom prst="rect">
            <a:avLst/>
          </a:prstGeom>
          <a:noFill/>
          <a:ln/>
        </p:spPr>
        <p:txBody>
          <a:bodyPr wrap="square" rtlCol="0" anchor="ctr"/>
          <a:lstStyle/>
          <a:p>
            <a:pPr indent="0" marL="0">
              <a:buNone/>
            </a:pPr>
            <a:r>
              <a:rPr lang="en-US" sz="900" b="1" dirty="0">
                <a:solidFill>
                  <a:srgbClr val="0D1F3C"/>
                </a:solidFill>
                <a:latin typeface="Calibri" pitchFamily="34" charset="0"/>
                <a:ea typeface="Calibri" pitchFamily="34" charset="-122"/>
                <a:cs typeface="Calibri" pitchFamily="34" charset="-120"/>
              </a:rPr>
              <a:t>Best Use Case</a:t>
            </a:r>
            <a:endParaRPr lang="en-US" sz="900" dirty="0"/>
          </a:p>
        </p:txBody>
      </p:sp>
      <p:sp>
        <p:nvSpPr>
          <p:cNvPr id="24" name="Text 22"/>
          <p:cNvSpPr/>
          <p:nvPr/>
        </p:nvSpPr>
        <p:spPr>
          <a:xfrm>
            <a:off x="4709160" y="2862072"/>
            <a:ext cx="1645920" cy="777240"/>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Org change; early-stage startups; new product lines</a:t>
            </a:r>
            <a:endParaRPr lang="en-US" sz="900" dirty="0"/>
          </a:p>
        </p:txBody>
      </p:sp>
      <p:sp>
        <p:nvSpPr>
          <p:cNvPr id="25" name="Text 23"/>
          <p:cNvSpPr/>
          <p:nvPr/>
        </p:nvSpPr>
        <p:spPr>
          <a:xfrm>
            <a:off x="6446520" y="2642616"/>
            <a:ext cx="2286000" cy="201168"/>
          </a:xfrm>
          <a:prstGeom prst="rect">
            <a:avLst/>
          </a:prstGeom>
          <a:noFill/>
          <a:ln/>
        </p:spPr>
        <p:txBody>
          <a:bodyPr wrap="square" rtlCol="0" anchor="ctr"/>
          <a:lstStyle/>
          <a:p>
            <a:pPr indent="0" marL="0">
              <a:buNone/>
            </a:pPr>
            <a:r>
              <a:rPr lang="en-US" sz="900" b="1" dirty="0">
                <a:solidFill>
                  <a:srgbClr val="0D1F3C"/>
                </a:solidFill>
                <a:latin typeface="Calibri" pitchFamily="34" charset="0"/>
                <a:ea typeface="Calibri" pitchFamily="34" charset="-122"/>
                <a:cs typeface="Calibri" pitchFamily="34" charset="-120"/>
              </a:rPr>
              <a:t>Examples</a:t>
            </a:r>
            <a:endParaRPr lang="en-US" sz="900" dirty="0"/>
          </a:p>
        </p:txBody>
      </p:sp>
      <p:sp>
        <p:nvSpPr>
          <p:cNvPr id="26" name="Text 24"/>
          <p:cNvSpPr/>
          <p:nvPr/>
        </p:nvSpPr>
        <p:spPr>
          <a:xfrm>
            <a:off x="6446520" y="2862072"/>
            <a:ext cx="2267712" cy="777240"/>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Atlassian culture transformation • Netflix</a:t>
            </a:r>
            <a:endParaRPr lang="en-US" sz="900" dirty="0"/>
          </a:p>
        </p:txBody>
      </p:sp>
      <p:sp>
        <p:nvSpPr>
          <p:cNvPr id="27" name="Shape 25"/>
          <p:cNvSpPr/>
          <p:nvPr/>
        </p:nvSpPr>
        <p:spPr>
          <a:xfrm>
            <a:off x="347472" y="3822192"/>
            <a:ext cx="8449056" cy="111556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8" name="Shape 26"/>
          <p:cNvSpPr/>
          <p:nvPr/>
        </p:nvSpPr>
        <p:spPr>
          <a:xfrm>
            <a:off x="347472" y="3822192"/>
            <a:ext cx="73152" cy="1115568"/>
          </a:xfrm>
          <a:prstGeom prst="rect">
            <a:avLst/>
          </a:prstGeom>
          <a:solidFill>
            <a:srgbClr val="1A5296"/>
          </a:solidFill>
          <a:ln w="12700">
            <a:solidFill>
              <a:srgbClr val="1A5296"/>
            </a:solidFill>
            <a:prstDash val="solid"/>
          </a:ln>
        </p:spPr>
      </p:sp>
      <p:sp>
        <p:nvSpPr>
          <p:cNvPr id="29" name="Shape 27"/>
          <p:cNvSpPr/>
          <p:nvPr/>
        </p:nvSpPr>
        <p:spPr>
          <a:xfrm>
            <a:off x="347472" y="3822192"/>
            <a:ext cx="1920240" cy="1115568"/>
          </a:xfrm>
          <a:prstGeom prst="rect">
            <a:avLst/>
          </a:prstGeom>
          <a:solidFill>
            <a:srgbClr val="EEF4FB"/>
          </a:solidFill>
          <a:ln w="12700">
            <a:solidFill>
              <a:srgbClr val="EEF4FB"/>
            </a:solidFill>
            <a:prstDash val="solid"/>
          </a:ln>
        </p:spPr>
      </p:sp>
      <p:sp>
        <p:nvSpPr>
          <p:cNvPr id="30" name="Text 28"/>
          <p:cNvSpPr/>
          <p:nvPr/>
        </p:nvSpPr>
        <p:spPr>
          <a:xfrm>
            <a:off x="457200" y="3867912"/>
            <a:ext cx="1783080" cy="347472"/>
          </a:xfrm>
          <a:prstGeom prst="rect">
            <a:avLst/>
          </a:prstGeom>
          <a:noFill/>
          <a:ln/>
        </p:spPr>
        <p:txBody>
          <a:bodyPr wrap="square" rtlCol="0" anchor="ctr"/>
          <a:lstStyle/>
          <a:p>
            <a:pPr indent="0" marL="0">
              <a:buNone/>
            </a:pPr>
            <a:r>
              <a:rPr lang="en-US" sz="1200" b="1" dirty="0">
                <a:solidFill>
                  <a:srgbClr val="1A5296"/>
                </a:solidFill>
                <a:latin typeface="Calibri" pitchFamily="34" charset="0"/>
                <a:ea typeface="Calibri" pitchFamily="34" charset="-122"/>
                <a:cs typeface="Calibri" pitchFamily="34" charset="-120"/>
              </a:rPr>
              <a:t>Transactional</a:t>
            </a:r>
            <a:endParaRPr lang="en-US" sz="1200" dirty="0"/>
          </a:p>
        </p:txBody>
      </p:sp>
      <p:sp>
        <p:nvSpPr>
          <p:cNvPr id="31" name="Text 29"/>
          <p:cNvSpPr/>
          <p:nvPr/>
        </p:nvSpPr>
        <p:spPr>
          <a:xfrm>
            <a:off x="457200" y="4233672"/>
            <a:ext cx="1737360" cy="640080"/>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Leader manages through goals, rewards, and accountability structures</a:t>
            </a:r>
            <a:endParaRPr lang="en-US" sz="900" dirty="0"/>
          </a:p>
        </p:txBody>
      </p:sp>
      <p:sp>
        <p:nvSpPr>
          <p:cNvPr id="32" name="Text 30"/>
          <p:cNvSpPr/>
          <p:nvPr/>
        </p:nvSpPr>
        <p:spPr>
          <a:xfrm>
            <a:off x="2377440" y="3877056"/>
            <a:ext cx="1280160" cy="201168"/>
          </a:xfrm>
          <a:prstGeom prst="rect">
            <a:avLst/>
          </a:prstGeom>
          <a:noFill/>
          <a:ln/>
        </p:spPr>
        <p:txBody>
          <a:bodyPr wrap="square" rtlCol="0" anchor="ctr"/>
          <a:lstStyle/>
          <a:p>
            <a:pPr indent="0" marL="0">
              <a:buNone/>
            </a:pPr>
            <a:r>
              <a:rPr lang="en-US" sz="900" b="1" dirty="0">
                <a:solidFill>
                  <a:srgbClr val="0D1F3C"/>
                </a:solidFill>
                <a:latin typeface="Calibri" pitchFamily="34" charset="0"/>
                <a:ea typeface="Calibri" pitchFamily="34" charset="-122"/>
                <a:cs typeface="Calibri" pitchFamily="34" charset="-120"/>
              </a:rPr>
              <a:t>Advantages</a:t>
            </a:r>
            <a:endParaRPr lang="en-US" sz="900" dirty="0"/>
          </a:p>
        </p:txBody>
      </p:sp>
      <p:sp>
        <p:nvSpPr>
          <p:cNvPr id="33" name="Text 31"/>
          <p:cNvSpPr/>
          <p:nvPr/>
        </p:nvSpPr>
        <p:spPr>
          <a:xfrm>
            <a:off x="2377440" y="4096512"/>
            <a:ext cx="2194560" cy="777240"/>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Clear metrics; predictable delivery; compliance-ready</a:t>
            </a:r>
            <a:endParaRPr lang="en-US" sz="900" dirty="0"/>
          </a:p>
        </p:txBody>
      </p:sp>
      <p:sp>
        <p:nvSpPr>
          <p:cNvPr id="34" name="Text 32"/>
          <p:cNvSpPr/>
          <p:nvPr/>
        </p:nvSpPr>
        <p:spPr>
          <a:xfrm>
            <a:off x="4709160" y="3877056"/>
            <a:ext cx="1645920" cy="201168"/>
          </a:xfrm>
          <a:prstGeom prst="rect">
            <a:avLst/>
          </a:prstGeom>
          <a:noFill/>
          <a:ln/>
        </p:spPr>
        <p:txBody>
          <a:bodyPr wrap="square" rtlCol="0" anchor="ctr"/>
          <a:lstStyle/>
          <a:p>
            <a:pPr indent="0" marL="0">
              <a:buNone/>
            </a:pPr>
            <a:r>
              <a:rPr lang="en-US" sz="900" b="1" dirty="0">
                <a:solidFill>
                  <a:srgbClr val="0D1F3C"/>
                </a:solidFill>
                <a:latin typeface="Calibri" pitchFamily="34" charset="0"/>
                <a:ea typeface="Calibri" pitchFamily="34" charset="-122"/>
                <a:cs typeface="Calibri" pitchFamily="34" charset="-120"/>
              </a:rPr>
              <a:t>Best Use Case</a:t>
            </a:r>
            <a:endParaRPr lang="en-US" sz="900" dirty="0"/>
          </a:p>
        </p:txBody>
      </p:sp>
      <p:sp>
        <p:nvSpPr>
          <p:cNvPr id="35" name="Text 33"/>
          <p:cNvSpPr/>
          <p:nvPr/>
        </p:nvSpPr>
        <p:spPr>
          <a:xfrm>
            <a:off x="4709160" y="4096512"/>
            <a:ext cx="1645920" cy="777240"/>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Short-term goals; regulated environments; crisis delivery</a:t>
            </a:r>
            <a:endParaRPr lang="en-US" sz="900" dirty="0"/>
          </a:p>
        </p:txBody>
      </p:sp>
      <p:sp>
        <p:nvSpPr>
          <p:cNvPr id="36" name="Text 34"/>
          <p:cNvSpPr/>
          <p:nvPr/>
        </p:nvSpPr>
        <p:spPr>
          <a:xfrm>
            <a:off x="6446520" y="3877056"/>
            <a:ext cx="2286000" cy="201168"/>
          </a:xfrm>
          <a:prstGeom prst="rect">
            <a:avLst/>
          </a:prstGeom>
          <a:noFill/>
          <a:ln/>
        </p:spPr>
        <p:txBody>
          <a:bodyPr wrap="square" rtlCol="0" anchor="ctr"/>
          <a:lstStyle/>
          <a:p>
            <a:pPr indent="0" marL="0">
              <a:buNone/>
            </a:pPr>
            <a:r>
              <a:rPr lang="en-US" sz="900" b="1" dirty="0">
                <a:solidFill>
                  <a:srgbClr val="0D1F3C"/>
                </a:solidFill>
                <a:latin typeface="Calibri" pitchFamily="34" charset="0"/>
                <a:ea typeface="Calibri" pitchFamily="34" charset="-122"/>
                <a:cs typeface="Calibri" pitchFamily="34" charset="-120"/>
              </a:rPr>
              <a:t>Examples</a:t>
            </a:r>
            <a:endParaRPr lang="en-US" sz="900" dirty="0"/>
          </a:p>
        </p:txBody>
      </p:sp>
      <p:sp>
        <p:nvSpPr>
          <p:cNvPr id="37" name="Text 35"/>
          <p:cNvSpPr/>
          <p:nvPr/>
        </p:nvSpPr>
        <p:spPr>
          <a:xfrm>
            <a:off x="6446520" y="4096512"/>
            <a:ext cx="2267712" cy="777240"/>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Sprint commitments with clear KPIs • SLAs</a:t>
            </a:r>
            <a:endParaRPr lang="en-US" sz="900" dirty="0"/>
          </a:p>
        </p:txBody>
      </p:sp>
      <p:sp>
        <p:nvSpPr>
          <p:cNvPr id="38" name="Shape 36"/>
          <p:cNvSpPr/>
          <p:nvPr/>
        </p:nvSpPr>
        <p:spPr>
          <a:xfrm>
            <a:off x="347472" y="4645152"/>
            <a:ext cx="8449056" cy="384048"/>
          </a:xfrm>
          <a:prstGeom prst="rect">
            <a:avLst/>
          </a:prstGeom>
          <a:solidFill>
            <a:srgbClr val="E0F4FA"/>
          </a:solidFill>
          <a:ln w="12700">
            <a:solidFill>
              <a:srgbClr val="BAE6FD"/>
            </a:solidFill>
            <a:prstDash val="solid"/>
          </a:ln>
        </p:spPr>
      </p:sp>
      <p:sp>
        <p:nvSpPr>
          <p:cNvPr id="39" name="Text 37"/>
          <p:cNvSpPr/>
          <p:nvPr/>
        </p:nvSpPr>
        <p:spPr>
          <a:xfrm>
            <a:off x="457200" y="4663440"/>
            <a:ext cx="8229600" cy="347472"/>
          </a:xfrm>
          <a:prstGeom prst="rect">
            <a:avLst/>
          </a:prstGeom>
          <a:noFill/>
          <a:ln/>
        </p:spPr>
        <p:txBody>
          <a:bodyPr wrap="square" rtlCol="0" anchor="ctr"/>
          <a:lstStyle/>
          <a:p>
            <a:pPr indent="0" marL="0">
              <a:buNone/>
            </a:pPr>
            <a:r>
              <a:rPr lang="en-US" sz="950" i="1" dirty="0">
                <a:solidFill>
                  <a:srgbClr val="1A5296"/>
                </a:solidFill>
                <a:latin typeface="Calibri" pitchFamily="34" charset="0"/>
                <a:ea typeface="Calibri" pitchFamily="34" charset="-122"/>
                <a:cs typeface="Calibri" pitchFamily="34" charset="-120"/>
              </a:rPr>
              <a:t>Google EM Philosophy (Winters et al., 2020): Mentor not supervisor • Set clear goals • Remove impediments • Track team happiness • Radical autonomy with alignment</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Communication Management</a:t>
            </a:r>
            <a:endParaRPr lang="en-US" sz="3000" dirty="0"/>
          </a:p>
        </p:txBody>
      </p:sp>
      <p:sp>
        <p:nvSpPr>
          <p:cNvPr id="3" name="Text 1"/>
          <p:cNvSpPr/>
          <p:nvPr/>
        </p:nvSpPr>
        <p:spPr>
          <a:xfrm>
            <a:off x="457200" y="841248"/>
            <a:ext cx="8229600" cy="320040"/>
          </a:xfrm>
          <a:prstGeom prst="rect">
            <a:avLst/>
          </a:prstGeom>
          <a:noFill/>
          <a:ln/>
        </p:spPr>
        <p:txBody>
          <a:bodyPr wrap="square" rtlCol="0" anchor="ctr"/>
          <a:lstStyle/>
          <a:p>
            <a:pPr indent="0" marL="0">
              <a:buNone/>
            </a:pPr>
            <a:r>
              <a:rPr lang="en-US" sz="1400" dirty="0">
                <a:solidFill>
                  <a:srgbClr val="0891B2"/>
                </a:solidFill>
                <a:latin typeface="Calibri" pitchFamily="34" charset="0"/>
                <a:ea typeface="Calibri" pitchFamily="34" charset="-122"/>
                <a:cs typeface="Calibri" pitchFamily="34" charset="-120"/>
              </a:rPr>
              <a:t>The connective tissue of every software team</a:t>
            </a:r>
            <a:endParaRPr lang="en-US" sz="1400" dirty="0"/>
          </a:p>
        </p:txBody>
      </p:sp>
      <p:sp>
        <p:nvSpPr>
          <p:cNvPr id="4" name="Shape 2"/>
          <p:cNvSpPr/>
          <p:nvPr/>
        </p:nvSpPr>
        <p:spPr>
          <a:xfrm>
            <a:off x="457200" y="1143000"/>
            <a:ext cx="8229600" cy="22860"/>
          </a:xfrm>
          <a:prstGeom prst="rect">
            <a:avLst/>
          </a:prstGeom>
          <a:solidFill>
            <a:srgbClr val="0891B2"/>
          </a:solidFill>
          <a:ln w="12700">
            <a:solidFill>
              <a:srgbClr val="0891B2"/>
            </a:solidFill>
            <a:prstDash val="solid"/>
          </a:ln>
        </p:spPr>
      </p:sp>
      <p:sp>
        <p:nvSpPr>
          <p:cNvPr id="5" name="Text 3"/>
          <p:cNvSpPr/>
          <p:nvPr/>
        </p:nvSpPr>
        <p:spPr>
          <a:xfrm>
            <a:off x="347472" y="1325880"/>
            <a:ext cx="4023360" cy="274320"/>
          </a:xfrm>
          <a:prstGeom prst="rect">
            <a:avLst/>
          </a:prstGeom>
          <a:noFill/>
          <a:ln/>
        </p:spPr>
        <p:txBody>
          <a:bodyPr wrap="square" rtlCol="0" anchor="ctr"/>
          <a:lstStyle/>
          <a:p>
            <a:pPr indent="0" marL="0">
              <a:buNone/>
            </a:pPr>
            <a:r>
              <a:rPr lang="en-US" sz="1300" b="1" dirty="0">
                <a:solidFill>
                  <a:srgbClr val="0D1F3C"/>
                </a:solidFill>
                <a:latin typeface="Calibri" pitchFamily="34" charset="0"/>
                <a:ea typeface="Calibri" pitchFamily="34" charset="-122"/>
                <a:cs typeface="Calibri" pitchFamily="34" charset="-120"/>
              </a:rPr>
              <a:t>Effective Communication Principles</a:t>
            </a:r>
            <a:endParaRPr lang="en-US" sz="1300" dirty="0"/>
          </a:p>
        </p:txBody>
      </p:sp>
      <p:sp>
        <p:nvSpPr>
          <p:cNvPr id="6" name="Shape 4"/>
          <p:cNvSpPr/>
          <p:nvPr/>
        </p:nvSpPr>
        <p:spPr>
          <a:xfrm>
            <a:off x="347472" y="1691640"/>
            <a:ext cx="4023360" cy="5943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347472" y="1691640"/>
            <a:ext cx="73152" cy="594360"/>
          </a:xfrm>
          <a:prstGeom prst="rect">
            <a:avLst/>
          </a:prstGeom>
          <a:solidFill>
            <a:srgbClr val="0891B2"/>
          </a:solidFill>
          <a:ln w="12700">
            <a:solidFill>
              <a:srgbClr val="0891B2"/>
            </a:solidFill>
            <a:prstDash val="solid"/>
          </a:ln>
        </p:spPr>
      </p:sp>
      <p:sp>
        <p:nvSpPr>
          <p:cNvPr id="8" name="Shape 6"/>
          <p:cNvSpPr/>
          <p:nvPr/>
        </p:nvSpPr>
        <p:spPr>
          <a:xfrm>
            <a:off x="475488" y="1783080"/>
            <a:ext cx="411480" cy="411480"/>
          </a:xfrm>
          <a:prstGeom prst="ellipse">
            <a:avLst/>
          </a:prstGeom>
          <a:solidFill>
            <a:srgbClr val="0891B2"/>
          </a:solidFill>
          <a:ln w="12700">
            <a:solidFill>
              <a:srgbClr val="0891B2"/>
            </a:solidFill>
            <a:prstDash val="solid"/>
          </a:ln>
        </p:spPr>
      </p:sp>
      <p:sp>
        <p:nvSpPr>
          <p:cNvPr id="9" name="Text 7"/>
          <p:cNvSpPr/>
          <p:nvPr/>
        </p:nvSpPr>
        <p:spPr>
          <a:xfrm>
            <a:off x="475488" y="1783080"/>
            <a:ext cx="411480" cy="41148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BW</a:t>
            </a:r>
            <a:endParaRPr lang="en-US" sz="900" dirty="0"/>
          </a:p>
        </p:txBody>
      </p:sp>
      <p:sp>
        <p:nvSpPr>
          <p:cNvPr id="10" name="Text 8"/>
          <p:cNvSpPr/>
          <p:nvPr/>
        </p:nvSpPr>
        <p:spPr>
          <a:xfrm>
            <a:off x="987552" y="1746504"/>
            <a:ext cx="3246120" cy="228600"/>
          </a:xfrm>
          <a:prstGeom prst="rect">
            <a:avLst/>
          </a:prstGeom>
          <a:noFill/>
          <a:ln/>
        </p:spPr>
        <p:txBody>
          <a:bodyPr wrap="square" rtlCol="0" anchor="ctr"/>
          <a:lstStyle/>
          <a:p>
            <a:pPr indent="0" marL="0">
              <a:buNone/>
            </a:pPr>
            <a:r>
              <a:rPr lang="en-US" sz="1100" b="1" dirty="0">
                <a:solidFill>
                  <a:srgbClr val="0D1F3C"/>
                </a:solidFill>
                <a:latin typeface="Calibri" pitchFamily="34" charset="0"/>
                <a:ea typeface="Calibri" pitchFamily="34" charset="-122"/>
                <a:cs typeface="Calibri" pitchFamily="34" charset="-120"/>
              </a:rPr>
              <a:t>High Bandwidth</a:t>
            </a:r>
            <a:endParaRPr lang="en-US" sz="1100" dirty="0"/>
          </a:p>
        </p:txBody>
      </p:sp>
      <p:sp>
        <p:nvSpPr>
          <p:cNvPr id="11" name="Text 9"/>
          <p:cNvSpPr/>
          <p:nvPr/>
        </p:nvSpPr>
        <p:spPr>
          <a:xfrm>
            <a:off x="987552" y="1984248"/>
            <a:ext cx="3246120" cy="228600"/>
          </a:xfrm>
          <a:prstGeom prst="rect">
            <a:avLst/>
          </a:prstGeom>
          <a:noFill/>
          <a:ln/>
        </p:spPr>
        <p:txBody>
          <a:bodyPr wrap="square" rtlCol="0" anchor="ctr"/>
          <a:lstStyle/>
          <a:p>
            <a:pPr indent="0" marL="0">
              <a:buNone/>
            </a:pPr>
            <a:r>
              <a:rPr lang="en-US" sz="950" dirty="0">
                <a:solidFill>
                  <a:srgbClr val="334155"/>
                </a:solidFill>
                <a:latin typeface="Calibri" pitchFamily="34" charset="0"/>
                <a:ea typeface="Calibri" pitchFamily="34" charset="-122"/>
                <a:cs typeface="Calibri" pitchFamily="34" charset="-120"/>
              </a:rPr>
              <a:t>Sufficient info exchanged, not filtered</a:t>
            </a:r>
            <a:endParaRPr lang="en-US" sz="950" dirty="0"/>
          </a:p>
        </p:txBody>
      </p:sp>
      <p:sp>
        <p:nvSpPr>
          <p:cNvPr id="12" name="Shape 10"/>
          <p:cNvSpPr/>
          <p:nvPr/>
        </p:nvSpPr>
        <p:spPr>
          <a:xfrm>
            <a:off x="347472" y="2404872"/>
            <a:ext cx="4023360" cy="5943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3" name="Shape 11"/>
          <p:cNvSpPr/>
          <p:nvPr/>
        </p:nvSpPr>
        <p:spPr>
          <a:xfrm>
            <a:off x="347472" y="2404872"/>
            <a:ext cx="73152" cy="594360"/>
          </a:xfrm>
          <a:prstGeom prst="rect">
            <a:avLst/>
          </a:prstGeom>
          <a:solidFill>
            <a:srgbClr val="0891B2"/>
          </a:solidFill>
          <a:ln w="12700">
            <a:solidFill>
              <a:srgbClr val="0891B2"/>
            </a:solidFill>
            <a:prstDash val="solid"/>
          </a:ln>
        </p:spPr>
      </p:sp>
      <p:sp>
        <p:nvSpPr>
          <p:cNvPr id="14" name="Shape 12"/>
          <p:cNvSpPr/>
          <p:nvPr/>
        </p:nvSpPr>
        <p:spPr>
          <a:xfrm>
            <a:off x="475488" y="2496312"/>
            <a:ext cx="411480" cy="411480"/>
          </a:xfrm>
          <a:prstGeom prst="ellipse">
            <a:avLst/>
          </a:prstGeom>
          <a:solidFill>
            <a:srgbClr val="0891B2"/>
          </a:solidFill>
          <a:ln w="12700">
            <a:solidFill>
              <a:srgbClr val="0891B2"/>
            </a:solidFill>
            <a:prstDash val="solid"/>
          </a:ln>
        </p:spPr>
      </p:sp>
      <p:sp>
        <p:nvSpPr>
          <p:cNvPr id="15" name="Text 13"/>
          <p:cNvSpPr/>
          <p:nvPr/>
        </p:nvSpPr>
        <p:spPr>
          <a:xfrm>
            <a:off x="475488" y="2496312"/>
            <a:ext cx="411480" cy="41148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LN</a:t>
            </a:r>
            <a:endParaRPr lang="en-US" sz="900" dirty="0"/>
          </a:p>
        </p:txBody>
      </p:sp>
      <p:sp>
        <p:nvSpPr>
          <p:cNvPr id="16" name="Text 14"/>
          <p:cNvSpPr/>
          <p:nvPr/>
        </p:nvSpPr>
        <p:spPr>
          <a:xfrm>
            <a:off x="987552" y="2459736"/>
            <a:ext cx="3246120" cy="228600"/>
          </a:xfrm>
          <a:prstGeom prst="rect">
            <a:avLst/>
          </a:prstGeom>
          <a:noFill/>
          <a:ln/>
        </p:spPr>
        <p:txBody>
          <a:bodyPr wrap="square" rtlCol="0" anchor="ctr"/>
          <a:lstStyle/>
          <a:p>
            <a:pPr indent="0" marL="0">
              <a:buNone/>
            </a:pPr>
            <a:r>
              <a:rPr lang="en-US" sz="1100" b="1" dirty="0">
                <a:solidFill>
                  <a:srgbClr val="0D1F3C"/>
                </a:solidFill>
                <a:latin typeface="Calibri" pitchFamily="34" charset="0"/>
                <a:ea typeface="Calibri" pitchFamily="34" charset="-122"/>
                <a:cs typeface="Calibri" pitchFamily="34" charset="-120"/>
              </a:rPr>
              <a:t>Low Noise</a:t>
            </a:r>
            <a:endParaRPr lang="en-US" sz="1100" dirty="0"/>
          </a:p>
        </p:txBody>
      </p:sp>
      <p:sp>
        <p:nvSpPr>
          <p:cNvPr id="17" name="Text 15"/>
          <p:cNvSpPr/>
          <p:nvPr/>
        </p:nvSpPr>
        <p:spPr>
          <a:xfrm>
            <a:off x="987552" y="2697480"/>
            <a:ext cx="3246120" cy="228600"/>
          </a:xfrm>
          <a:prstGeom prst="rect">
            <a:avLst/>
          </a:prstGeom>
          <a:noFill/>
          <a:ln/>
        </p:spPr>
        <p:txBody>
          <a:bodyPr wrap="square" rtlCol="0" anchor="ctr"/>
          <a:lstStyle/>
          <a:p>
            <a:pPr indent="0" marL="0">
              <a:buNone/>
            </a:pPr>
            <a:r>
              <a:rPr lang="en-US" sz="950" dirty="0">
                <a:solidFill>
                  <a:srgbClr val="334155"/>
                </a:solidFill>
                <a:latin typeface="Calibri" pitchFamily="34" charset="0"/>
                <a:ea typeface="Calibri" pitchFamily="34" charset="-122"/>
                <a:cs typeface="Calibri" pitchFamily="34" charset="-120"/>
              </a:rPr>
              <a:t>Precision, clarity, minimal ambiguity</a:t>
            </a:r>
            <a:endParaRPr lang="en-US" sz="950" dirty="0"/>
          </a:p>
        </p:txBody>
      </p:sp>
      <p:sp>
        <p:nvSpPr>
          <p:cNvPr id="18" name="Shape 16"/>
          <p:cNvSpPr/>
          <p:nvPr/>
        </p:nvSpPr>
        <p:spPr>
          <a:xfrm>
            <a:off x="347472" y="3118104"/>
            <a:ext cx="4023360" cy="5943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347472" y="3118104"/>
            <a:ext cx="73152" cy="594360"/>
          </a:xfrm>
          <a:prstGeom prst="rect">
            <a:avLst/>
          </a:prstGeom>
          <a:solidFill>
            <a:srgbClr val="0891B2"/>
          </a:solidFill>
          <a:ln w="12700">
            <a:solidFill>
              <a:srgbClr val="0891B2"/>
            </a:solidFill>
            <a:prstDash val="solid"/>
          </a:ln>
        </p:spPr>
      </p:sp>
      <p:sp>
        <p:nvSpPr>
          <p:cNvPr id="20" name="Shape 18"/>
          <p:cNvSpPr/>
          <p:nvPr/>
        </p:nvSpPr>
        <p:spPr>
          <a:xfrm>
            <a:off x="475488" y="3209544"/>
            <a:ext cx="411480" cy="411480"/>
          </a:xfrm>
          <a:prstGeom prst="ellipse">
            <a:avLst/>
          </a:prstGeom>
          <a:solidFill>
            <a:srgbClr val="0891B2"/>
          </a:solidFill>
          <a:ln w="12700">
            <a:solidFill>
              <a:srgbClr val="0891B2"/>
            </a:solidFill>
            <a:prstDash val="solid"/>
          </a:ln>
        </p:spPr>
      </p:sp>
      <p:sp>
        <p:nvSpPr>
          <p:cNvPr id="21" name="Text 19"/>
          <p:cNvSpPr/>
          <p:nvPr/>
        </p:nvSpPr>
        <p:spPr>
          <a:xfrm>
            <a:off x="475488" y="3209544"/>
            <a:ext cx="411480" cy="41148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22" name="Text 20"/>
          <p:cNvSpPr/>
          <p:nvPr/>
        </p:nvSpPr>
        <p:spPr>
          <a:xfrm>
            <a:off x="987552" y="3172968"/>
            <a:ext cx="3246120" cy="228600"/>
          </a:xfrm>
          <a:prstGeom prst="rect">
            <a:avLst/>
          </a:prstGeom>
          <a:noFill/>
          <a:ln/>
        </p:spPr>
        <p:txBody>
          <a:bodyPr wrap="square" rtlCol="0" anchor="ctr"/>
          <a:lstStyle/>
          <a:p>
            <a:pPr indent="0" marL="0">
              <a:buNone/>
            </a:pPr>
            <a:r>
              <a:rPr lang="en-US" sz="1100" b="1" dirty="0">
                <a:solidFill>
                  <a:srgbClr val="0D1F3C"/>
                </a:solidFill>
                <a:latin typeface="Calibri" pitchFamily="34" charset="0"/>
                <a:ea typeface="Calibri" pitchFamily="34" charset="-122"/>
                <a:cs typeface="Calibri" pitchFamily="34" charset="-120"/>
              </a:rPr>
              <a:t>Psychological Safety</a:t>
            </a:r>
            <a:endParaRPr lang="en-US" sz="1100" dirty="0"/>
          </a:p>
        </p:txBody>
      </p:sp>
      <p:sp>
        <p:nvSpPr>
          <p:cNvPr id="23" name="Text 21"/>
          <p:cNvSpPr/>
          <p:nvPr/>
        </p:nvSpPr>
        <p:spPr>
          <a:xfrm>
            <a:off x="987552" y="3410712"/>
            <a:ext cx="3246120" cy="228600"/>
          </a:xfrm>
          <a:prstGeom prst="rect">
            <a:avLst/>
          </a:prstGeom>
          <a:noFill/>
          <a:ln/>
        </p:spPr>
        <p:txBody>
          <a:bodyPr wrap="square" rtlCol="0" anchor="ctr"/>
          <a:lstStyle/>
          <a:p>
            <a:pPr indent="0" marL="0">
              <a:buNone/>
            </a:pPr>
            <a:r>
              <a:rPr lang="en-US" sz="950" dirty="0">
                <a:solidFill>
                  <a:srgbClr val="334155"/>
                </a:solidFill>
                <a:latin typeface="Calibri" pitchFamily="34" charset="0"/>
                <a:ea typeface="Calibri" pitchFamily="34" charset="-122"/>
                <a:cs typeface="Calibri" pitchFamily="34" charset="-120"/>
              </a:rPr>
              <a:t>Candor enabled; no fear of speaking up</a:t>
            </a:r>
            <a:endParaRPr lang="en-US" sz="950" dirty="0"/>
          </a:p>
        </p:txBody>
      </p:sp>
      <p:sp>
        <p:nvSpPr>
          <p:cNvPr id="24" name="Shape 22"/>
          <p:cNvSpPr/>
          <p:nvPr/>
        </p:nvSpPr>
        <p:spPr>
          <a:xfrm>
            <a:off x="347472" y="3831336"/>
            <a:ext cx="4023360" cy="5943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347472" y="3831336"/>
            <a:ext cx="73152" cy="594360"/>
          </a:xfrm>
          <a:prstGeom prst="rect">
            <a:avLst/>
          </a:prstGeom>
          <a:solidFill>
            <a:srgbClr val="0891B2"/>
          </a:solidFill>
          <a:ln w="12700">
            <a:solidFill>
              <a:srgbClr val="0891B2"/>
            </a:solidFill>
            <a:prstDash val="solid"/>
          </a:ln>
        </p:spPr>
      </p:sp>
      <p:sp>
        <p:nvSpPr>
          <p:cNvPr id="26" name="Shape 24"/>
          <p:cNvSpPr/>
          <p:nvPr/>
        </p:nvSpPr>
        <p:spPr>
          <a:xfrm>
            <a:off x="475488" y="3922776"/>
            <a:ext cx="411480" cy="411480"/>
          </a:xfrm>
          <a:prstGeom prst="ellipse">
            <a:avLst/>
          </a:prstGeom>
          <a:solidFill>
            <a:srgbClr val="0891B2"/>
          </a:solidFill>
          <a:ln w="12700">
            <a:solidFill>
              <a:srgbClr val="0891B2"/>
            </a:solidFill>
            <a:prstDash val="solid"/>
          </a:ln>
        </p:spPr>
      </p:sp>
      <p:sp>
        <p:nvSpPr>
          <p:cNvPr id="27" name="Text 25"/>
          <p:cNvSpPr/>
          <p:nvPr/>
        </p:nvSpPr>
        <p:spPr>
          <a:xfrm>
            <a:off x="475488" y="3922776"/>
            <a:ext cx="411480" cy="41148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AF</a:t>
            </a:r>
            <a:endParaRPr lang="en-US" sz="900" dirty="0"/>
          </a:p>
        </p:txBody>
      </p:sp>
      <p:sp>
        <p:nvSpPr>
          <p:cNvPr id="28" name="Text 26"/>
          <p:cNvSpPr/>
          <p:nvPr/>
        </p:nvSpPr>
        <p:spPr>
          <a:xfrm>
            <a:off x="987552" y="3886200"/>
            <a:ext cx="3246120" cy="228600"/>
          </a:xfrm>
          <a:prstGeom prst="rect">
            <a:avLst/>
          </a:prstGeom>
          <a:noFill/>
          <a:ln/>
        </p:spPr>
        <p:txBody>
          <a:bodyPr wrap="square" rtlCol="0" anchor="ctr"/>
          <a:lstStyle/>
          <a:p>
            <a:pPr indent="0" marL="0">
              <a:buNone/>
            </a:pPr>
            <a:r>
              <a:rPr lang="en-US" sz="1100" b="1" dirty="0">
                <a:solidFill>
                  <a:srgbClr val="0D1F3C"/>
                </a:solidFill>
                <a:latin typeface="Calibri" pitchFamily="34" charset="0"/>
                <a:ea typeface="Calibri" pitchFamily="34" charset="-122"/>
                <a:cs typeface="Calibri" pitchFamily="34" charset="-120"/>
              </a:rPr>
              <a:t>Async-First</a:t>
            </a:r>
            <a:endParaRPr lang="en-US" sz="1100" dirty="0"/>
          </a:p>
        </p:txBody>
      </p:sp>
      <p:sp>
        <p:nvSpPr>
          <p:cNvPr id="29" name="Text 27"/>
          <p:cNvSpPr/>
          <p:nvPr/>
        </p:nvSpPr>
        <p:spPr>
          <a:xfrm>
            <a:off x="987552" y="4123944"/>
            <a:ext cx="3246120" cy="228600"/>
          </a:xfrm>
          <a:prstGeom prst="rect">
            <a:avLst/>
          </a:prstGeom>
          <a:noFill/>
          <a:ln/>
        </p:spPr>
        <p:txBody>
          <a:bodyPr wrap="square" rtlCol="0" anchor="ctr"/>
          <a:lstStyle/>
          <a:p>
            <a:pPr indent="0" marL="0">
              <a:buNone/>
            </a:pPr>
            <a:r>
              <a:rPr lang="en-US" sz="950" dirty="0">
                <a:solidFill>
                  <a:srgbClr val="334155"/>
                </a:solidFill>
                <a:latin typeface="Calibri" pitchFamily="34" charset="0"/>
                <a:ea typeface="Calibri" pitchFamily="34" charset="-122"/>
                <a:cs typeface="Calibri" pitchFamily="34" charset="-120"/>
              </a:rPr>
              <a:t>Documented decisions, persistent channels</a:t>
            </a:r>
            <a:endParaRPr lang="en-US" sz="950" dirty="0"/>
          </a:p>
        </p:txBody>
      </p:sp>
      <p:sp>
        <p:nvSpPr>
          <p:cNvPr id="30" name="Text 28"/>
          <p:cNvSpPr/>
          <p:nvPr/>
        </p:nvSpPr>
        <p:spPr>
          <a:xfrm>
            <a:off x="4572000" y="1325880"/>
            <a:ext cx="4224528" cy="274320"/>
          </a:xfrm>
          <a:prstGeom prst="rect">
            <a:avLst/>
          </a:prstGeom>
          <a:noFill/>
          <a:ln/>
        </p:spPr>
        <p:txBody>
          <a:bodyPr wrap="square" rtlCol="0" anchor="ctr"/>
          <a:lstStyle/>
          <a:p>
            <a:pPr indent="0" marL="0">
              <a:buNone/>
            </a:pPr>
            <a:r>
              <a:rPr lang="en-US" sz="1300" b="1" dirty="0">
                <a:solidFill>
                  <a:srgbClr val="0D1F3C"/>
                </a:solidFill>
                <a:latin typeface="Calibri" pitchFamily="34" charset="0"/>
                <a:ea typeface="Calibri" pitchFamily="34" charset="-122"/>
                <a:cs typeface="Calibri" pitchFamily="34" charset="-120"/>
              </a:rPr>
              <a:t>Communication Ecosystem</a:t>
            </a:r>
            <a:endParaRPr lang="en-US" sz="1300" dirty="0"/>
          </a:p>
        </p:txBody>
      </p:sp>
      <p:sp>
        <p:nvSpPr>
          <p:cNvPr id="31" name="Shape 29"/>
          <p:cNvSpPr/>
          <p:nvPr/>
        </p:nvSpPr>
        <p:spPr>
          <a:xfrm>
            <a:off x="4572000" y="1664208"/>
            <a:ext cx="960120" cy="475488"/>
          </a:xfrm>
          <a:prstGeom prst="rect">
            <a:avLst/>
          </a:prstGeom>
          <a:solidFill>
            <a:srgbClr val="0891B2"/>
          </a:solidFill>
          <a:ln w="12700">
            <a:solidFill>
              <a:srgbClr val="0891B2"/>
            </a:solidFill>
            <a:prstDash val="solid"/>
          </a:ln>
        </p:spPr>
      </p:sp>
      <p:sp>
        <p:nvSpPr>
          <p:cNvPr id="32" name="Text 30"/>
          <p:cNvSpPr/>
          <p:nvPr/>
        </p:nvSpPr>
        <p:spPr>
          <a:xfrm>
            <a:off x="4572000" y="1664208"/>
            <a:ext cx="960120" cy="47548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Synchronous</a:t>
            </a:r>
            <a:endParaRPr lang="en-US" sz="850" dirty="0"/>
          </a:p>
        </p:txBody>
      </p:sp>
      <p:sp>
        <p:nvSpPr>
          <p:cNvPr id="33" name="Shape 31"/>
          <p:cNvSpPr/>
          <p:nvPr/>
        </p:nvSpPr>
        <p:spPr>
          <a:xfrm>
            <a:off x="5559552" y="1664208"/>
            <a:ext cx="3236976" cy="475488"/>
          </a:xfrm>
          <a:prstGeom prst="rect">
            <a:avLst/>
          </a:prstGeom>
          <a:solidFill>
            <a:srgbClr val="E8F4F8"/>
          </a:solidFill>
          <a:ln w="12700">
            <a:solidFill>
              <a:srgbClr val="E2E8F0"/>
            </a:solidFill>
            <a:prstDash val="solid"/>
          </a:ln>
        </p:spPr>
      </p:sp>
      <p:sp>
        <p:nvSpPr>
          <p:cNvPr id="34" name="Text 32"/>
          <p:cNvSpPr/>
          <p:nvPr/>
        </p:nvSpPr>
        <p:spPr>
          <a:xfrm>
            <a:off x="5596128" y="1682496"/>
            <a:ext cx="3163824" cy="201168"/>
          </a:xfrm>
          <a:prstGeom prst="rect">
            <a:avLst/>
          </a:prstGeom>
          <a:noFill/>
          <a:ln/>
        </p:spPr>
        <p:txBody>
          <a:bodyPr wrap="square" rtlCol="0" anchor="ctr"/>
          <a:lstStyle/>
          <a:p>
            <a:pPr indent="0" marL="0">
              <a:buNone/>
            </a:pPr>
            <a:r>
              <a:rPr lang="en-US" sz="950" b="1" dirty="0">
                <a:solidFill>
                  <a:srgbClr val="0891B2"/>
                </a:solidFill>
                <a:latin typeface="Calibri" pitchFamily="34" charset="0"/>
                <a:ea typeface="Calibri" pitchFamily="34" charset="-122"/>
                <a:cs typeface="Calibri" pitchFamily="34" charset="-120"/>
              </a:rPr>
              <a:t>Zoom · Google Meet · Video standups</a:t>
            </a:r>
            <a:endParaRPr lang="en-US" sz="950" dirty="0"/>
          </a:p>
        </p:txBody>
      </p:sp>
      <p:sp>
        <p:nvSpPr>
          <p:cNvPr id="35" name="Text 33"/>
          <p:cNvSpPr/>
          <p:nvPr/>
        </p:nvSpPr>
        <p:spPr>
          <a:xfrm>
            <a:off x="5596128" y="1892808"/>
            <a:ext cx="3163824" cy="20116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Sprint ceremonies, 1:1s, pair programming</a:t>
            </a:r>
            <a:endParaRPr lang="en-US" sz="850" dirty="0"/>
          </a:p>
        </p:txBody>
      </p:sp>
      <p:sp>
        <p:nvSpPr>
          <p:cNvPr id="36" name="Shape 34"/>
          <p:cNvSpPr/>
          <p:nvPr/>
        </p:nvSpPr>
        <p:spPr>
          <a:xfrm>
            <a:off x="4572000" y="2240280"/>
            <a:ext cx="960120" cy="475488"/>
          </a:xfrm>
          <a:prstGeom prst="rect">
            <a:avLst/>
          </a:prstGeom>
          <a:solidFill>
            <a:srgbClr val="1A5296"/>
          </a:solidFill>
          <a:ln w="12700">
            <a:solidFill>
              <a:srgbClr val="1A5296"/>
            </a:solidFill>
            <a:prstDash val="solid"/>
          </a:ln>
        </p:spPr>
      </p:sp>
      <p:sp>
        <p:nvSpPr>
          <p:cNvPr id="37" name="Text 35"/>
          <p:cNvSpPr/>
          <p:nvPr/>
        </p:nvSpPr>
        <p:spPr>
          <a:xfrm>
            <a:off x="4572000" y="2240280"/>
            <a:ext cx="960120" cy="47548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Persistent Chat</a:t>
            </a:r>
            <a:endParaRPr lang="en-US" sz="850" dirty="0"/>
          </a:p>
        </p:txBody>
      </p:sp>
      <p:sp>
        <p:nvSpPr>
          <p:cNvPr id="38" name="Shape 36"/>
          <p:cNvSpPr/>
          <p:nvPr/>
        </p:nvSpPr>
        <p:spPr>
          <a:xfrm>
            <a:off x="5559552" y="2240280"/>
            <a:ext cx="3236976" cy="475488"/>
          </a:xfrm>
          <a:prstGeom prst="rect">
            <a:avLst/>
          </a:prstGeom>
          <a:solidFill>
            <a:srgbClr val="E8F4F8"/>
          </a:solidFill>
          <a:ln w="12700">
            <a:solidFill>
              <a:srgbClr val="E2E8F0"/>
            </a:solidFill>
            <a:prstDash val="solid"/>
          </a:ln>
        </p:spPr>
      </p:sp>
      <p:sp>
        <p:nvSpPr>
          <p:cNvPr id="39" name="Text 37"/>
          <p:cNvSpPr/>
          <p:nvPr/>
        </p:nvSpPr>
        <p:spPr>
          <a:xfrm>
            <a:off x="5596128" y="2258568"/>
            <a:ext cx="3163824" cy="201168"/>
          </a:xfrm>
          <a:prstGeom prst="rect">
            <a:avLst/>
          </a:prstGeom>
          <a:noFill/>
          <a:ln/>
        </p:spPr>
        <p:txBody>
          <a:bodyPr wrap="square" rtlCol="0" anchor="ctr"/>
          <a:lstStyle/>
          <a:p>
            <a:pPr indent="0" marL="0">
              <a:buNone/>
            </a:pPr>
            <a:r>
              <a:rPr lang="en-US" sz="950" b="1" dirty="0">
                <a:solidFill>
                  <a:srgbClr val="1A5296"/>
                </a:solidFill>
                <a:latin typeface="Calibri" pitchFamily="34" charset="0"/>
                <a:ea typeface="Calibri" pitchFamily="34" charset="-122"/>
                <a:cs typeface="Calibri" pitchFamily="34" charset="-120"/>
              </a:rPr>
              <a:t>Slack · Microsoft Teams</a:t>
            </a:r>
            <a:endParaRPr lang="en-US" sz="950" dirty="0"/>
          </a:p>
        </p:txBody>
      </p:sp>
      <p:sp>
        <p:nvSpPr>
          <p:cNvPr id="40" name="Text 38"/>
          <p:cNvSpPr/>
          <p:nvPr/>
        </p:nvSpPr>
        <p:spPr>
          <a:xfrm>
            <a:off x="5596128" y="2468880"/>
            <a:ext cx="3163824" cy="20116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Immediate coordination; decision logging</a:t>
            </a:r>
            <a:endParaRPr lang="en-US" sz="850" dirty="0"/>
          </a:p>
        </p:txBody>
      </p:sp>
      <p:sp>
        <p:nvSpPr>
          <p:cNvPr id="41" name="Shape 39"/>
          <p:cNvSpPr/>
          <p:nvPr/>
        </p:nvSpPr>
        <p:spPr>
          <a:xfrm>
            <a:off x="4572000" y="2816352"/>
            <a:ext cx="960120" cy="475488"/>
          </a:xfrm>
          <a:prstGeom prst="rect">
            <a:avLst/>
          </a:prstGeom>
          <a:solidFill>
            <a:srgbClr val="7C3AED"/>
          </a:solidFill>
          <a:ln w="12700">
            <a:solidFill>
              <a:srgbClr val="7C3AED"/>
            </a:solidFill>
            <a:prstDash val="solid"/>
          </a:ln>
        </p:spPr>
      </p:sp>
      <p:sp>
        <p:nvSpPr>
          <p:cNvPr id="42" name="Text 40"/>
          <p:cNvSpPr/>
          <p:nvPr/>
        </p:nvSpPr>
        <p:spPr>
          <a:xfrm>
            <a:off x="4572000" y="2816352"/>
            <a:ext cx="960120" cy="47548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Work Tracking</a:t>
            </a:r>
            <a:endParaRPr lang="en-US" sz="850" dirty="0"/>
          </a:p>
        </p:txBody>
      </p:sp>
      <p:sp>
        <p:nvSpPr>
          <p:cNvPr id="43" name="Shape 41"/>
          <p:cNvSpPr/>
          <p:nvPr/>
        </p:nvSpPr>
        <p:spPr>
          <a:xfrm>
            <a:off x="5559552" y="2816352"/>
            <a:ext cx="3236976" cy="475488"/>
          </a:xfrm>
          <a:prstGeom prst="rect">
            <a:avLst/>
          </a:prstGeom>
          <a:solidFill>
            <a:srgbClr val="E8F4F8"/>
          </a:solidFill>
          <a:ln w="12700">
            <a:solidFill>
              <a:srgbClr val="E2E8F0"/>
            </a:solidFill>
            <a:prstDash val="solid"/>
          </a:ln>
        </p:spPr>
      </p:sp>
      <p:sp>
        <p:nvSpPr>
          <p:cNvPr id="44" name="Text 42"/>
          <p:cNvSpPr/>
          <p:nvPr/>
        </p:nvSpPr>
        <p:spPr>
          <a:xfrm>
            <a:off x="5596128" y="2834640"/>
            <a:ext cx="3163824" cy="201168"/>
          </a:xfrm>
          <a:prstGeom prst="rect">
            <a:avLst/>
          </a:prstGeom>
          <a:noFill/>
          <a:ln/>
        </p:spPr>
        <p:txBody>
          <a:bodyPr wrap="square" rtlCol="0" anchor="ctr"/>
          <a:lstStyle/>
          <a:p>
            <a:pPr indent="0" marL="0">
              <a:buNone/>
            </a:pPr>
            <a:r>
              <a:rPr lang="en-US" sz="950" b="1" dirty="0">
                <a:solidFill>
                  <a:srgbClr val="7C3AED"/>
                </a:solidFill>
                <a:latin typeface="Calibri" pitchFamily="34" charset="0"/>
                <a:ea typeface="Calibri" pitchFamily="34" charset="-122"/>
                <a:cs typeface="Calibri" pitchFamily="34" charset="-120"/>
              </a:rPr>
              <a:t>Jira · GitHub Issues · Linear</a:t>
            </a:r>
            <a:endParaRPr lang="en-US" sz="950" dirty="0"/>
          </a:p>
        </p:txBody>
      </p:sp>
      <p:sp>
        <p:nvSpPr>
          <p:cNvPr id="45" name="Text 43"/>
          <p:cNvSpPr/>
          <p:nvPr/>
        </p:nvSpPr>
        <p:spPr>
          <a:xfrm>
            <a:off x="5596128" y="3044952"/>
            <a:ext cx="3163824" cy="20116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Backlog, sprint tracking, bug management</a:t>
            </a:r>
            <a:endParaRPr lang="en-US" sz="850" dirty="0"/>
          </a:p>
        </p:txBody>
      </p:sp>
      <p:sp>
        <p:nvSpPr>
          <p:cNvPr id="46" name="Shape 44"/>
          <p:cNvSpPr/>
          <p:nvPr/>
        </p:nvSpPr>
        <p:spPr>
          <a:xfrm>
            <a:off x="4572000" y="3392424"/>
            <a:ext cx="960120" cy="475488"/>
          </a:xfrm>
          <a:prstGeom prst="rect">
            <a:avLst/>
          </a:prstGeom>
          <a:solidFill>
            <a:srgbClr val="10B981"/>
          </a:solidFill>
          <a:ln w="12700">
            <a:solidFill>
              <a:srgbClr val="10B981"/>
            </a:solidFill>
            <a:prstDash val="solid"/>
          </a:ln>
        </p:spPr>
      </p:sp>
      <p:sp>
        <p:nvSpPr>
          <p:cNvPr id="47" name="Text 45"/>
          <p:cNvSpPr/>
          <p:nvPr/>
        </p:nvSpPr>
        <p:spPr>
          <a:xfrm>
            <a:off x="4572000" y="3392424"/>
            <a:ext cx="960120" cy="47548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Documentation</a:t>
            </a:r>
            <a:endParaRPr lang="en-US" sz="850" dirty="0"/>
          </a:p>
        </p:txBody>
      </p:sp>
      <p:sp>
        <p:nvSpPr>
          <p:cNvPr id="48" name="Shape 46"/>
          <p:cNvSpPr/>
          <p:nvPr/>
        </p:nvSpPr>
        <p:spPr>
          <a:xfrm>
            <a:off x="5559552" y="3392424"/>
            <a:ext cx="3236976" cy="475488"/>
          </a:xfrm>
          <a:prstGeom prst="rect">
            <a:avLst/>
          </a:prstGeom>
          <a:solidFill>
            <a:srgbClr val="E8F4F8"/>
          </a:solidFill>
          <a:ln w="12700">
            <a:solidFill>
              <a:srgbClr val="E2E8F0"/>
            </a:solidFill>
            <a:prstDash val="solid"/>
          </a:ln>
        </p:spPr>
      </p:sp>
      <p:sp>
        <p:nvSpPr>
          <p:cNvPr id="49" name="Text 47"/>
          <p:cNvSpPr/>
          <p:nvPr/>
        </p:nvSpPr>
        <p:spPr>
          <a:xfrm>
            <a:off x="5596128" y="3410712"/>
            <a:ext cx="3163824" cy="201168"/>
          </a:xfrm>
          <a:prstGeom prst="rect">
            <a:avLst/>
          </a:prstGeom>
          <a:noFill/>
          <a:ln/>
        </p:spPr>
        <p:txBody>
          <a:bodyPr wrap="square" rtlCol="0" anchor="ctr"/>
          <a:lstStyle/>
          <a:p>
            <a:pPr indent="0" marL="0">
              <a:buNone/>
            </a:pPr>
            <a:r>
              <a:rPr lang="en-US" sz="950" b="1" dirty="0">
                <a:solidFill>
                  <a:srgbClr val="10B981"/>
                </a:solidFill>
                <a:latin typeface="Calibri" pitchFamily="34" charset="0"/>
                <a:ea typeface="Calibri" pitchFamily="34" charset="-122"/>
                <a:cs typeface="Calibri" pitchFamily="34" charset="-120"/>
              </a:rPr>
              <a:t>Confluence · Notion · ADRs</a:t>
            </a:r>
            <a:endParaRPr lang="en-US" sz="950" dirty="0"/>
          </a:p>
        </p:txBody>
      </p:sp>
      <p:sp>
        <p:nvSpPr>
          <p:cNvPr id="50" name="Text 48"/>
          <p:cNvSpPr/>
          <p:nvPr/>
        </p:nvSpPr>
        <p:spPr>
          <a:xfrm>
            <a:off x="5596128" y="3621024"/>
            <a:ext cx="3163824" cy="20116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Knowledge base, runbooks, architecture decisions</a:t>
            </a:r>
            <a:endParaRPr lang="en-US" sz="850" dirty="0"/>
          </a:p>
        </p:txBody>
      </p:sp>
      <p:sp>
        <p:nvSpPr>
          <p:cNvPr id="51" name="Shape 49"/>
          <p:cNvSpPr/>
          <p:nvPr/>
        </p:nvSpPr>
        <p:spPr>
          <a:xfrm>
            <a:off x="4572000" y="3968496"/>
            <a:ext cx="960120" cy="475488"/>
          </a:xfrm>
          <a:prstGeom prst="rect">
            <a:avLst/>
          </a:prstGeom>
          <a:solidFill>
            <a:srgbClr val="F59E0B"/>
          </a:solidFill>
          <a:ln w="12700">
            <a:solidFill>
              <a:srgbClr val="F59E0B"/>
            </a:solidFill>
            <a:prstDash val="solid"/>
          </a:ln>
        </p:spPr>
      </p:sp>
      <p:sp>
        <p:nvSpPr>
          <p:cNvPr id="52" name="Text 50"/>
          <p:cNvSpPr/>
          <p:nvPr/>
        </p:nvSpPr>
        <p:spPr>
          <a:xfrm>
            <a:off x="4572000" y="3968496"/>
            <a:ext cx="960120" cy="47548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Code Review</a:t>
            </a:r>
            <a:endParaRPr lang="en-US" sz="850" dirty="0"/>
          </a:p>
        </p:txBody>
      </p:sp>
      <p:sp>
        <p:nvSpPr>
          <p:cNvPr id="53" name="Shape 51"/>
          <p:cNvSpPr/>
          <p:nvPr/>
        </p:nvSpPr>
        <p:spPr>
          <a:xfrm>
            <a:off x="5559552" y="3968496"/>
            <a:ext cx="3236976" cy="475488"/>
          </a:xfrm>
          <a:prstGeom prst="rect">
            <a:avLst/>
          </a:prstGeom>
          <a:solidFill>
            <a:srgbClr val="E8F4F8"/>
          </a:solidFill>
          <a:ln w="12700">
            <a:solidFill>
              <a:srgbClr val="E2E8F0"/>
            </a:solidFill>
            <a:prstDash val="solid"/>
          </a:ln>
        </p:spPr>
      </p:sp>
      <p:sp>
        <p:nvSpPr>
          <p:cNvPr id="54" name="Text 52"/>
          <p:cNvSpPr/>
          <p:nvPr/>
        </p:nvSpPr>
        <p:spPr>
          <a:xfrm>
            <a:off x="5596128" y="3986784"/>
            <a:ext cx="3163824" cy="201168"/>
          </a:xfrm>
          <a:prstGeom prst="rect">
            <a:avLst/>
          </a:prstGeom>
          <a:noFill/>
          <a:ln/>
        </p:spPr>
        <p:txBody>
          <a:bodyPr wrap="square" rtlCol="0" anchor="ctr"/>
          <a:lstStyle/>
          <a:p>
            <a:pPr indent="0" marL="0">
              <a:buNone/>
            </a:pPr>
            <a:r>
              <a:rPr lang="en-US" sz="950" b="1" dirty="0">
                <a:solidFill>
                  <a:srgbClr val="F59E0B"/>
                </a:solidFill>
                <a:latin typeface="Calibri" pitchFamily="34" charset="0"/>
                <a:ea typeface="Calibri" pitchFamily="34" charset="-122"/>
                <a:cs typeface="Calibri" pitchFamily="34" charset="-120"/>
              </a:rPr>
              <a:t>GitHub · GitLab · Gerrit</a:t>
            </a:r>
            <a:endParaRPr lang="en-US" sz="950" dirty="0"/>
          </a:p>
        </p:txBody>
      </p:sp>
      <p:sp>
        <p:nvSpPr>
          <p:cNvPr id="55" name="Text 53"/>
          <p:cNvSpPr/>
          <p:nvPr/>
        </p:nvSpPr>
        <p:spPr>
          <a:xfrm>
            <a:off x="5596128" y="4197096"/>
            <a:ext cx="3163824" cy="20116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Quality gate + knowledge transfer mechanism</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Agile Team Management</a:t>
            </a:r>
            <a:endParaRPr lang="en-US" sz="3000" dirty="0"/>
          </a:p>
        </p:txBody>
      </p:sp>
      <p:sp>
        <p:nvSpPr>
          <p:cNvPr id="3" name="Text 1"/>
          <p:cNvSpPr/>
          <p:nvPr/>
        </p:nvSpPr>
        <p:spPr>
          <a:xfrm>
            <a:off x="457200" y="841248"/>
            <a:ext cx="8229600" cy="320040"/>
          </a:xfrm>
          <a:prstGeom prst="rect">
            <a:avLst/>
          </a:prstGeom>
          <a:noFill/>
          <a:ln/>
        </p:spPr>
        <p:txBody>
          <a:bodyPr wrap="square" rtlCol="0" anchor="ctr"/>
          <a:lstStyle/>
          <a:p>
            <a:pPr indent="0" marL="0">
              <a:buNone/>
            </a:pPr>
            <a:r>
              <a:rPr lang="en-US" sz="1400" dirty="0">
                <a:solidFill>
                  <a:srgbClr val="0891B2"/>
                </a:solidFill>
                <a:latin typeface="Calibri" pitchFamily="34" charset="0"/>
                <a:ea typeface="Calibri" pitchFamily="34" charset="-122"/>
                <a:cs typeface="Calibri" pitchFamily="34" charset="-120"/>
              </a:rPr>
              <a:t>Scrum, Kanban, and scaling — the Spotify Model</a:t>
            </a:r>
            <a:endParaRPr lang="en-US" sz="1400" dirty="0"/>
          </a:p>
        </p:txBody>
      </p:sp>
      <p:sp>
        <p:nvSpPr>
          <p:cNvPr id="4" name="Shape 2"/>
          <p:cNvSpPr/>
          <p:nvPr/>
        </p:nvSpPr>
        <p:spPr>
          <a:xfrm>
            <a:off x="457200" y="1143000"/>
            <a:ext cx="8229600" cy="22860"/>
          </a:xfrm>
          <a:prstGeom prst="rect">
            <a:avLst/>
          </a:prstGeom>
          <a:solidFill>
            <a:srgbClr val="0891B2"/>
          </a:solidFill>
          <a:ln w="12700">
            <a:solidFill>
              <a:srgbClr val="0891B2"/>
            </a:solidFill>
            <a:prstDash val="solid"/>
          </a:ln>
        </p:spPr>
      </p:sp>
      <p:sp>
        <p:nvSpPr>
          <p:cNvPr id="5" name="Text 3"/>
          <p:cNvSpPr/>
          <p:nvPr/>
        </p:nvSpPr>
        <p:spPr>
          <a:xfrm>
            <a:off x="347472" y="1325880"/>
            <a:ext cx="3931920" cy="274320"/>
          </a:xfrm>
          <a:prstGeom prst="rect">
            <a:avLst/>
          </a:prstGeom>
          <a:noFill/>
          <a:ln/>
        </p:spPr>
        <p:txBody>
          <a:bodyPr wrap="square" rtlCol="0" anchor="ctr"/>
          <a:lstStyle/>
          <a:p>
            <a:pPr indent="0" marL="0">
              <a:buNone/>
            </a:pPr>
            <a:r>
              <a:rPr lang="en-US" sz="1300" b="1" dirty="0">
                <a:solidFill>
                  <a:srgbClr val="0D1F3C"/>
                </a:solidFill>
                <a:latin typeface="Calibri" pitchFamily="34" charset="0"/>
                <a:ea typeface="Calibri" pitchFamily="34" charset="-122"/>
                <a:cs typeface="Calibri" pitchFamily="34" charset="-120"/>
              </a:rPr>
              <a:t>Core Frameworks</a:t>
            </a:r>
            <a:endParaRPr lang="en-US" sz="1300" dirty="0"/>
          </a:p>
        </p:txBody>
      </p:sp>
      <p:sp>
        <p:nvSpPr>
          <p:cNvPr id="6" name="Shape 4"/>
          <p:cNvSpPr/>
          <p:nvPr/>
        </p:nvSpPr>
        <p:spPr>
          <a:xfrm>
            <a:off x="347472" y="1664208"/>
            <a:ext cx="1874520" cy="3017520"/>
          </a:xfrm>
          <a:prstGeom prst="rect">
            <a:avLst/>
          </a:prstGeom>
          <a:solidFill>
            <a:srgbClr val="F0FDF4"/>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347472" y="1664208"/>
            <a:ext cx="73152" cy="3017520"/>
          </a:xfrm>
          <a:prstGeom prst="rect">
            <a:avLst/>
          </a:prstGeom>
          <a:solidFill>
            <a:srgbClr val="10B981"/>
          </a:solidFill>
          <a:ln w="12700">
            <a:solidFill>
              <a:srgbClr val="10B981"/>
            </a:solidFill>
            <a:prstDash val="solid"/>
          </a:ln>
        </p:spPr>
      </p:sp>
      <p:sp>
        <p:nvSpPr>
          <p:cNvPr id="8" name="Text 6"/>
          <p:cNvSpPr/>
          <p:nvPr/>
        </p:nvSpPr>
        <p:spPr>
          <a:xfrm>
            <a:off x="457200" y="1737360"/>
            <a:ext cx="1691640" cy="274320"/>
          </a:xfrm>
          <a:prstGeom prst="rect">
            <a:avLst/>
          </a:prstGeom>
          <a:noFill/>
          <a:ln/>
        </p:spPr>
        <p:txBody>
          <a:bodyPr wrap="square" rtlCol="0" anchor="ctr"/>
          <a:lstStyle/>
          <a:p>
            <a:pPr indent="0" marL="0">
              <a:buNone/>
            </a:pPr>
            <a:r>
              <a:rPr lang="en-US" sz="1300" b="1" dirty="0">
                <a:solidFill>
                  <a:srgbClr val="10B981"/>
                </a:solidFill>
                <a:latin typeface="Calibri" pitchFamily="34" charset="0"/>
                <a:ea typeface="Calibri" pitchFamily="34" charset="-122"/>
                <a:cs typeface="Calibri" pitchFamily="34" charset="-120"/>
              </a:rPr>
              <a:t>SCRUM</a:t>
            </a:r>
            <a:endParaRPr lang="en-US" sz="1300" dirty="0"/>
          </a:p>
        </p:txBody>
      </p:sp>
      <p:sp>
        <p:nvSpPr>
          <p:cNvPr id="9" name="Text 7"/>
          <p:cNvSpPr/>
          <p:nvPr/>
        </p:nvSpPr>
        <p:spPr>
          <a:xfrm>
            <a:off x="457200" y="2057400"/>
            <a:ext cx="1691640" cy="2560320"/>
          </a:xfrm>
          <a:prstGeom prst="rect">
            <a:avLst/>
          </a:prstGeom>
          <a:noFill/>
          <a:ln/>
        </p:spPr>
        <p:txBody>
          <a:bodyPr wrap="square" rtlCol="0" anchor="ctr"/>
          <a:lstStyle/>
          <a:p>
            <a:pPr indent="0" marL="0">
              <a:buNone/>
            </a:pPr>
            <a:r>
              <a:rPr lang="en-US" sz="950" dirty="0">
                <a:solidFill>
                  <a:srgbClr val="334155"/>
                </a:solidFill>
                <a:latin typeface="Calibri" pitchFamily="34" charset="0"/>
                <a:ea typeface="Calibri" pitchFamily="34" charset="-122"/>
                <a:cs typeface="Calibri" pitchFamily="34" charset="-120"/>
              </a:rPr>
              <a:t>• Time-boxed sprints (1-4 wks)</a:t>
            </a:r>
            <a:endParaRPr lang="en-US" sz="950" dirty="0"/>
          </a:p>
          <a:p>
            <a:pPr indent="0" marL="0">
              <a:buNone/>
            </a:pPr>
            <a:r>
              <a:rPr lang="en-US" sz="950" dirty="0">
                <a:solidFill>
                  <a:srgbClr val="334155"/>
                </a:solidFill>
                <a:latin typeface="Calibri" pitchFamily="34" charset="0"/>
                <a:ea typeface="Calibri" pitchFamily="34" charset="-122"/>
                <a:cs typeface="Calibri" pitchFamily="34" charset="-120"/>
              </a:rPr>
              <a:t>• Product Owner + Scrum Master</a:t>
            </a:r>
            <a:endParaRPr lang="en-US" sz="950" dirty="0"/>
          </a:p>
          <a:p>
            <a:pPr indent="0" marL="0">
              <a:buNone/>
            </a:pPr>
            <a:r>
              <a:rPr lang="en-US" sz="950" dirty="0">
                <a:solidFill>
                  <a:srgbClr val="334155"/>
                </a:solidFill>
                <a:latin typeface="Calibri" pitchFamily="34" charset="0"/>
                <a:ea typeface="Calibri" pitchFamily="34" charset="-122"/>
                <a:cs typeface="Calibri" pitchFamily="34" charset="-120"/>
              </a:rPr>
              <a:t>• Sprint planning &amp; retrospectives</a:t>
            </a:r>
            <a:endParaRPr lang="en-US" sz="950" dirty="0"/>
          </a:p>
          <a:p>
            <a:pPr indent="0" marL="0">
              <a:buNone/>
            </a:pPr>
            <a:r>
              <a:rPr lang="en-US" sz="950" dirty="0">
                <a:solidFill>
                  <a:srgbClr val="334155"/>
                </a:solidFill>
                <a:latin typeface="Calibri" pitchFamily="34" charset="0"/>
                <a:ea typeface="Calibri" pitchFamily="34" charset="-122"/>
                <a:cs typeface="Calibri" pitchFamily="34" charset="-120"/>
              </a:rPr>
              <a:t>• Defined roles &amp; ceremonies</a:t>
            </a:r>
            <a:endParaRPr lang="en-US" sz="950" dirty="0"/>
          </a:p>
          <a:p>
            <a:pPr indent="0" marL="0">
              <a:buNone/>
            </a:pPr>
            <a:r>
              <a:rPr lang="en-US" sz="950" dirty="0">
                <a:solidFill>
                  <a:srgbClr val="334155"/>
                </a:solidFill>
                <a:latin typeface="Calibri" pitchFamily="34" charset="0"/>
                <a:ea typeface="Calibri" pitchFamily="34" charset="-122"/>
                <a:cs typeface="Calibri" pitchFamily="34" charset="-120"/>
              </a:rPr>
              <a:t>• Predictable cadence</a:t>
            </a:r>
            <a:endParaRPr lang="en-US" sz="950" dirty="0"/>
          </a:p>
          <a:p>
            <a:pPr indent="0" marL="0">
              <a:buNone/>
            </a:pPr>
            <a:r>
              <a:rPr lang="en-US" sz="950" dirty="0">
                <a:solidFill>
                  <a:srgbClr val="334155"/>
                </a:solidFill>
                <a:latin typeface="Calibri" pitchFamily="34" charset="0"/>
                <a:ea typeface="Calibri" pitchFamily="34" charset="-122"/>
                <a:cs typeface="Calibri" pitchFamily="34" charset="-120"/>
              </a:rPr>
              <a:t>→ Best: Feature dev teams</a:t>
            </a:r>
            <a:endParaRPr lang="en-US" sz="950" dirty="0"/>
          </a:p>
        </p:txBody>
      </p:sp>
      <p:sp>
        <p:nvSpPr>
          <p:cNvPr id="10" name="Shape 8"/>
          <p:cNvSpPr/>
          <p:nvPr/>
        </p:nvSpPr>
        <p:spPr>
          <a:xfrm>
            <a:off x="2286000" y="1664208"/>
            <a:ext cx="1965960" cy="3017520"/>
          </a:xfrm>
          <a:prstGeom prst="rect">
            <a:avLst/>
          </a:prstGeom>
          <a:solidFill>
            <a:srgbClr val="E0F4FA"/>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2286000" y="1664208"/>
            <a:ext cx="73152" cy="3017520"/>
          </a:xfrm>
          <a:prstGeom prst="rect">
            <a:avLst/>
          </a:prstGeom>
          <a:solidFill>
            <a:srgbClr val="0891B2"/>
          </a:solidFill>
          <a:ln w="12700">
            <a:solidFill>
              <a:srgbClr val="0891B2"/>
            </a:solidFill>
            <a:prstDash val="solid"/>
          </a:ln>
        </p:spPr>
      </p:sp>
      <p:sp>
        <p:nvSpPr>
          <p:cNvPr id="12" name="Text 10"/>
          <p:cNvSpPr/>
          <p:nvPr/>
        </p:nvSpPr>
        <p:spPr>
          <a:xfrm>
            <a:off x="2395728" y="1737360"/>
            <a:ext cx="1783080" cy="274320"/>
          </a:xfrm>
          <a:prstGeom prst="rect">
            <a:avLst/>
          </a:prstGeom>
          <a:noFill/>
          <a:ln/>
        </p:spPr>
        <p:txBody>
          <a:bodyPr wrap="square" rtlCol="0" anchor="ctr"/>
          <a:lstStyle/>
          <a:p>
            <a:pPr indent="0" marL="0">
              <a:buNone/>
            </a:pPr>
            <a:r>
              <a:rPr lang="en-US" sz="1300" b="1" dirty="0">
                <a:solidFill>
                  <a:srgbClr val="0891B2"/>
                </a:solidFill>
                <a:latin typeface="Calibri" pitchFamily="34" charset="0"/>
                <a:ea typeface="Calibri" pitchFamily="34" charset="-122"/>
                <a:cs typeface="Calibri" pitchFamily="34" charset="-120"/>
              </a:rPr>
              <a:t>KANBAN</a:t>
            </a:r>
            <a:endParaRPr lang="en-US" sz="1300" dirty="0"/>
          </a:p>
        </p:txBody>
      </p:sp>
      <p:sp>
        <p:nvSpPr>
          <p:cNvPr id="13" name="Text 11"/>
          <p:cNvSpPr/>
          <p:nvPr/>
        </p:nvSpPr>
        <p:spPr>
          <a:xfrm>
            <a:off x="2395728" y="2057400"/>
            <a:ext cx="1783080" cy="2560320"/>
          </a:xfrm>
          <a:prstGeom prst="rect">
            <a:avLst/>
          </a:prstGeom>
          <a:noFill/>
          <a:ln/>
        </p:spPr>
        <p:txBody>
          <a:bodyPr wrap="square" rtlCol="0" anchor="ctr"/>
          <a:lstStyle/>
          <a:p>
            <a:pPr indent="0" marL="0">
              <a:buNone/>
            </a:pPr>
            <a:r>
              <a:rPr lang="en-US" sz="950" dirty="0">
                <a:solidFill>
                  <a:srgbClr val="334155"/>
                </a:solidFill>
                <a:latin typeface="Calibri" pitchFamily="34" charset="0"/>
                <a:ea typeface="Calibri" pitchFamily="34" charset="-122"/>
                <a:cs typeface="Calibri" pitchFamily="34" charset="-120"/>
              </a:rPr>
              <a:t>• Continuous flow model</a:t>
            </a:r>
            <a:endParaRPr lang="en-US" sz="950" dirty="0"/>
          </a:p>
          <a:p>
            <a:pPr indent="0" marL="0">
              <a:buNone/>
            </a:pPr>
            <a:r>
              <a:rPr lang="en-US" sz="950" dirty="0">
                <a:solidFill>
                  <a:srgbClr val="334155"/>
                </a:solidFill>
                <a:latin typeface="Calibri" pitchFamily="34" charset="0"/>
                <a:ea typeface="Calibri" pitchFamily="34" charset="-122"/>
                <a:cs typeface="Calibri" pitchFamily="34" charset="-120"/>
              </a:rPr>
              <a:t>• WIP limits on each stage</a:t>
            </a:r>
            <a:endParaRPr lang="en-US" sz="950" dirty="0"/>
          </a:p>
          <a:p>
            <a:pPr indent="0" marL="0">
              <a:buNone/>
            </a:pPr>
            <a:r>
              <a:rPr lang="en-US" sz="950" dirty="0">
                <a:solidFill>
                  <a:srgbClr val="334155"/>
                </a:solidFill>
                <a:latin typeface="Calibri" pitchFamily="34" charset="0"/>
                <a:ea typeface="Calibri" pitchFamily="34" charset="-122"/>
                <a:cs typeface="Calibri" pitchFamily="34" charset="-120"/>
              </a:rPr>
              <a:t>• Visual board management</a:t>
            </a:r>
            <a:endParaRPr lang="en-US" sz="950" dirty="0"/>
          </a:p>
          <a:p>
            <a:pPr indent="0" marL="0">
              <a:buNone/>
            </a:pPr>
            <a:r>
              <a:rPr lang="en-US" sz="950" dirty="0">
                <a:solidFill>
                  <a:srgbClr val="334155"/>
                </a:solidFill>
                <a:latin typeface="Calibri" pitchFamily="34" charset="0"/>
                <a:ea typeface="Calibri" pitchFamily="34" charset="-122"/>
                <a:cs typeface="Calibri" pitchFamily="34" charset="-120"/>
              </a:rPr>
              <a:t>• No fixed iterations</a:t>
            </a:r>
            <a:endParaRPr lang="en-US" sz="950" dirty="0"/>
          </a:p>
          <a:p>
            <a:pPr indent="0" marL="0">
              <a:buNone/>
            </a:pPr>
            <a:r>
              <a:rPr lang="en-US" sz="950" dirty="0">
                <a:solidFill>
                  <a:srgbClr val="334155"/>
                </a:solidFill>
                <a:latin typeface="Calibri" pitchFamily="34" charset="0"/>
                <a:ea typeface="Calibri" pitchFamily="34" charset="-122"/>
                <a:cs typeface="Calibri" pitchFamily="34" charset="-120"/>
              </a:rPr>
              <a:t>• Flexible task intake</a:t>
            </a:r>
            <a:endParaRPr lang="en-US" sz="950" dirty="0"/>
          </a:p>
          <a:p>
            <a:pPr indent="0" marL="0">
              <a:buNone/>
            </a:pPr>
            <a:r>
              <a:rPr lang="en-US" sz="950" dirty="0">
                <a:solidFill>
                  <a:srgbClr val="334155"/>
                </a:solidFill>
                <a:latin typeface="Calibri" pitchFamily="34" charset="0"/>
                <a:ea typeface="Calibri" pitchFamily="34" charset="-122"/>
                <a:cs typeface="Calibri" pitchFamily="34" charset="-120"/>
              </a:rPr>
              <a:t>→ Best: Ops &amp; support teams</a:t>
            </a:r>
            <a:endParaRPr lang="en-US" sz="950" dirty="0"/>
          </a:p>
        </p:txBody>
      </p:sp>
      <p:sp>
        <p:nvSpPr>
          <p:cNvPr id="14" name="Text 12"/>
          <p:cNvSpPr/>
          <p:nvPr/>
        </p:nvSpPr>
        <p:spPr>
          <a:xfrm>
            <a:off x="4572000" y="1325880"/>
            <a:ext cx="4224528" cy="274320"/>
          </a:xfrm>
          <a:prstGeom prst="rect">
            <a:avLst/>
          </a:prstGeom>
          <a:noFill/>
          <a:ln/>
        </p:spPr>
        <p:txBody>
          <a:bodyPr wrap="square" rtlCol="0" anchor="ctr"/>
          <a:lstStyle/>
          <a:p>
            <a:pPr indent="0" marL="0">
              <a:buNone/>
            </a:pPr>
            <a:r>
              <a:rPr lang="en-US" sz="1300" b="1" dirty="0">
                <a:solidFill>
                  <a:srgbClr val="0D1F3C"/>
                </a:solidFill>
                <a:latin typeface="Calibri" pitchFamily="34" charset="0"/>
                <a:ea typeface="Calibri" pitchFamily="34" charset="-122"/>
                <a:cs typeface="Calibri" pitchFamily="34" charset="-120"/>
              </a:rPr>
              <a:t>Spotify Model — Scaling Agile</a:t>
            </a:r>
            <a:endParaRPr lang="en-US" sz="1300" dirty="0"/>
          </a:p>
        </p:txBody>
      </p:sp>
      <p:sp>
        <p:nvSpPr>
          <p:cNvPr id="15" name="Shape 13"/>
          <p:cNvSpPr/>
          <p:nvPr/>
        </p:nvSpPr>
        <p:spPr>
          <a:xfrm>
            <a:off x="4572000" y="1664208"/>
            <a:ext cx="4206240" cy="3017520"/>
          </a:xfrm>
          <a:prstGeom prst="rect">
            <a:avLst/>
          </a:prstGeom>
          <a:solidFill>
            <a:srgbClr val="FFF7ED"/>
          </a:solidFill>
          <a:ln w="12700">
            <a:solidFill>
              <a:srgbClr val="FDE68A"/>
            </a:solidFill>
            <a:prstDash val="solid"/>
          </a:ln>
        </p:spPr>
      </p:sp>
      <p:sp>
        <p:nvSpPr>
          <p:cNvPr id="16" name="Text 14"/>
          <p:cNvSpPr/>
          <p:nvPr/>
        </p:nvSpPr>
        <p:spPr>
          <a:xfrm>
            <a:off x="4663440" y="1719072"/>
            <a:ext cx="4023360" cy="256032"/>
          </a:xfrm>
          <a:prstGeom prst="rect">
            <a:avLst/>
          </a:prstGeom>
          <a:noFill/>
          <a:ln/>
        </p:spPr>
        <p:txBody>
          <a:bodyPr wrap="square" rtlCol="0" anchor="ctr"/>
          <a:lstStyle/>
          <a:p>
            <a:pPr indent="0" marL="0">
              <a:buNone/>
            </a:pPr>
            <a:r>
              <a:rPr lang="en-US" sz="950" b="1" dirty="0">
                <a:solidFill>
                  <a:srgbClr val="92400E"/>
                </a:solidFill>
                <a:latin typeface="Calibri" pitchFamily="34" charset="0"/>
                <a:ea typeface="Calibri" pitchFamily="34" charset="-122"/>
                <a:cs typeface="Calibri" pitchFamily="34" charset="-120"/>
              </a:rPr>
              <a:t>TRIBE (100–150 people, shared product area)</a:t>
            </a:r>
            <a:endParaRPr lang="en-US" sz="950" dirty="0"/>
          </a:p>
        </p:txBody>
      </p:sp>
      <p:sp>
        <p:nvSpPr>
          <p:cNvPr id="17" name="Shape 15"/>
          <p:cNvSpPr/>
          <p:nvPr/>
        </p:nvSpPr>
        <p:spPr>
          <a:xfrm>
            <a:off x="4663440" y="2084832"/>
            <a:ext cx="1828800" cy="960120"/>
          </a:xfrm>
          <a:prstGeom prst="rect">
            <a:avLst/>
          </a:prstGeom>
          <a:solidFill>
            <a:srgbClr val="D6EAF7"/>
          </a:solidFill>
          <a:ln w="12700">
            <a:solidFill>
              <a:srgbClr val="0891B2"/>
            </a:solidFill>
            <a:prstDash val="solid"/>
          </a:ln>
        </p:spPr>
      </p:sp>
      <p:sp>
        <p:nvSpPr>
          <p:cNvPr id="18" name="Text 16"/>
          <p:cNvSpPr/>
          <p:nvPr/>
        </p:nvSpPr>
        <p:spPr>
          <a:xfrm>
            <a:off x="4663440" y="2121408"/>
            <a:ext cx="1828800" cy="256032"/>
          </a:xfrm>
          <a:prstGeom prst="rect">
            <a:avLst/>
          </a:prstGeom>
          <a:noFill/>
          <a:ln/>
        </p:spPr>
        <p:txBody>
          <a:bodyPr wrap="square" lIns="0" tIns="0" rIns="0" bIns="0" rtlCol="0" anchor="ctr"/>
          <a:lstStyle/>
          <a:p>
            <a:pPr algn="ctr" indent="0" marL="0">
              <a:buNone/>
            </a:pPr>
            <a:r>
              <a:rPr lang="en-US" sz="1000" b="1" dirty="0">
                <a:solidFill>
                  <a:srgbClr val="0891B2"/>
                </a:solidFill>
                <a:latin typeface="Calibri" pitchFamily="34" charset="0"/>
                <a:ea typeface="Calibri" pitchFamily="34" charset="-122"/>
                <a:cs typeface="Calibri" pitchFamily="34" charset="-120"/>
              </a:rPr>
              <a:t>Squad A</a:t>
            </a:r>
            <a:endParaRPr lang="en-US" sz="1000" dirty="0"/>
          </a:p>
        </p:txBody>
      </p:sp>
      <p:sp>
        <p:nvSpPr>
          <p:cNvPr id="19" name="Text 17"/>
          <p:cNvSpPr/>
          <p:nvPr/>
        </p:nvSpPr>
        <p:spPr>
          <a:xfrm>
            <a:off x="4663440" y="2414016"/>
            <a:ext cx="1828800" cy="566928"/>
          </a:xfrm>
          <a:prstGeom prst="rect">
            <a:avLst/>
          </a:prstGeom>
          <a:noFill/>
          <a:ln/>
        </p:spPr>
        <p:txBody>
          <a:bodyPr wrap="square"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Autonomous team</a:t>
            </a:r>
            <a:endParaRPr lang="en-US" sz="850" dirty="0"/>
          </a:p>
          <a:p>
            <a:pPr algn="ctr" indent="0" marL="0">
              <a:buNone/>
            </a:pPr>
            <a:r>
              <a:rPr lang="en-US" sz="850" dirty="0">
                <a:solidFill>
                  <a:srgbClr val="334155"/>
                </a:solidFill>
                <a:latin typeface="Calibri" pitchFamily="34" charset="0"/>
                <a:ea typeface="Calibri" pitchFamily="34" charset="-122"/>
                <a:cs typeface="Calibri" pitchFamily="34" charset="-120"/>
              </a:rPr>
              <a:t>(like a Scrum team)</a:t>
            </a:r>
            <a:endParaRPr lang="en-US" sz="850" dirty="0"/>
          </a:p>
        </p:txBody>
      </p:sp>
      <p:sp>
        <p:nvSpPr>
          <p:cNvPr id="20" name="Shape 18"/>
          <p:cNvSpPr/>
          <p:nvPr/>
        </p:nvSpPr>
        <p:spPr>
          <a:xfrm>
            <a:off x="6675120" y="2084832"/>
            <a:ext cx="1828800" cy="960120"/>
          </a:xfrm>
          <a:prstGeom prst="rect">
            <a:avLst/>
          </a:prstGeom>
          <a:solidFill>
            <a:srgbClr val="D6EAF7"/>
          </a:solidFill>
          <a:ln w="12700">
            <a:solidFill>
              <a:srgbClr val="1A5296"/>
            </a:solidFill>
            <a:prstDash val="solid"/>
          </a:ln>
        </p:spPr>
      </p:sp>
      <p:sp>
        <p:nvSpPr>
          <p:cNvPr id="21" name="Text 19"/>
          <p:cNvSpPr/>
          <p:nvPr/>
        </p:nvSpPr>
        <p:spPr>
          <a:xfrm>
            <a:off x="6675120" y="2121408"/>
            <a:ext cx="1828800" cy="256032"/>
          </a:xfrm>
          <a:prstGeom prst="rect">
            <a:avLst/>
          </a:prstGeom>
          <a:noFill/>
          <a:ln/>
        </p:spPr>
        <p:txBody>
          <a:bodyPr wrap="square" lIns="0" tIns="0" rIns="0" bIns="0" rtlCol="0" anchor="ctr"/>
          <a:lstStyle/>
          <a:p>
            <a:pPr algn="ctr" indent="0" marL="0">
              <a:buNone/>
            </a:pPr>
            <a:r>
              <a:rPr lang="en-US" sz="1000" b="1" dirty="0">
                <a:solidFill>
                  <a:srgbClr val="1A5296"/>
                </a:solidFill>
                <a:latin typeface="Calibri" pitchFamily="34" charset="0"/>
                <a:ea typeface="Calibri" pitchFamily="34" charset="-122"/>
                <a:cs typeface="Calibri" pitchFamily="34" charset="-120"/>
              </a:rPr>
              <a:t>Squad B</a:t>
            </a:r>
            <a:endParaRPr lang="en-US" sz="1000" dirty="0"/>
          </a:p>
        </p:txBody>
      </p:sp>
      <p:sp>
        <p:nvSpPr>
          <p:cNvPr id="22" name="Text 20"/>
          <p:cNvSpPr/>
          <p:nvPr/>
        </p:nvSpPr>
        <p:spPr>
          <a:xfrm>
            <a:off x="6675120" y="2414016"/>
            <a:ext cx="1828800" cy="566928"/>
          </a:xfrm>
          <a:prstGeom prst="rect">
            <a:avLst/>
          </a:prstGeom>
          <a:noFill/>
          <a:ln/>
        </p:spPr>
        <p:txBody>
          <a:bodyPr wrap="square"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Autonomous team</a:t>
            </a:r>
            <a:endParaRPr lang="en-US" sz="850" dirty="0"/>
          </a:p>
          <a:p>
            <a:pPr algn="ctr" indent="0" marL="0">
              <a:buNone/>
            </a:pPr>
            <a:r>
              <a:rPr lang="en-US" sz="850" dirty="0">
                <a:solidFill>
                  <a:srgbClr val="334155"/>
                </a:solidFill>
                <a:latin typeface="Calibri" pitchFamily="34" charset="0"/>
                <a:ea typeface="Calibri" pitchFamily="34" charset="-122"/>
                <a:cs typeface="Calibri" pitchFamily="34" charset="-120"/>
              </a:rPr>
              <a:t>(like a Scrum team)</a:t>
            </a:r>
            <a:endParaRPr lang="en-US" sz="850" dirty="0"/>
          </a:p>
        </p:txBody>
      </p:sp>
      <p:sp>
        <p:nvSpPr>
          <p:cNvPr id="23" name="Shape 21"/>
          <p:cNvSpPr/>
          <p:nvPr/>
        </p:nvSpPr>
        <p:spPr>
          <a:xfrm>
            <a:off x="4663440" y="3227832"/>
            <a:ext cx="1828800" cy="960120"/>
          </a:xfrm>
          <a:prstGeom prst="rect">
            <a:avLst/>
          </a:prstGeom>
          <a:solidFill>
            <a:srgbClr val="D6EAF7"/>
          </a:solidFill>
          <a:ln w="12700">
            <a:solidFill>
              <a:srgbClr val="10B981"/>
            </a:solidFill>
            <a:prstDash val="solid"/>
          </a:ln>
        </p:spPr>
      </p:sp>
      <p:sp>
        <p:nvSpPr>
          <p:cNvPr id="24" name="Text 22"/>
          <p:cNvSpPr/>
          <p:nvPr/>
        </p:nvSpPr>
        <p:spPr>
          <a:xfrm>
            <a:off x="4663440" y="3264408"/>
            <a:ext cx="1828800" cy="256032"/>
          </a:xfrm>
          <a:prstGeom prst="rect">
            <a:avLst/>
          </a:prstGeom>
          <a:noFill/>
          <a:ln/>
        </p:spPr>
        <p:txBody>
          <a:bodyPr wrap="square" lIns="0" tIns="0" rIns="0" bIns="0" rtlCol="0" anchor="ctr"/>
          <a:lstStyle/>
          <a:p>
            <a:pPr algn="ctr" indent="0" marL="0">
              <a:buNone/>
            </a:pPr>
            <a:r>
              <a:rPr lang="en-US" sz="1000" b="1" dirty="0">
                <a:solidFill>
                  <a:srgbClr val="10B981"/>
                </a:solidFill>
                <a:latin typeface="Calibri" pitchFamily="34" charset="0"/>
                <a:ea typeface="Calibri" pitchFamily="34" charset="-122"/>
                <a:cs typeface="Calibri" pitchFamily="34" charset="-120"/>
              </a:rPr>
              <a:t>Squad C</a:t>
            </a:r>
            <a:endParaRPr lang="en-US" sz="1000" dirty="0"/>
          </a:p>
        </p:txBody>
      </p:sp>
      <p:sp>
        <p:nvSpPr>
          <p:cNvPr id="25" name="Text 23"/>
          <p:cNvSpPr/>
          <p:nvPr/>
        </p:nvSpPr>
        <p:spPr>
          <a:xfrm>
            <a:off x="4663440" y="3557016"/>
            <a:ext cx="1828800" cy="566928"/>
          </a:xfrm>
          <a:prstGeom prst="rect">
            <a:avLst/>
          </a:prstGeom>
          <a:noFill/>
          <a:ln/>
        </p:spPr>
        <p:txBody>
          <a:bodyPr wrap="square"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Autonomous team</a:t>
            </a:r>
            <a:endParaRPr lang="en-US" sz="850" dirty="0"/>
          </a:p>
          <a:p>
            <a:pPr algn="ctr" indent="0" marL="0">
              <a:buNone/>
            </a:pPr>
            <a:r>
              <a:rPr lang="en-US" sz="850" dirty="0">
                <a:solidFill>
                  <a:srgbClr val="334155"/>
                </a:solidFill>
                <a:latin typeface="Calibri" pitchFamily="34" charset="0"/>
                <a:ea typeface="Calibri" pitchFamily="34" charset="-122"/>
                <a:cs typeface="Calibri" pitchFamily="34" charset="-120"/>
              </a:rPr>
              <a:t>(like a Scrum team)</a:t>
            </a:r>
            <a:endParaRPr lang="en-US" sz="850" dirty="0"/>
          </a:p>
        </p:txBody>
      </p:sp>
      <p:sp>
        <p:nvSpPr>
          <p:cNvPr id="26" name="Shape 24"/>
          <p:cNvSpPr/>
          <p:nvPr/>
        </p:nvSpPr>
        <p:spPr>
          <a:xfrm>
            <a:off x="6675120" y="3227832"/>
            <a:ext cx="1828800" cy="960120"/>
          </a:xfrm>
          <a:prstGeom prst="rect">
            <a:avLst/>
          </a:prstGeom>
          <a:solidFill>
            <a:srgbClr val="D6EAF7"/>
          </a:solidFill>
          <a:ln w="12700">
            <a:solidFill>
              <a:srgbClr val="7C3AED"/>
            </a:solidFill>
            <a:prstDash val="solid"/>
          </a:ln>
        </p:spPr>
      </p:sp>
      <p:sp>
        <p:nvSpPr>
          <p:cNvPr id="27" name="Text 25"/>
          <p:cNvSpPr/>
          <p:nvPr/>
        </p:nvSpPr>
        <p:spPr>
          <a:xfrm>
            <a:off x="6675120" y="3264408"/>
            <a:ext cx="1828800" cy="256032"/>
          </a:xfrm>
          <a:prstGeom prst="rect">
            <a:avLst/>
          </a:prstGeom>
          <a:noFill/>
          <a:ln/>
        </p:spPr>
        <p:txBody>
          <a:bodyPr wrap="square" lIns="0" tIns="0" rIns="0" bIns="0" rtlCol="0" anchor="ctr"/>
          <a:lstStyle/>
          <a:p>
            <a:pPr algn="ctr" indent="0" marL="0">
              <a:buNone/>
            </a:pPr>
            <a:r>
              <a:rPr lang="en-US" sz="1000" b="1" dirty="0">
                <a:solidFill>
                  <a:srgbClr val="7C3AED"/>
                </a:solidFill>
                <a:latin typeface="Calibri" pitchFamily="34" charset="0"/>
                <a:ea typeface="Calibri" pitchFamily="34" charset="-122"/>
                <a:cs typeface="Calibri" pitchFamily="34" charset="-120"/>
              </a:rPr>
              <a:t>Squad D</a:t>
            </a:r>
            <a:endParaRPr lang="en-US" sz="1000" dirty="0"/>
          </a:p>
        </p:txBody>
      </p:sp>
      <p:sp>
        <p:nvSpPr>
          <p:cNvPr id="28" name="Text 26"/>
          <p:cNvSpPr/>
          <p:nvPr/>
        </p:nvSpPr>
        <p:spPr>
          <a:xfrm>
            <a:off x="6675120" y="3557016"/>
            <a:ext cx="1828800" cy="566928"/>
          </a:xfrm>
          <a:prstGeom prst="rect">
            <a:avLst/>
          </a:prstGeom>
          <a:noFill/>
          <a:ln/>
        </p:spPr>
        <p:txBody>
          <a:bodyPr wrap="square"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Autonomous team</a:t>
            </a:r>
            <a:endParaRPr lang="en-US" sz="850" dirty="0"/>
          </a:p>
          <a:p>
            <a:pPr algn="ctr" indent="0" marL="0">
              <a:buNone/>
            </a:pPr>
            <a:r>
              <a:rPr lang="en-US" sz="850" dirty="0">
                <a:solidFill>
                  <a:srgbClr val="334155"/>
                </a:solidFill>
                <a:latin typeface="Calibri" pitchFamily="34" charset="0"/>
                <a:ea typeface="Calibri" pitchFamily="34" charset="-122"/>
                <a:cs typeface="Calibri" pitchFamily="34" charset="-120"/>
              </a:rPr>
              <a:t>(like a Scrum team)</a:t>
            </a:r>
            <a:endParaRPr lang="en-US" sz="850" dirty="0"/>
          </a:p>
        </p:txBody>
      </p:sp>
      <p:sp>
        <p:nvSpPr>
          <p:cNvPr id="29" name="Shape 27"/>
          <p:cNvSpPr/>
          <p:nvPr/>
        </p:nvSpPr>
        <p:spPr>
          <a:xfrm>
            <a:off x="4617720" y="4389120"/>
            <a:ext cx="1737360" cy="256032"/>
          </a:xfrm>
          <a:prstGeom prst="rect">
            <a:avLst/>
          </a:prstGeom>
          <a:solidFill>
            <a:srgbClr val="1A5296"/>
          </a:solidFill>
          <a:ln w="12700">
            <a:solidFill>
              <a:srgbClr val="1A5296"/>
            </a:solidFill>
            <a:prstDash val="solid"/>
          </a:ln>
        </p:spPr>
      </p:sp>
      <p:sp>
        <p:nvSpPr>
          <p:cNvPr id="30" name="Text 28"/>
          <p:cNvSpPr/>
          <p:nvPr/>
        </p:nvSpPr>
        <p:spPr>
          <a:xfrm>
            <a:off x="4617720" y="4389120"/>
            <a:ext cx="173736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CHAPTER</a:t>
            </a:r>
            <a:endParaRPr lang="en-US" sz="900" dirty="0"/>
          </a:p>
        </p:txBody>
      </p:sp>
      <p:sp>
        <p:nvSpPr>
          <p:cNvPr id="31" name="Text 29"/>
          <p:cNvSpPr/>
          <p:nvPr/>
        </p:nvSpPr>
        <p:spPr>
          <a:xfrm>
            <a:off x="4617720" y="4663440"/>
            <a:ext cx="1737360" cy="292608"/>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Skill community</a:t>
            </a:r>
            <a:endParaRPr lang="en-US" sz="800" dirty="0"/>
          </a:p>
          <a:p>
            <a:pPr algn="ctr" indent="0" marL="0">
              <a:buNone/>
            </a:pPr>
            <a:r>
              <a:rPr lang="en-US" sz="800" dirty="0">
                <a:solidFill>
                  <a:srgbClr val="334155"/>
                </a:solidFill>
                <a:latin typeface="Calibri" pitchFamily="34" charset="0"/>
                <a:ea typeface="Calibri" pitchFamily="34" charset="-122"/>
                <a:cs typeface="Calibri" pitchFamily="34" charset="-120"/>
              </a:rPr>
              <a:t>within tribe</a:t>
            </a:r>
            <a:endParaRPr lang="en-US" sz="800" dirty="0"/>
          </a:p>
        </p:txBody>
      </p:sp>
      <p:sp>
        <p:nvSpPr>
          <p:cNvPr id="32" name="Shape 30"/>
          <p:cNvSpPr/>
          <p:nvPr/>
        </p:nvSpPr>
        <p:spPr>
          <a:xfrm>
            <a:off x="6858000" y="4389120"/>
            <a:ext cx="1737360" cy="256032"/>
          </a:xfrm>
          <a:prstGeom prst="rect">
            <a:avLst/>
          </a:prstGeom>
          <a:solidFill>
            <a:srgbClr val="7C3AED"/>
          </a:solidFill>
          <a:ln w="12700">
            <a:solidFill>
              <a:srgbClr val="7C3AED"/>
            </a:solidFill>
            <a:prstDash val="solid"/>
          </a:ln>
        </p:spPr>
      </p:sp>
      <p:sp>
        <p:nvSpPr>
          <p:cNvPr id="33" name="Text 31"/>
          <p:cNvSpPr/>
          <p:nvPr/>
        </p:nvSpPr>
        <p:spPr>
          <a:xfrm>
            <a:off x="6858000" y="4389120"/>
            <a:ext cx="173736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GUILD</a:t>
            </a:r>
            <a:endParaRPr lang="en-US" sz="900" dirty="0"/>
          </a:p>
        </p:txBody>
      </p:sp>
      <p:sp>
        <p:nvSpPr>
          <p:cNvPr id="34" name="Text 32"/>
          <p:cNvSpPr/>
          <p:nvPr/>
        </p:nvSpPr>
        <p:spPr>
          <a:xfrm>
            <a:off x="6858000" y="4663440"/>
            <a:ext cx="1737360" cy="292608"/>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Cross-tribe</a:t>
            </a:r>
            <a:endParaRPr lang="en-US" sz="800" dirty="0"/>
          </a:p>
          <a:p>
            <a:pPr algn="ctr" indent="0" marL="0">
              <a:buNone/>
            </a:pPr>
            <a:r>
              <a:rPr lang="en-US" sz="800" dirty="0">
                <a:solidFill>
                  <a:srgbClr val="334155"/>
                </a:solidFill>
                <a:latin typeface="Calibri" pitchFamily="34" charset="0"/>
                <a:ea typeface="Calibri" pitchFamily="34" charset="-122"/>
                <a:cs typeface="Calibri" pitchFamily="34" charset="-120"/>
              </a:rPr>
              <a:t>interest group</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Motivation &amp; Conflict Management</a:t>
            </a:r>
            <a:endParaRPr lang="en-US" sz="3000" dirty="0"/>
          </a:p>
        </p:txBody>
      </p:sp>
      <p:sp>
        <p:nvSpPr>
          <p:cNvPr id="3" name="Text 1"/>
          <p:cNvSpPr/>
          <p:nvPr/>
        </p:nvSpPr>
        <p:spPr>
          <a:xfrm>
            <a:off x="457200" y="841248"/>
            <a:ext cx="8229600" cy="320040"/>
          </a:xfrm>
          <a:prstGeom prst="rect">
            <a:avLst/>
          </a:prstGeom>
          <a:noFill/>
          <a:ln/>
        </p:spPr>
        <p:txBody>
          <a:bodyPr wrap="square" rtlCol="0" anchor="ctr"/>
          <a:lstStyle/>
          <a:p>
            <a:pPr indent="0" marL="0">
              <a:buNone/>
            </a:pPr>
            <a:r>
              <a:rPr lang="en-US" sz="1400" dirty="0">
                <a:solidFill>
                  <a:srgbClr val="0891B2"/>
                </a:solidFill>
                <a:latin typeface="Calibri" pitchFamily="34" charset="0"/>
                <a:ea typeface="Calibri" pitchFamily="34" charset="-122"/>
                <a:cs typeface="Calibri" pitchFamily="34" charset="-120"/>
              </a:rPr>
              <a:t>Motivational theory and evidence-based conflict resolution</a:t>
            </a:r>
            <a:endParaRPr lang="en-US" sz="1400" dirty="0"/>
          </a:p>
        </p:txBody>
      </p:sp>
      <p:sp>
        <p:nvSpPr>
          <p:cNvPr id="4" name="Shape 2"/>
          <p:cNvSpPr/>
          <p:nvPr/>
        </p:nvSpPr>
        <p:spPr>
          <a:xfrm>
            <a:off x="457200" y="1143000"/>
            <a:ext cx="8229600" cy="22860"/>
          </a:xfrm>
          <a:prstGeom prst="rect">
            <a:avLst/>
          </a:prstGeom>
          <a:solidFill>
            <a:srgbClr val="0891B2"/>
          </a:solidFill>
          <a:ln w="12700">
            <a:solidFill>
              <a:srgbClr val="0891B2"/>
            </a:solidFill>
            <a:prstDash val="solid"/>
          </a:ln>
        </p:spPr>
      </p:sp>
      <p:sp>
        <p:nvSpPr>
          <p:cNvPr id="5" name="Text 3"/>
          <p:cNvSpPr/>
          <p:nvPr/>
        </p:nvSpPr>
        <p:spPr>
          <a:xfrm>
            <a:off x="347472" y="1325880"/>
            <a:ext cx="4114800" cy="274320"/>
          </a:xfrm>
          <a:prstGeom prst="rect">
            <a:avLst/>
          </a:prstGeom>
          <a:noFill/>
          <a:ln/>
        </p:spPr>
        <p:txBody>
          <a:bodyPr wrap="square" rtlCol="0" anchor="ctr"/>
          <a:lstStyle/>
          <a:p>
            <a:pPr indent="0" marL="0">
              <a:buNone/>
            </a:pPr>
            <a:r>
              <a:rPr lang="en-US" sz="1300" b="1" dirty="0">
                <a:solidFill>
                  <a:srgbClr val="0D1F3C"/>
                </a:solidFill>
                <a:latin typeface="Calibri" pitchFamily="34" charset="0"/>
                <a:ea typeface="Calibri" pitchFamily="34" charset="-122"/>
                <a:cs typeface="Calibri" pitchFamily="34" charset="-120"/>
              </a:rPr>
              <a:t>Motivational Frameworks</a:t>
            </a:r>
            <a:endParaRPr lang="en-US" sz="1300" dirty="0"/>
          </a:p>
        </p:txBody>
      </p:sp>
      <p:sp>
        <p:nvSpPr>
          <p:cNvPr id="6" name="Shape 4"/>
          <p:cNvSpPr/>
          <p:nvPr/>
        </p:nvSpPr>
        <p:spPr>
          <a:xfrm>
            <a:off x="347472" y="1691640"/>
            <a:ext cx="4023360" cy="9601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347472" y="1691640"/>
            <a:ext cx="73152" cy="960120"/>
          </a:xfrm>
          <a:prstGeom prst="rect">
            <a:avLst/>
          </a:prstGeom>
          <a:solidFill>
            <a:srgbClr val="1A5296"/>
          </a:solidFill>
          <a:ln w="12700">
            <a:solidFill>
              <a:srgbClr val="1A5296"/>
            </a:solidFill>
            <a:prstDash val="solid"/>
          </a:ln>
        </p:spPr>
      </p:sp>
      <p:sp>
        <p:nvSpPr>
          <p:cNvPr id="8" name="Shape 6"/>
          <p:cNvSpPr/>
          <p:nvPr/>
        </p:nvSpPr>
        <p:spPr>
          <a:xfrm>
            <a:off x="347472" y="1691640"/>
            <a:ext cx="914400" cy="960120"/>
          </a:xfrm>
          <a:prstGeom prst="rect">
            <a:avLst/>
          </a:prstGeom>
          <a:solidFill>
            <a:srgbClr val="E8EFF8"/>
          </a:solidFill>
          <a:ln w="12700">
            <a:solidFill>
              <a:srgbClr val="E8EFF8"/>
            </a:solidFill>
            <a:prstDash val="solid"/>
          </a:ln>
        </p:spPr>
      </p:sp>
      <p:sp>
        <p:nvSpPr>
          <p:cNvPr id="9" name="Text 7"/>
          <p:cNvSpPr/>
          <p:nvPr/>
        </p:nvSpPr>
        <p:spPr>
          <a:xfrm>
            <a:off x="457200" y="1746504"/>
            <a:ext cx="804672" cy="457200"/>
          </a:xfrm>
          <a:prstGeom prst="rect">
            <a:avLst/>
          </a:prstGeom>
          <a:noFill/>
          <a:ln/>
        </p:spPr>
        <p:txBody>
          <a:bodyPr wrap="square" rtlCol="0" anchor="ctr"/>
          <a:lstStyle/>
          <a:p>
            <a:pPr algn="ctr" indent="0" marL="0">
              <a:buNone/>
            </a:pPr>
            <a:r>
              <a:rPr lang="en-US" sz="950" b="1" dirty="0">
                <a:solidFill>
                  <a:srgbClr val="1A5296"/>
                </a:solidFill>
                <a:latin typeface="Calibri" pitchFamily="34" charset="0"/>
                <a:ea typeface="Calibri" pitchFamily="34" charset="-122"/>
                <a:cs typeface="Calibri" pitchFamily="34" charset="-120"/>
              </a:rPr>
              <a:t>Maslow's Hierarchy</a:t>
            </a:r>
            <a:endParaRPr lang="en-US" sz="950" dirty="0"/>
          </a:p>
        </p:txBody>
      </p:sp>
      <p:sp>
        <p:nvSpPr>
          <p:cNvPr id="10" name="Text 8"/>
          <p:cNvSpPr/>
          <p:nvPr/>
        </p:nvSpPr>
        <p:spPr>
          <a:xfrm>
            <a:off x="1316736" y="1746504"/>
            <a:ext cx="2944368" cy="822960"/>
          </a:xfrm>
          <a:prstGeom prst="rect">
            <a:avLst/>
          </a:prstGeom>
          <a:noFill/>
          <a:ln/>
        </p:spPr>
        <p:txBody>
          <a:bodyPr wrap="square" rtlCol="0" anchor="ctr"/>
          <a:lstStyle/>
          <a:p>
            <a:pPr indent="0" marL="0">
              <a:buNone/>
            </a:pPr>
            <a:r>
              <a:rPr lang="en-US" sz="950" dirty="0">
                <a:solidFill>
                  <a:srgbClr val="334155"/>
                </a:solidFill>
                <a:latin typeface="Calibri" pitchFamily="34" charset="0"/>
                <a:ea typeface="Calibri" pitchFamily="34" charset="-122"/>
                <a:cs typeface="Calibri" pitchFamily="34" charset="-120"/>
              </a:rPr>
              <a:t>Physiological → Safety → Belonging → Esteem → Self-actualization</a:t>
            </a:r>
            <a:endParaRPr lang="en-US" sz="950" dirty="0"/>
          </a:p>
          <a:p>
            <a:pPr indent="0" marL="0">
              <a:buNone/>
            </a:pPr>
            <a:r>
              <a:rPr lang="en-US" sz="950" dirty="0">
                <a:solidFill>
                  <a:srgbClr val="334155"/>
                </a:solidFill>
                <a:latin typeface="Calibri" pitchFamily="34" charset="0"/>
                <a:ea typeface="Calibri" pitchFamily="34" charset="-122"/>
                <a:cs typeface="Calibri" pitchFamily="34" charset="-120"/>
              </a:rPr>
              <a:t>→ Ensure fair pay &amp; security before expecting peak performance</a:t>
            </a:r>
            <a:endParaRPr lang="en-US" sz="950" dirty="0"/>
          </a:p>
        </p:txBody>
      </p:sp>
      <p:sp>
        <p:nvSpPr>
          <p:cNvPr id="11" name="Shape 9"/>
          <p:cNvSpPr/>
          <p:nvPr/>
        </p:nvSpPr>
        <p:spPr>
          <a:xfrm>
            <a:off x="347472" y="2770632"/>
            <a:ext cx="4023360" cy="9601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347472" y="2770632"/>
            <a:ext cx="73152" cy="960120"/>
          </a:xfrm>
          <a:prstGeom prst="rect">
            <a:avLst/>
          </a:prstGeom>
          <a:solidFill>
            <a:srgbClr val="0891B2"/>
          </a:solidFill>
          <a:ln w="12700">
            <a:solidFill>
              <a:srgbClr val="0891B2"/>
            </a:solidFill>
            <a:prstDash val="solid"/>
          </a:ln>
        </p:spPr>
      </p:sp>
      <p:sp>
        <p:nvSpPr>
          <p:cNvPr id="13" name="Shape 11"/>
          <p:cNvSpPr/>
          <p:nvPr/>
        </p:nvSpPr>
        <p:spPr>
          <a:xfrm>
            <a:off x="347472" y="2770632"/>
            <a:ext cx="914400" cy="960120"/>
          </a:xfrm>
          <a:prstGeom prst="rect">
            <a:avLst/>
          </a:prstGeom>
          <a:solidFill>
            <a:srgbClr val="E8EFF8"/>
          </a:solidFill>
          <a:ln w="12700">
            <a:solidFill>
              <a:srgbClr val="E8EFF8"/>
            </a:solidFill>
            <a:prstDash val="solid"/>
          </a:ln>
        </p:spPr>
      </p:sp>
      <p:sp>
        <p:nvSpPr>
          <p:cNvPr id="14" name="Text 12"/>
          <p:cNvSpPr/>
          <p:nvPr/>
        </p:nvSpPr>
        <p:spPr>
          <a:xfrm>
            <a:off x="457200" y="2825496"/>
            <a:ext cx="804672" cy="457200"/>
          </a:xfrm>
          <a:prstGeom prst="rect">
            <a:avLst/>
          </a:prstGeom>
          <a:noFill/>
          <a:ln/>
        </p:spPr>
        <p:txBody>
          <a:bodyPr wrap="square" rtlCol="0" anchor="ctr"/>
          <a:lstStyle/>
          <a:p>
            <a:pPr algn="ctr" indent="0" marL="0">
              <a:buNone/>
            </a:pPr>
            <a:r>
              <a:rPr lang="en-US" sz="950" b="1" dirty="0">
                <a:solidFill>
                  <a:srgbClr val="0891B2"/>
                </a:solidFill>
                <a:latin typeface="Calibri" pitchFamily="34" charset="0"/>
                <a:ea typeface="Calibri" pitchFamily="34" charset="-122"/>
                <a:cs typeface="Calibri" pitchFamily="34" charset="-120"/>
              </a:rPr>
              <a:t>Herzberg's Two-Factor</a:t>
            </a:r>
            <a:endParaRPr lang="en-US" sz="950" dirty="0"/>
          </a:p>
        </p:txBody>
      </p:sp>
      <p:sp>
        <p:nvSpPr>
          <p:cNvPr id="15" name="Text 13"/>
          <p:cNvSpPr/>
          <p:nvPr/>
        </p:nvSpPr>
        <p:spPr>
          <a:xfrm>
            <a:off x="1316736" y="2825496"/>
            <a:ext cx="2944368" cy="822960"/>
          </a:xfrm>
          <a:prstGeom prst="rect">
            <a:avLst/>
          </a:prstGeom>
          <a:noFill/>
          <a:ln/>
        </p:spPr>
        <p:txBody>
          <a:bodyPr wrap="square" rtlCol="0" anchor="ctr"/>
          <a:lstStyle/>
          <a:p>
            <a:pPr indent="0" marL="0">
              <a:buNone/>
            </a:pPr>
            <a:r>
              <a:rPr lang="en-US" sz="950" dirty="0">
                <a:solidFill>
                  <a:srgbClr val="334155"/>
                </a:solidFill>
                <a:latin typeface="Calibri" pitchFamily="34" charset="0"/>
                <a:ea typeface="Calibri" pitchFamily="34" charset="-122"/>
                <a:cs typeface="Calibri" pitchFamily="34" charset="-120"/>
              </a:rPr>
              <a:t>Hygiene factors prevent dissatisfaction</a:t>
            </a:r>
            <a:endParaRPr lang="en-US" sz="950" dirty="0"/>
          </a:p>
          <a:p>
            <a:pPr indent="0" marL="0">
              <a:buNone/>
            </a:pPr>
            <a:r>
              <a:rPr lang="en-US" sz="950" dirty="0">
                <a:solidFill>
                  <a:srgbClr val="334155"/>
                </a:solidFill>
                <a:latin typeface="Calibri" pitchFamily="34" charset="0"/>
                <a:ea typeface="Calibri" pitchFamily="34" charset="-122"/>
                <a:cs typeface="Calibri" pitchFamily="34" charset="-120"/>
              </a:rPr>
              <a:t>Motivators drive satisfaction</a:t>
            </a:r>
            <a:endParaRPr lang="en-US" sz="950" dirty="0"/>
          </a:p>
          <a:p>
            <a:pPr indent="0" marL="0">
              <a:buNone/>
            </a:pPr>
            <a:r>
              <a:rPr lang="en-US" sz="950" dirty="0">
                <a:solidFill>
                  <a:srgbClr val="334155"/>
                </a:solidFill>
                <a:latin typeface="Calibri" pitchFamily="34" charset="0"/>
                <a:ea typeface="Calibri" pitchFamily="34" charset="-122"/>
                <a:cs typeface="Calibri" pitchFamily="34" charset="-120"/>
              </a:rPr>
              <a:t>→ Fix bad tools &amp; bureaucracy before adding recognition</a:t>
            </a:r>
            <a:endParaRPr lang="en-US" sz="950" dirty="0"/>
          </a:p>
        </p:txBody>
      </p:sp>
      <p:sp>
        <p:nvSpPr>
          <p:cNvPr id="16" name="Shape 14"/>
          <p:cNvSpPr/>
          <p:nvPr/>
        </p:nvSpPr>
        <p:spPr>
          <a:xfrm>
            <a:off x="347472" y="3849624"/>
            <a:ext cx="4023360" cy="9601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347472" y="3849624"/>
            <a:ext cx="73152" cy="960120"/>
          </a:xfrm>
          <a:prstGeom prst="rect">
            <a:avLst/>
          </a:prstGeom>
          <a:solidFill>
            <a:srgbClr val="7C3AED"/>
          </a:solidFill>
          <a:ln w="12700">
            <a:solidFill>
              <a:srgbClr val="7C3AED"/>
            </a:solidFill>
            <a:prstDash val="solid"/>
          </a:ln>
        </p:spPr>
      </p:sp>
      <p:sp>
        <p:nvSpPr>
          <p:cNvPr id="18" name="Shape 16"/>
          <p:cNvSpPr/>
          <p:nvPr/>
        </p:nvSpPr>
        <p:spPr>
          <a:xfrm>
            <a:off x="347472" y="3849624"/>
            <a:ext cx="914400" cy="960120"/>
          </a:xfrm>
          <a:prstGeom prst="rect">
            <a:avLst/>
          </a:prstGeom>
          <a:solidFill>
            <a:srgbClr val="E8EFF8"/>
          </a:solidFill>
          <a:ln w="12700">
            <a:solidFill>
              <a:srgbClr val="E8EFF8"/>
            </a:solidFill>
            <a:prstDash val="solid"/>
          </a:ln>
        </p:spPr>
      </p:sp>
      <p:sp>
        <p:nvSpPr>
          <p:cNvPr id="19" name="Text 17"/>
          <p:cNvSpPr/>
          <p:nvPr/>
        </p:nvSpPr>
        <p:spPr>
          <a:xfrm>
            <a:off x="457200" y="3904488"/>
            <a:ext cx="804672" cy="457200"/>
          </a:xfrm>
          <a:prstGeom prst="rect">
            <a:avLst/>
          </a:prstGeom>
          <a:noFill/>
          <a:ln/>
        </p:spPr>
        <p:txBody>
          <a:bodyPr wrap="square" rtlCol="0" anchor="ctr"/>
          <a:lstStyle/>
          <a:p>
            <a:pPr algn="ctr" indent="0" marL="0">
              <a:buNone/>
            </a:pPr>
            <a:r>
              <a:rPr lang="en-US" sz="950" b="1" dirty="0">
                <a:solidFill>
                  <a:srgbClr val="7C3AED"/>
                </a:solidFill>
                <a:latin typeface="Calibri" pitchFamily="34" charset="0"/>
                <a:ea typeface="Calibri" pitchFamily="34" charset="-122"/>
                <a:cs typeface="Calibri" pitchFamily="34" charset="-120"/>
              </a:rPr>
              <a:t>Pink's Drive</a:t>
            </a:r>
            <a:endParaRPr lang="en-US" sz="950" dirty="0"/>
          </a:p>
        </p:txBody>
      </p:sp>
      <p:sp>
        <p:nvSpPr>
          <p:cNvPr id="20" name="Text 18"/>
          <p:cNvSpPr/>
          <p:nvPr/>
        </p:nvSpPr>
        <p:spPr>
          <a:xfrm>
            <a:off x="1316736" y="3904488"/>
            <a:ext cx="2944368" cy="822960"/>
          </a:xfrm>
          <a:prstGeom prst="rect">
            <a:avLst/>
          </a:prstGeom>
          <a:noFill/>
          <a:ln/>
        </p:spPr>
        <p:txBody>
          <a:bodyPr wrap="square" rtlCol="0" anchor="ctr"/>
          <a:lstStyle/>
          <a:p>
            <a:pPr indent="0" marL="0">
              <a:buNone/>
            </a:pPr>
            <a:r>
              <a:rPr lang="en-US" sz="950" dirty="0">
                <a:solidFill>
                  <a:srgbClr val="334155"/>
                </a:solidFill>
                <a:latin typeface="Calibri" pitchFamily="34" charset="0"/>
                <a:ea typeface="Calibri" pitchFamily="34" charset="-122"/>
                <a:cs typeface="Calibri" pitchFamily="34" charset="-120"/>
              </a:rPr>
              <a:t>Autonomy · Mastery · Purpose</a:t>
            </a:r>
            <a:endParaRPr lang="en-US" sz="950" dirty="0"/>
          </a:p>
          <a:p>
            <a:pPr indent="0" marL="0">
              <a:buNone/>
            </a:pPr>
            <a:r>
              <a:rPr lang="en-US" sz="950" dirty="0">
                <a:solidFill>
                  <a:srgbClr val="334155"/>
                </a:solidFill>
                <a:latin typeface="Calibri" pitchFamily="34" charset="0"/>
                <a:ea typeface="Calibri" pitchFamily="34" charset="-122"/>
                <a:cs typeface="Calibri" pitchFamily="34" charset="-120"/>
              </a:rPr>
              <a:t>→ Best aligned with knowledge worker expectations</a:t>
            </a:r>
            <a:endParaRPr lang="en-US" sz="950" dirty="0"/>
          </a:p>
          <a:p>
            <a:pPr indent="0" marL="0">
              <a:buNone/>
            </a:pPr>
            <a:r>
              <a:rPr lang="en-US" sz="950" dirty="0">
                <a:solidFill>
                  <a:srgbClr val="334155"/>
                </a:solidFill>
                <a:latin typeface="Calibri" pitchFamily="34" charset="0"/>
                <a:ea typeface="Calibri" pitchFamily="34" charset="-122"/>
                <a:cs typeface="Calibri" pitchFamily="34" charset="-120"/>
              </a:rPr>
              <a:t>→ Used explicitly in Google's EM framework</a:t>
            </a:r>
            <a:endParaRPr lang="en-US" sz="950" dirty="0"/>
          </a:p>
        </p:txBody>
      </p:sp>
      <p:sp>
        <p:nvSpPr>
          <p:cNvPr id="21" name="Text 19"/>
          <p:cNvSpPr/>
          <p:nvPr/>
        </p:nvSpPr>
        <p:spPr>
          <a:xfrm>
            <a:off x="4617720" y="1325880"/>
            <a:ext cx="4178808" cy="274320"/>
          </a:xfrm>
          <a:prstGeom prst="rect">
            <a:avLst/>
          </a:prstGeom>
          <a:noFill/>
          <a:ln/>
        </p:spPr>
        <p:txBody>
          <a:bodyPr wrap="square" rtlCol="0" anchor="ctr"/>
          <a:lstStyle/>
          <a:p>
            <a:pPr indent="0" marL="0">
              <a:buNone/>
            </a:pPr>
            <a:r>
              <a:rPr lang="en-US" sz="1150" b="1" dirty="0">
                <a:solidFill>
                  <a:srgbClr val="0D1F3C"/>
                </a:solidFill>
                <a:latin typeface="Calibri" pitchFamily="34" charset="0"/>
                <a:ea typeface="Calibri" pitchFamily="34" charset="-122"/>
                <a:cs typeface="Calibri" pitchFamily="34" charset="-120"/>
              </a:rPr>
              <a:t>Conflict Management — Thomas-Kilmann Model</a:t>
            </a:r>
            <a:endParaRPr lang="en-US" sz="1150" dirty="0"/>
          </a:p>
        </p:txBody>
      </p:sp>
      <p:sp>
        <p:nvSpPr>
          <p:cNvPr id="22" name="Shape 20"/>
          <p:cNvSpPr/>
          <p:nvPr/>
        </p:nvSpPr>
        <p:spPr>
          <a:xfrm>
            <a:off x="4617720" y="1691640"/>
            <a:ext cx="1417320" cy="457200"/>
          </a:xfrm>
          <a:prstGeom prst="rect">
            <a:avLst/>
          </a:prstGeom>
          <a:solidFill>
            <a:srgbClr val="10B981"/>
          </a:solidFill>
          <a:ln w="12700">
            <a:solidFill>
              <a:srgbClr val="10B981"/>
            </a:solidFill>
            <a:prstDash val="solid"/>
          </a:ln>
        </p:spPr>
      </p:sp>
      <p:sp>
        <p:nvSpPr>
          <p:cNvPr id="23" name="Text 21"/>
          <p:cNvSpPr/>
          <p:nvPr/>
        </p:nvSpPr>
        <p:spPr>
          <a:xfrm>
            <a:off x="4617720" y="1691640"/>
            <a:ext cx="141732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Collaborating</a:t>
            </a:r>
            <a:endParaRPr lang="en-US" sz="1000" dirty="0"/>
          </a:p>
        </p:txBody>
      </p:sp>
      <p:sp>
        <p:nvSpPr>
          <p:cNvPr id="24" name="Shape 22"/>
          <p:cNvSpPr/>
          <p:nvPr/>
        </p:nvSpPr>
        <p:spPr>
          <a:xfrm>
            <a:off x="6080760" y="1691640"/>
            <a:ext cx="2715768" cy="457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5" name="Text 23"/>
          <p:cNvSpPr/>
          <p:nvPr/>
        </p:nvSpPr>
        <p:spPr>
          <a:xfrm>
            <a:off x="6144768" y="1728216"/>
            <a:ext cx="2606040" cy="384048"/>
          </a:xfrm>
          <a:prstGeom prst="rect">
            <a:avLst/>
          </a:prstGeom>
          <a:noFill/>
          <a:ln/>
        </p:spPr>
        <p:txBody>
          <a:bodyPr wrap="square" rtlCol="0" anchor="ctr"/>
          <a:lstStyle/>
          <a:p>
            <a:pPr indent="0" marL="0">
              <a:buNone/>
            </a:pPr>
            <a:r>
              <a:rPr lang="en-US" sz="950" dirty="0">
                <a:solidFill>
                  <a:srgbClr val="334155"/>
                </a:solidFill>
                <a:latin typeface="Calibri" pitchFamily="34" charset="0"/>
                <a:ea typeface="Calibri" pitchFamily="34" charset="-122"/>
                <a:cs typeface="Calibri" pitchFamily="34" charset="-120"/>
              </a:rPr>
              <a:t>Win-Win — best for high-stakes technical decisions</a:t>
            </a:r>
            <a:endParaRPr lang="en-US" sz="950" dirty="0"/>
          </a:p>
        </p:txBody>
      </p:sp>
      <p:sp>
        <p:nvSpPr>
          <p:cNvPr id="26" name="Shape 24"/>
          <p:cNvSpPr/>
          <p:nvPr/>
        </p:nvSpPr>
        <p:spPr>
          <a:xfrm>
            <a:off x="4617720" y="2258568"/>
            <a:ext cx="1417320" cy="457200"/>
          </a:xfrm>
          <a:prstGeom prst="rect">
            <a:avLst/>
          </a:prstGeom>
          <a:solidFill>
            <a:srgbClr val="F59E0B"/>
          </a:solidFill>
          <a:ln w="12700">
            <a:solidFill>
              <a:srgbClr val="F59E0B"/>
            </a:solidFill>
            <a:prstDash val="solid"/>
          </a:ln>
        </p:spPr>
      </p:sp>
      <p:sp>
        <p:nvSpPr>
          <p:cNvPr id="27" name="Text 25"/>
          <p:cNvSpPr/>
          <p:nvPr/>
        </p:nvSpPr>
        <p:spPr>
          <a:xfrm>
            <a:off x="4617720" y="2258568"/>
            <a:ext cx="141732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Compromising</a:t>
            </a:r>
            <a:endParaRPr lang="en-US" sz="1000" dirty="0"/>
          </a:p>
        </p:txBody>
      </p:sp>
      <p:sp>
        <p:nvSpPr>
          <p:cNvPr id="28" name="Shape 26"/>
          <p:cNvSpPr/>
          <p:nvPr/>
        </p:nvSpPr>
        <p:spPr>
          <a:xfrm>
            <a:off x="6080760" y="2258568"/>
            <a:ext cx="2715768" cy="457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9" name="Text 27"/>
          <p:cNvSpPr/>
          <p:nvPr/>
        </p:nvSpPr>
        <p:spPr>
          <a:xfrm>
            <a:off x="6144768" y="2295144"/>
            <a:ext cx="2606040" cy="384048"/>
          </a:xfrm>
          <a:prstGeom prst="rect">
            <a:avLst/>
          </a:prstGeom>
          <a:noFill/>
          <a:ln/>
        </p:spPr>
        <p:txBody>
          <a:bodyPr wrap="square" rtlCol="0" anchor="ctr"/>
          <a:lstStyle/>
          <a:p>
            <a:pPr indent="0" marL="0">
              <a:buNone/>
            </a:pPr>
            <a:r>
              <a:rPr lang="en-US" sz="950" dirty="0">
                <a:solidFill>
                  <a:srgbClr val="334155"/>
                </a:solidFill>
                <a:latin typeface="Calibri" pitchFamily="34" charset="0"/>
                <a:ea typeface="Calibri" pitchFamily="34" charset="-122"/>
                <a:cs typeface="Calibri" pitchFamily="34" charset="-120"/>
              </a:rPr>
              <a:t>Partial win — useful for time-constrained choices</a:t>
            </a:r>
            <a:endParaRPr lang="en-US" sz="950" dirty="0"/>
          </a:p>
        </p:txBody>
      </p:sp>
      <p:sp>
        <p:nvSpPr>
          <p:cNvPr id="30" name="Shape 28"/>
          <p:cNvSpPr/>
          <p:nvPr/>
        </p:nvSpPr>
        <p:spPr>
          <a:xfrm>
            <a:off x="4617720" y="2825496"/>
            <a:ext cx="1417320" cy="457200"/>
          </a:xfrm>
          <a:prstGeom prst="rect">
            <a:avLst/>
          </a:prstGeom>
          <a:solidFill>
            <a:srgbClr val="0891B2"/>
          </a:solidFill>
          <a:ln w="12700">
            <a:solidFill>
              <a:srgbClr val="0891B2"/>
            </a:solidFill>
            <a:prstDash val="solid"/>
          </a:ln>
        </p:spPr>
      </p:sp>
      <p:sp>
        <p:nvSpPr>
          <p:cNvPr id="31" name="Text 29"/>
          <p:cNvSpPr/>
          <p:nvPr/>
        </p:nvSpPr>
        <p:spPr>
          <a:xfrm>
            <a:off x="4617720" y="2825496"/>
            <a:ext cx="141732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Accommodating</a:t>
            </a:r>
            <a:endParaRPr lang="en-US" sz="1000" dirty="0"/>
          </a:p>
        </p:txBody>
      </p:sp>
      <p:sp>
        <p:nvSpPr>
          <p:cNvPr id="32" name="Shape 30"/>
          <p:cNvSpPr/>
          <p:nvPr/>
        </p:nvSpPr>
        <p:spPr>
          <a:xfrm>
            <a:off x="6080760" y="2825496"/>
            <a:ext cx="2715768" cy="457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3" name="Text 31"/>
          <p:cNvSpPr/>
          <p:nvPr/>
        </p:nvSpPr>
        <p:spPr>
          <a:xfrm>
            <a:off x="6144768" y="2862072"/>
            <a:ext cx="2606040" cy="384048"/>
          </a:xfrm>
          <a:prstGeom prst="rect">
            <a:avLst/>
          </a:prstGeom>
          <a:noFill/>
          <a:ln/>
        </p:spPr>
        <p:txBody>
          <a:bodyPr wrap="square" rtlCol="0" anchor="ctr"/>
          <a:lstStyle/>
          <a:p>
            <a:pPr indent="0" marL="0">
              <a:buNone/>
            </a:pPr>
            <a:r>
              <a:rPr lang="en-US" sz="950" dirty="0">
                <a:solidFill>
                  <a:srgbClr val="334155"/>
                </a:solidFill>
                <a:latin typeface="Calibri" pitchFamily="34" charset="0"/>
                <a:ea typeface="Calibri" pitchFamily="34" charset="-122"/>
                <a:cs typeface="Calibri" pitchFamily="34" charset="-120"/>
              </a:rPr>
              <a:t>Yield — preserve relationship over outcome</a:t>
            </a:r>
            <a:endParaRPr lang="en-US" sz="950" dirty="0"/>
          </a:p>
        </p:txBody>
      </p:sp>
      <p:sp>
        <p:nvSpPr>
          <p:cNvPr id="34" name="Shape 32"/>
          <p:cNvSpPr/>
          <p:nvPr/>
        </p:nvSpPr>
        <p:spPr>
          <a:xfrm>
            <a:off x="4617720" y="3392424"/>
            <a:ext cx="1417320" cy="457200"/>
          </a:xfrm>
          <a:prstGeom prst="rect">
            <a:avLst/>
          </a:prstGeom>
          <a:solidFill>
            <a:srgbClr val="EF4444"/>
          </a:solidFill>
          <a:ln w="12700">
            <a:solidFill>
              <a:srgbClr val="EF4444"/>
            </a:solidFill>
            <a:prstDash val="solid"/>
          </a:ln>
        </p:spPr>
      </p:sp>
      <p:sp>
        <p:nvSpPr>
          <p:cNvPr id="35" name="Text 33"/>
          <p:cNvSpPr/>
          <p:nvPr/>
        </p:nvSpPr>
        <p:spPr>
          <a:xfrm>
            <a:off x="4617720" y="3392424"/>
            <a:ext cx="141732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Competing</a:t>
            </a:r>
            <a:endParaRPr lang="en-US" sz="1000" dirty="0"/>
          </a:p>
        </p:txBody>
      </p:sp>
      <p:sp>
        <p:nvSpPr>
          <p:cNvPr id="36" name="Shape 34"/>
          <p:cNvSpPr/>
          <p:nvPr/>
        </p:nvSpPr>
        <p:spPr>
          <a:xfrm>
            <a:off x="6080760" y="3392424"/>
            <a:ext cx="2715768" cy="457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7" name="Text 35"/>
          <p:cNvSpPr/>
          <p:nvPr/>
        </p:nvSpPr>
        <p:spPr>
          <a:xfrm>
            <a:off x="6144768" y="3429000"/>
            <a:ext cx="2606040" cy="384048"/>
          </a:xfrm>
          <a:prstGeom prst="rect">
            <a:avLst/>
          </a:prstGeom>
          <a:noFill/>
          <a:ln/>
        </p:spPr>
        <p:txBody>
          <a:bodyPr wrap="square" rtlCol="0" anchor="ctr"/>
          <a:lstStyle/>
          <a:p>
            <a:pPr indent="0" marL="0">
              <a:buNone/>
            </a:pPr>
            <a:r>
              <a:rPr lang="en-US" sz="950" dirty="0">
                <a:solidFill>
                  <a:srgbClr val="334155"/>
                </a:solidFill>
                <a:latin typeface="Calibri" pitchFamily="34" charset="0"/>
                <a:ea typeface="Calibri" pitchFamily="34" charset="-122"/>
                <a:cs typeface="Calibri" pitchFamily="34" charset="-120"/>
              </a:rPr>
              <a:t>Win-Lose — emergency decisions only</a:t>
            </a:r>
            <a:endParaRPr lang="en-US" sz="950" dirty="0"/>
          </a:p>
        </p:txBody>
      </p:sp>
      <p:sp>
        <p:nvSpPr>
          <p:cNvPr id="38" name="Shape 36"/>
          <p:cNvSpPr/>
          <p:nvPr/>
        </p:nvSpPr>
        <p:spPr>
          <a:xfrm>
            <a:off x="4617720" y="3959352"/>
            <a:ext cx="1417320" cy="457200"/>
          </a:xfrm>
          <a:prstGeom prst="rect">
            <a:avLst/>
          </a:prstGeom>
          <a:solidFill>
            <a:srgbClr val="64748B"/>
          </a:solidFill>
          <a:ln w="12700">
            <a:solidFill>
              <a:srgbClr val="64748B"/>
            </a:solidFill>
            <a:prstDash val="solid"/>
          </a:ln>
        </p:spPr>
      </p:sp>
      <p:sp>
        <p:nvSpPr>
          <p:cNvPr id="39" name="Text 37"/>
          <p:cNvSpPr/>
          <p:nvPr/>
        </p:nvSpPr>
        <p:spPr>
          <a:xfrm>
            <a:off x="4617720" y="3959352"/>
            <a:ext cx="141732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Avoiding</a:t>
            </a:r>
            <a:endParaRPr lang="en-US" sz="1000" dirty="0"/>
          </a:p>
        </p:txBody>
      </p:sp>
      <p:sp>
        <p:nvSpPr>
          <p:cNvPr id="40" name="Shape 38"/>
          <p:cNvSpPr/>
          <p:nvPr/>
        </p:nvSpPr>
        <p:spPr>
          <a:xfrm>
            <a:off x="6080760" y="3959352"/>
            <a:ext cx="2715768" cy="457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41" name="Text 39"/>
          <p:cNvSpPr/>
          <p:nvPr/>
        </p:nvSpPr>
        <p:spPr>
          <a:xfrm>
            <a:off x="6144768" y="3995928"/>
            <a:ext cx="2606040" cy="384048"/>
          </a:xfrm>
          <a:prstGeom prst="rect">
            <a:avLst/>
          </a:prstGeom>
          <a:noFill/>
          <a:ln/>
        </p:spPr>
        <p:txBody>
          <a:bodyPr wrap="square" rtlCol="0" anchor="ctr"/>
          <a:lstStyle/>
          <a:p>
            <a:pPr indent="0" marL="0">
              <a:buNone/>
            </a:pPr>
            <a:r>
              <a:rPr lang="en-US" sz="950" dirty="0">
                <a:solidFill>
                  <a:srgbClr val="334155"/>
                </a:solidFill>
                <a:latin typeface="Calibri" pitchFamily="34" charset="0"/>
                <a:ea typeface="Calibri" pitchFamily="34" charset="-122"/>
                <a:cs typeface="Calibri" pitchFamily="34" charset="-120"/>
              </a:rPr>
              <a:t>Delay — minor, low-priority conflicts only</a:t>
            </a:r>
            <a:endParaRPr lang="en-US" sz="950" dirty="0"/>
          </a:p>
        </p:txBody>
      </p:sp>
      <p:sp>
        <p:nvSpPr>
          <p:cNvPr id="42" name="Shape 40"/>
          <p:cNvSpPr/>
          <p:nvPr/>
        </p:nvSpPr>
        <p:spPr>
          <a:xfrm>
            <a:off x="4617720" y="4590288"/>
            <a:ext cx="4178808" cy="411480"/>
          </a:xfrm>
          <a:prstGeom prst="rect">
            <a:avLst/>
          </a:prstGeom>
          <a:solidFill>
            <a:srgbClr val="F0FDF4"/>
          </a:solidFill>
          <a:ln w="12700">
            <a:solidFill>
              <a:srgbClr val="BBF7D0"/>
            </a:solidFill>
            <a:prstDash val="solid"/>
          </a:ln>
        </p:spPr>
      </p:sp>
      <p:sp>
        <p:nvSpPr>
          <p:cNvPr id="43" name="Text 41"/>
          <p:cNvSpPr/>
          <p:nvPr/>
        </p:nvSpPr>
        <p:spPr>
          <a:xfrm>
            <a:off x="4663440" y="4608576"/>
            <a:ext cx="4087368" cy="365760"/>
          </a:xfrm>
          <a:prstGeom prst="rect">
            <a:avLst/>
          </a:prstGeom>
          <a:noFill/>
          <a:ln/>
        </p:spPr>
        <p:txBody>
          <a:bodyPr wrap="square" rtlCol="0" anchor="ctr"/>
          <a:lstStyle/>
          <a:p>
            <a:pPr indent="0" marL="0">
              <a:buNone/>
            </a:pPr>
            <a:r>
              <a:rPr lang="en-US" sz="900" dirty="0">
                <a:solidFill>
                  <a:srgbClr val="166534"/>
                </a:solidFill>
                <a:latin typeface="Calibri" pitchFamily="34" charset="0"/>
                <a:ea typeface="Calibri" pitchFamily="34" charset="-122"/>
                <a:cs typeface="Calibri" pitchFamily="34" charset="-120"/>
              </a:rPr>
              <a:t>✅  Google Blameless Postmortem: Frame incidents as systemic learning — not personal failure. Prevents blame-driven relationship conflict.</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Distributed &amp; Remote Teams</a:t>
            </a:r>
            <a:endParaRPr lang="en-US" sz="3000" dirty="0"/>
          </a:p>
        </p:txBody>
      </p:sp>
      <p:sp>
        <p:nvSpPr>
          <p:cNvPr id="3" name="Text 1"/>
          <p:cNvSpPr/>
          <p:nvPr/>
        </p:nvSpPr>
        <p:spPr>
          <a:xfrm>
            <a:off x="457200" y="841248"/>
            <a:ext cx="8229600" cy="320040"/>
          </a:xfrm>
          <a:prstGeom prst="rect">
            <a:avLst/>
          </a:prstGeom>
          <a:noFill/>
          <a:ln/>
        </p:spPr>
        <p:txBody>
          <a:bodyPr wrap="square" rtlCol="0" anchor="ctr"/>
          <a:lstStyle/>
          <a:p>
            <a:pPr indent="0" marL="0">
              <a:buNone/>
            </a:pPr>
            <a:r>
              <a:rPr lang="en-US" sz="1400" dirty="0">
                <a:solidFill>
                  <a:srgbClr val="0891B2"/>
                </a:solidFill>
                <a:latin typeface="Calibri" pitchFamily="34" charset="0"/>
                <a:ea typeface="Calibri" pitchFamily="34" charset="-122"/>
                <a:cs typeface="Calibri" pitchFamily="34" charset="-120"/>
              </a:rPr>
              <a:t>Managing across time zones, cultures, and communication channels</a:t>
            </a:r>
            <a:endParaRPr lang="en-US" sz="1400" dirty="0"/>
          </a:p>
        </p:txBody>
      </p:sp>
      <p:sp>
        <p:nvSpPr>
          <p:cNvPr id="4" name="Shape 2"/>
          <p:cNvSpPr/>
          <p:nvPr/>
        </p:nvSpPr>
        <p:spPr>
          <a:xfrm>
            <a:off x="457200" y="1143000"/>
            <a:ext cx="8229600" cy="22860"/>
          </a:xfrm>
          <a:prstGeom prst="rect">
            <a:avLst/>
          </a:prstGeom>
          <a:solidFill>
            <a:srgbClr val="0891B2"/>
          </a:solidFill>
          <a:ln w="12700">
            <a:solidFill>
              <a:srgbClr val="0891B2"/>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47472" y="1298448"/>
          <a:ext cx="8449056" cy="914400"/>
        </p:xfrm>
        <a:graphic>
          <a:graphicData uri="http://schemas.openxmlformats.org/drawingml/2006/table">
            <a:tbl>
              <a:tblPr/>
              <a:tblGrid>
                <a:gridCol w="2286000"/>
                <a:gridCol w="2926080"/>
                <a:gridCol w="3236976"/>
              </a:tblGrid>
              <a:tr h="47548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Dimension</a:t>
                      </a:r>
                      <a:endParaRPr lang="en-US" sz="11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1F3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Co-located</a:t>
                      </a:r>
                      <a:endParaRPr lang="en-US" sz="11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1F3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Distributed</a:t>
                      </a:r>
                      <a:endParaRPr lang="en-US" sz="11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1F3C"/>
                    </a:solidFill>
                  </a:tcPr>
                </a:tc>
              </a:tr>
              <a:tr h="475488">
                <a:tc>
                  <a:txBody>
                    <a:bodyPr/>
                    <a:lstStyle/>
                    <a:p>
                      <a:pPr algn="l" indent="0" marL="0">
                        <a:buNone/>
                      </a:pPr>
                      <a:r>
                        <a:rPr lang="en-US" sz="1000" dirty="0">
                          <a:solidFill>
                            <a:srgbClr val="1A5296"/>
                          </a:solidFill>
                          <a:latin typeface="Calibri" pitchFamily="34" charset="0"/>
                          <a:ea typeface="Calibri" pitchFamily="34" charset="-122"/>
                          <a:cs typeface="Calibri" pitchFamily="34" charset="-120"/>
                        </a:rPr>
                        <a:t>Communication bandwidth</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High — informal &amp; spontaneous</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Lower — requires deliberate structuring</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75488">
                <a:tc>
                  <a:txBody>
                    <a:bodyPr/>
                    <a:lstStyle/>
                    <a:p>
                      <a:pPr algn="l" indent="0" marL="0">
                        <a:buNone/>
                      </a:pPr>
                      <a:r>
                        <a:rPr lang="en-US" sz="1000" dirty="0">
                          <a:solidFill>
                            <a:srgbClr val="1A5296"/>
                          </a:solidFill>
                          <a:latin typeface="Calibri" pitchFamily="34" charset="0"/>
                          <a:ea typeface="Calibri" pitchFamily="34" charset="-122"/>
                          <a:cs typeface="Calibri" pitchFamily="34" charset="-120"/>
                        </a:rPr>
                        <a:t>Talent pool</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Geographically constrained</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Global reach; best-in-class hiring</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r>
              <a:tr h="475488">
                <a:tc>
                  <a:txBody>
                    <a:bodyPr/>
                    <a:lstStyle/>
                    <a:p>
                      <a:pPr algn="l" indent="0" marL="0">
                        <a:buNone/>
                      </a:pPr>
                      <a:r>
                        <a:rPr lang="en-US" sz="1000" dirty="0">
                          <a:solidFill>
                            <a:srgbClr val="1A5296"/>
                          </a:solidFill>
                          <a:latin typeface="Calibri" pitchFamily="34" charset="0"/>
                          <a:ea typeface="Calibri" pitchFamily="34" charset="-122"/>
                          <a:cs typeface="Calibri" pitchFamily="34" charset="-120"/>
                        </a:rPr>
                        <a:t>Social cohesion</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Natural; watercooler culture</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Requires explicit investment</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75488">
                <a:tc>
                  <a:txBody>
                    <a:bodyPr/>
                    <a:lstStyle/>
                    <a:p>
                      <a:pPr algn="l" indent="0" marL="0">
                        <a:buNone/>
                      </a:pPr>
                      <a:r>
                        <a:rPr lang="en-US" sz="1000" dirty="0">
                          <a:solidFill>
                            <a:srgbClr val="1A5296"/>
                          </a:solidFill>
                          <a:latin typeface="Calibri" pitchFamily="34" charset="0"/>
                          <a:ea typeface="Calibri" pitchFamily="34" charset="-122"/>
                          <a:cs typeface="Calibri" pitchFamily="34" charset="-120"/>
                        </a:rPr>
                        <a:t>Documentation discipline</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Often informal</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Critical for functional operation</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r>
              <a:tr h="475488">
                <a:tc>
                  <a:txBody>
                    <a:bodyPr/>
                    <a:lstStyle/>
                    <a:p>
                      <a:pPr algn="l" indent="0" marL="0">
                        <a:buNone/>
                      </a:pPr>
                      <a:r>
                        <a:rPr lang="en-US" sz="1000" dirty="0">
                          <a:solidFill>
                            <a:srgbClr val="1A5296"/>
                          </a:solidFill>
                          <a:latin typeface="Calibri" pitchFamily="34" charset="0"/>
                          <a:ea typeface="Calibri" pitchFamily="34" charset="-122"/>
                          <a:cs typeface="Calibri" pitchFamily="34" charset="-120"/>
                        </a:rPr>
                        <a:t>Development continuity</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Standard business hours</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Follow-the-sun potential</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75488">
                <a:tc>
                  <a:txBody>
                    <a:bodyPr/>
                    <a:lstStyle/>
                    <a:p>
                      <a:pPr algn="l" indent="0" marL="0">
                        <a:buNone/>
                      </a:pPr>
                      <a:r>
                        <a:rPr lang="en-US" sz="1000" dirty="0">
                          <a:solidFill>
                            <a:srgbClr val="1A5296"/>
                          </a:solidFill>
                          <a:latin typeface="Calibri" pitchFamily="34" charset="0"/>
                          <a:ea typeface="Calibri" pitchFamily="34" charset="-122"/>
                          <a:cs typeface="Calibri" pitchFamily="34" charset="-120"/>
                        </a:rPr>
                        <a:t>Cultural alignment</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Easier — shared context</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c>
                  <a:txBody>
                    <a:bodyPr/>
                    <a:lstStyle/>
                    <a:p>
                      <a:pPr algn="l" indent="0" marL="0">
                        <a:buNone/>
                      </a:pPr>
                      <a:r>
                        <a:rPr lang="en-US" sz="1000" dirty="0">
                          <a:solidFill>
                            <a:srgbClr val="334155"/>
                          </a:solidFill>
                          <a:latin typeface="Calibri" pitchFamily="34" charset="0"/>
                          <a:ea typeface="Calibri" pitchFamily="34" charset="-122"/>
                          <a:cs typeface="Calibri" pitchFamily="34" charset="-120"/>
                        </a:rPr>
                        <a:t>Requires intentional management</a:t>
                      </a:r>
                      <a:endParaRPr lang="en-US" sz="1000" dirty="0">
                        <a:latin typeface="Calibri" charset="0"/>
                        <a:ea typeface="Calibri" charset="0"/>
                        <a:cs typeface="Calibri"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r>
            </a:tbl>
          </a:graphicData>
        </a:graphic>
      </p:graphicFrame>
      <p:sp>
        <p:nvSpPr>
          <p:cNvPr id="6" name="Text 3"/>
          <p:cNvSpPr/>
          <p:nvPr/>
        </p:nvSpPr>
        <p:spPr>
          <a:xfrm>
            <a:off x="347472" y="4681728"/>
            <a:ext cx="4114800" cy="228600"/>
          </a:xfrm>
          <a:prstGeom prst="rect">
            <a:avLst/>
          </a:prstGeom>
          <a:noFill/>
          <a:ln/>
        </p:spPr>
        <p:txBody>
          <a:bodyPr wrap="square" rtlCol="0" anchor="ctr"/>
          <a:lstStyle/>
          <a:p>
            <a:pPr indent="0" marL="0">
              <a:buNone/>
            </a:pPr>
            <a:r>
              <a:rPr lang="en-US" sz="1000" b="1" dirty="0">
                <a:solidFill>
                  <a:srgbClr val="0D1F3C"/>
                </a:solidFill>
                <a:latin typeface="Calibri" pitchFamily="34" charset="0"/>
                <a:ea typeface="Calibri" pitchFamily="34" charset="-122"/>
                <a:cs typeface="Calibri" pitchFamily="34" charset="-120"/>
              </a:rPr>
              <a:t>Best Practices for Distributed Teams</a:t>
            </a:r>
            <a:endParaRPr lang="en-US" sz="1000" dirty="0"/>
          </a:p>
        </p:txBody>
      </p:sp>
      <p:sp>
        <p:nvSpPr>
          <p:cNvPr id="7" name="Text 4"/>
          <p:cNvSpPr/>
          <p:nvPr/>
        </p:nvSpPr>
        <p:spPr>
          <a:xfrm>
            <a:off x="347472" y="4919472"/>
            <a:ext cx="8449056" cy="182880"/>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 Disciplined documentation (ADRs, wikis)   🤝 Deliberate relationship building (video 1:1s)   📅 Core hours overlap for real-time decisions   🔄 Async-first, synchronous for high-bandwidth</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Knowledge Management</a:t>
            </a:r>
            <a:endParaRPr lang="en-US" sz="3000" dirty="0"/>
          </a:p>
        </p:txBody>
      </p:sp>
      <p:sp>
        <p:nvSpPr>
          <p:cNvPr id="3" name="Text 1"/>
          <p:cNvSpPr/>
          <p:nvPr/>
        </p:nvSpPr>
        <p:spPr>
          <a:xfrm>
            <a:off x="457200" y="841248"/>
            <a:ext cx="8229600" cy="320040"/>
          </a:xfrm>
          <a:prstGeom prst="rect">
            <a:avLst/>
          </a:prstGeom>
          <a:noFill/>
          <a:ln/>
        </p:spPr>
        <p:txBody>
          <a:bodyPr wrap="square" rtlCol="0" anchor="ctr"/>
          <a:lstStyle/>
          <a:p>
            <a:pPr indent="0" marL="0">
              <a:buNone/>
            </a:pPr>
            <a:r>
              <a:rPr lang="en-US" sz="1400" dirty="0">
                <a:solidFill>
                  <a:srgbClr val="0891B2"/>
                </a:solidFill>
                <a:latin typeface="Calibri" pitchFamily="34" charset="0"/>
                <a:ea typeface="Calibri" pitchFamily="34" charset="-122"/>
                <a:cs typeface="Calibri" pitchFamily="34" charset="-120"/>
              </a:rPr>
              <a:t>DIKW Hierarchy · SECI Model · Bus Factor</a:t>
            </a:r>
            <a:endParaRPr lang="en-US" sz="1400" dirty="0"/>
          </a:p>
        </p:txBody>
      </p:sp>
      <p:sp>
        <p:nvSpPr>
          <p:cNvPr id="4" name="Shape 2"/>
          <p:cNvSpPr/>
          <p:nvPr/>
        </p:nvSpPr>
        <p:spPr>
          <a:xfrm>
            <a:off x="457200" y="1143000"/>
            <a:ext cx="8229600" cy="22860"/>
          </a:xfrm>
          <a:prstGeom prst="rect">
            <a:avLst/>
          </a:prstGeom>
          <a:solidFill>
            <a:srgbClr val="0891B2"/>
          </a:solidFill>
          <a:ln w="12700">
            <a:solidFill>
              <a:srgbClr val="0891B2"/>
            </a:solidFill>
            <a:prstDash val="solid"/>
          </a:ln>
        </p:spPr>
      </p:sp>
      <p:sp>
        <p:nvSpPr>
          <p:cNvPr id="5" name="Text 3"/>
          <p:cNvSpPr/>
          <p:nvPr/>
        </p:nvSpPr>
        <p:spPr>
          <a:xfrm>
            <a:off x="347472" y="1325880"/>
            <a:ext cx="2743200" cy="274320"/>
          </a:xfrm>
          <a:prstGeom prst="rect">
            <a:avLst/>
          </a:prstGeom>
          <a:noFill/>
          <a:ln/>
        </p:spPr>
        <p:txBody>
          <a:bodyPr wrap="square" rtlCol="0" anchor="ctr"/>
          <a:lstStyle/>
          <a:p>
            <a:pPr indent="0" marL="0">
              <a:buNone/>
            </a:pPr>
            <a:r>
              <a:rPr lang="en-US" sz="1300" b="1" dirty="0">
                <a:solidFill>
                  <a:srgbClr val="0D1F3C"/>
                </a:solidFill>
                <a:latin typeface="Calibri" pitchFamily="34" charset="0"/>
                <a:ea typeface="Calibri" pitchFamily="34" charset="-122"/>
                <a:cs typeface="Calibri" pitchFamily="34" charset="-120"/>
              </a:rPr>
              <a:t>DIKW Hierarchy</a:t>
            </a:r>
            <a:endParaRPr lang="en-US" sz="1300" dirty="0"/>
          </a:p>
        </p:txBody>
      </p:sp>
      <p:sp>
        <p:nvSpPr>
          <p:cNvPr id="6" name="Shape 4"/>
          <p:cNvSpPr/>
          <p:nvPr/>
        </p:nvSpPr>
        <p:spPr>
          <a:xfrm>
            <a:off x="1170432" y="1691640"/>
            <a:ext cx="1097280" cy="530352"/>
          </a:xfrm>
          <a:prstGeom prst="rect">
            <a:avLst/>
          </a:prstGeom>
          <a:solidFill>
            <a:srgbClr val="7C3AED"/>
          </a:solidFill>
          <a:ln w="12700">
            <a:solidFill>
              <a:srgbClr val="7C3AED"/>
            </a:solidFill>
            <a:prstDash val="solid"/>
          </a:ln>
        </p:spPr>
      </p:sp>
      <p:sp>
        <p:nvSpPr>
          <p:cNvPr id="7" name="Text 5"/>
          <p:cNvSpPr/>
          <p:nvPr/>
        </p:nvSpPr>
        <p:spPr>
          <a:xfrm>
            <a:off x="1170432" y="1691640"/>
            <a:ext cx="10972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WISDOM</a:t>
            </a:r>
            <a:endParaRPr lang="en-US" sz="900" dirty="0"/>
          </a:p>
        </p:txBody>
      </p:sp>
      <p:sp>
        <p:nvSpPr>
          <p:cNvPr id="8" name="Text 6"/>
          <p:cNvSpPr/>
          <p:nvPr/>
        </p:nvSpPr>
        <p:spPr>
          <a:xfrm>
            <a:off x="1170432" y="1947672"/>
            <a:ext cx="1097280" cy="256032"/>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Organizational</a:t>
            </a:r>
            <a:endParaRPr lang="en-US" sz="750" dirty="0"/>
          </a:p>
          <a:p>
            <a:pPr algn="ctr" indent="0" marL="0">
              <a:buNone/>
            </a:pPr>
            <a:r>
              <a:rPr lang="en-US" sz="750" dirty="0">
                <a:solidFill>
                  <a:srgbClr val="FFFFFF"/>
                </a:solidFill>
                <a:latin typeface="Calibri" pitchFamily="34" charset="0"/>
                <a:ea typeface="Calibri" pitchFamily="34" charset="-122"/>
                <a:cs typeface="Calibri" pitchFamily="34" charset="-120"/>
              </a:rPr>
              <a:t>capability &amp; judgment</a:t>
            </a:r>
            <a:endParaRPr lang="en-US" sz="750" dirty="0"/>
          </a:p>
        </p:txBody>
      </p:sp>
      <p:sp>
        <p:nvSpPr>
          <p:cNvPr id="9" name="Shape 7"/>
          <p:cNvSpPr/>
          <p:nvPr/>
        </p:nvSpPr>
        <p:spPr>
          <a:xfrm>
            <a:off x="896112" y="2331720"/>
            <a:ext cx="1645920" cy="530352"/>
          </a:xfrm>
          <a:prstGeom prst="rect">
            <a:avLst/>
          </a:prstGeom>
          <a:solidFill>
            <a:srgbClr val="1A5296"/>
          </a:solidFill>
          <a:ln w="12700">
            <a:solidFill>
              <a:srgbClr val="1A5296"/>
            </a:solidFill>
            <a:prstDash val="solid"/>
          </a:ln>
        </p:spPr>
      </p:sp>
      <p:sp>
        <p:nvSpPr>
          <p:cNvPr id="10" name="Text 8"/>
          <p:cNvSpPr/>
          <p:nvPr/>
        </p:nvSpPr>
        <p:spPr>
          <a:xfrm>
            <a:off x="896112" y="2331720"/>
            <a:ext cx="16459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KNOWLEDGE</a:t>
            </a:r>
            <a:endParaRPr lang="en-US" sz="900" dirty="0"/>
          </a:p>
        </p:txBody>
      </p:sp>
      <p:sp>
        <p:nvSpPr>
          <p:cNvPr id="11" name="Text 9"/>
          <p:cNvSpPr/>
          <p:nvPr/>
        </p:nvSpPr>
        <p:spPr>
          <a:xfrm>
            <a:off x="896112" y="2587752"/>
            <a:ext cx="1645920" cy="256032"/>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Root causes,</a:t>
            </a:r>
            <a:endParaRPr lang="en-US" sz="750" dirty="0"/>
          </a:p>
          <a:p>
            <a:pPr algn="ctr" indent="0" marL="0">
              <a:buNone/>
            </a:pPr>
            <a:r>
              <a:rPr lang="en-US" sz="750" dirty="0">
                <a:solidFill>
                  <a:srgbClr val="FFFFFF"/>
                </a:solidFill>
                <a:latin typeface="Calibri" pitchFamily="34" charset="0"/>
                <a:ea typeface="Calibri" pitchFamily="34" charset="-122"/>
                <a:cs typeface="Calibri" pitchFamily="34" charset="-120"/>
              </a:rPr>
              <a:t>patterns, insight</a:t>
            </a:r>
            <a:endParaRPr lang="en-US" sz="750" dirty="0"/>
          </a:p>
        </p:txBody>
      </p:sp>
      <p:sp>
        <p:nvSpPr>
          <p:cNvPr id="12" name="Shape 10"/>
          <p:cNvSpPr/>
          <p:nvPr/>
        </p:nvSpPr>
        <p:spPr>
          <a:xfrm>
            <a:off x="621792" y="2971800"/>
            <a:ext cx="2194560" cy="530352"/>
          </a:xfrm>
          <a:prstGeom prst="rect">
            <a:avLst/>
          </a:prstGeom>
          <a:solidFill>
            <a:srgbClr val="0891B2"/>
          </a:solidFill>
          <a:ln w="12700">
            <a:solidFill>
              <a:srgbClr val="0891B2"/>
            </a:solidFill>
            <a:prstDash val="solid"/>
          </a:ln>
        </p:spPr>
      </p:sp>
      <p:sp>
        <p:nvSpPr>
          <p:cNvPr id="13" name="Text 11"/>
          <p:cNvSpPr/>
          <p:nvPr/>
        </p:nvSpPr>
        <p:spPr>
          <a:xfrm>
            <a:off x="621792" y="2971800"/>
            <a:ext cx="219456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INFORMATION</a:t>
            </a:r>
            <a:endParaRPr lang="en-US" sz="900" dirty="0"/>
          </a:p>
        </p:txBody>
      </p:sp>
      <p:sp>
        <p:nvSpPr>
          <p:cNvPr id="14" name="Text 12"/>
          <p:cNvSpPr/>
          <p:nvPr/>
        </p:nvSpPr>
        <p:spPr>
          <a:xfrm>
            <a:off x="621792" y="3227832"/>
            <a:ext cx="2194560" cy="256032"/>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Dashboards,</a:t>
            </a:r>
            <a:endParaRPr lang="en-US" sz="750" dirty="0"/>
          </a:p>
          <a:p>
            <a:pPr algn="ctr" indent="0" marL="0">
              <a:buNone/>
            </a:pPr>
            <a:r>
              <a:rPr lang="en-US" sz="750" dirty="0">
                <a:solidFill>
                  <a:srgbClr val="FFFFFF"/>
                </a:solidFill>
                <a:latin typeface="Calibri" pitchFamily="34" charset="0"/>
                <a:ea typeface="Calibri" pitchFamily="34" charset="-122"/>
                <a:cs typeface="Calibri" pitchFamily="34" charset="-120"/>
              </a:rPr>
              <a:t>reports, metrics</a:t>
            </a:r>
            <a:endParaRPr lang="en-US" sz="750" dirty="0"/>
          </a:p>
        </p:txBody>
      </p:sp>
      <p:sp>
        <p:nvSpPr>
          <p:cNvPr id="15" name="Shape 13"/>
          <p:cNvSpPr/>
          <p:nvPr/>
        </p:nvSpPr>
        <p:spPr>
          <a:xfrm>
            <a:off x="347472" y="3611880"/>
            <a:ext cx="2743200" cy="530352"/>
          </a:xfrm>
          <a:prstGeom prst="rect">
            <a:avLst/>
          </a:prstGeom>
          <a:solidFill>
            <a:srgbClr val="64748B"/>
          </a:solidFill>
          <a:ln w="12700">
            <a:solidFill>
              <a:srgbClr val="64748B"/>
            </a:solidFill>
            <a:prstDash val="solid"/>
          </a:ln>
        </p:spPr>
      </p:sp>
      <p:sp>
        <p:nvSpPr>
          <p:cNvPr id="16" name="Text 14"/>
          <p:cNvSpPr/>
          <p:nvPr/>
        </p:nvSpPr>
        <p:spPr>
          <a:xfrm>
            <a:off x="347472" y="3611880"/>
            <a:ext cx="274320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DATA</a:t>
            </a:r>
            <a:endParaRPr lang="en-US" sz="900" dirty="0"/>
          </a:p>
        </p:txBody>
      </p:sp>
      <p:sp>
        <p:nvSpPr>
          <p:cNvPr id="17" name="Text 15"/>
          <p:cNvSpPr/>
          <p:nvPr/>
        </p:nvSpPr>
        <p:spPr>
          <a:xfrm>
            <a:off x="347472" y="3867912"/>
            <a:ext cx="2743200" cy="256032"/>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Build logs,</a:t>
            </a:r>
            <a:endParaRPr lang="en-US" sz="750" dirty="0"/>
          </a:p>
          <a:p>
            <a:pPr algn="ctr" indent="0" marL="0">
              <a:buNone/>
            </a:pPr>
            <a:r>
              <a:rPr lang="en-US" sz="750" dirty="0">
                <a:solidFill>
                  <a:srgbClr val="FFFFFF"/>
                </a:solidFill>
                <a:latin typeface="Calibri" pitchFamily="34" charset="0"/>
                <a:ea typeface="Calibri" pitchFamily="34" charset="-122"/>
                <a:cs typeface="Calibri" pitchFamily="34" charset="-120"/>
              </a:rPr>
              <a:t>error rates, events</a:t>
            </a:r>
            <a:endParaRPr lang="en-US" sz="750" dirty="0"/>
          </a:p>
        </p:txBody>
      </p:sp>
      <p:sp>
        <p:nvSpPr>
          <p:cNvPr id="18" name="Text 16"/>
          <p:cNvSpPr/>
          <p:nvPr/>
        </p:nvSpPr>
        <p:spPr>
          <a:xfrm>
            <a:off x="3383280" y="1325880"/>
            <a:ext cx="2560320" cy="274320"/>
          </a:xfrm>
          <a:prstGeom prst="rect">
            <a:avLst/>
          </a:prstGeom>
          <a:noFill/>
          <a:ln/>
        </p:spPr>
        <p:txBody>
          <a:bodyPr wrap="square" rtlCol="0" anchor="ctr"/>
          <a:lstStyle/>
          <a:p>
            <a:pPr indent="0" marL="0">
              <a:buNone/>
            </a:pPr>
            <a:r>
              <a:rPr lang="en-US" sz="1300" b="1" dirty="0">
                <a:solidFill>
                  <a:srgbClr val="0D1F3C"/>
                </a:solidFill>
                <a:latin typeface="Calibri" pitchFamily="34" charset="0"/>
                <a:ea typeface="Calibri" pitchFamily="34" charset="-122"/>
                <a:cs typeface="Calibri" pitchFamily="34" charset="-120"/>
              </a:rPr>
              <a:t>Nonaka's SECI Model</a:t>
            </a:r>
            <a:endParaRPr lang="en-US" sz="1300" dirty="0"/>
          </a:p>
        </p:txBody>
      </p:sp>
      <p:sp>
        <p:nvSpPr>
          <p:cNvPr id="19" name="Shape 17"/>
          <p:cNvSpPr/>
          <p:nvPr/>
        </p:nvSpPr>
        <p:spPr>
          <a:xfrm>
            <a:off x="3383280" y="1691640"/>
            <a:ext cx="1234440" cy="10515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3383280" y="1691640"/>
            <a:ext cx="1234440" cy="365760"/>
          </a:xfrm>
          <a:prstGeom prst="rect">
            <a:avLst/>
          </a:prstGeom>
          <a:solidFill>
            <a:srgbClr val="0891B2"/>
          </a:solidFill>
          <a:ln w="12700">
            <a:solidFill>
              <a:srgbClr val="0891B2"/>
            </a:solidFill>
            <a:prstDash val="solid"/>
          </a:ln>
        </p:spPr>
      </p:sp>
      <p:sp>
        <p:nvSpPr>
          <p:cNvPr id="21" name="Text 19"/>
          <p:cNvSpPr/>
          <p:nvPr/>
        </p:nvSpPr>
        <p:spPr>
          <a:xfrm>
            <a:off x="3383280" y="1691640"/>
            <a:ext cx="1234440"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Socialization</a:t>
            </a:r>
            <a:endParaRPr lang="en-US" sz="950" dirty="0"/>
          </a:p>
        </p:txBody>
      </p:sp>
      <p:sp>
        <p:nvSpPr>
          <p:cNvPr id="22" name="Text 20"/>
          <p:cNvSpPr/>
          <p:nvPr/>
        </p:nvSpPr>
        <p:spPr>
          <a:xfrm>
            <a:off x="3429000" y="2103120"/>
            <a:ext cx="1143000" cy="548640"/>
          </a:xfrm>
          <a:prstGeom prst="rect">
            <a:avLst/>
          </a:prstGeom>
          <a:noFill/>
          <a:ln/>
        </p:spPr>
        <p:txBody>
          <a:bodyPr wrap="square"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Pair programming</a:t>
            </a:r>
            <a:endParaRPr lang="en-US" sz="850" dirty="0"/>
          </a:p>
        </p:txBody>
      </p:sp>
      <p:sp>
        <p:nvSpPr>
          <p:cNvPr id="23" name="Shape 21"/>
          <p:cNvSpPr/>
          <p:nvPr/>
        </p:nvSpPr>
        <p:spPr>
          <a:xfrm>
            <a:off x="4709160" y="1691640"/>
            <a:ext cx="1234440" cy="10515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4" name="Shape 22"/>
          <p:cNvSpPr/>
          <p:nvPr/>
        </p:nvSpPr>
        <p:spPr>
          <a:xfrm>
            <a:off x="4709160" y="1691640"/>
            <a:ext cx="1234440" cy="365760"/>
          </a:xfrm>
          <a:prstGeom prst="rect">
            <a:avLst/>
          </a:prstGeom>
          <a:solidFill>
            <a:srgbClr val="10B981"/>
          </a:solidFill>
          <a:ln w="12700">
            <a:solidFill>
              <a:srgbClr val="10B981"/>
            </a:solidFill>
            <a:prstDash val="solid"/>
          </a:ln>
        </p:spPr>
      </p:sp>
      <p:sp>
        <p:nvSpPr>
          <p:cNvPr id="25" name="Text 23"/>
          <p:cNvSpPr/>
          <p:nvPr/>
        </p:nvSpPr>
        <p:spPr>
          <a:xfrm>
            <a:off x="4709160" y="1691640"/>
            <a:ext cx="1234440"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Externalization</a:t>
            </a:r>
            <a:endParaRPr lang="en-US" sz="950" dirty="0"/>
          </a:p>
        </p:txBody>
      </p:sp>
      <p:sp>
        <p:nvSpPr>
          <p:cNvPr id="26" name="Text 24"/>
          <p:cNvSpPr/>
          <p:nvPr/>
        </p:nvSpPr>
        <p:spPr>
          <a:xfrm>
            <a:off x="4754880" y="2103120"/>
            <a:ext cx="1143000" cy="548640"/>
          </a:xfrm>
          <a:prstGeom prst="rect">
            <a:avLst/>
          </a:prstGeom>
          <a:noFill/>
          <a:ln/>
        </p:spPr>
        <p:txBody>
          <a:bodyPr wrap="square"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Tech blogs, docs, ADRs</a:t>
            </a:r>
            <a:endParaRPr lang="en-US" sz="850" dirty="0"/>
          </a:p>
        </p:txBody>
      </p:sp>
      <p:sp>
        <p:nvSpPr>
          <p:cNvPr id="27" name="Shape 25"/>
          <p:cNvSpPr/>
          <p:nvPr/>
        </p:nvSpPr>
        <p:spPr>
          <a:xfrm>
            <a:off x="3383280" y="2880360"/>
            <a:ext cx="1234440" cy="10515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8" name="Shape 26"/>
          <p:cNvSpPr/>
          <p:nvPr/>
        </p:nvSpPr>
        <p:spPr>
          <a:xfrm>
            <a:off x="3383280" y="2880360"/>
            <a:ext cx="1234440" cy="365760"/>
          </a:xfrm>
          <a:prstGeom prst="rect">
            <a:avLst/>
          </a:prstGeom>
          <a:solidFill>
            <a:srgbClr val="7C3AED"/>
          </a:solidFill>
          <a:ln w="12700">
            <a:solidFill>
              <a:srgbClr val="7C3AED"/>
            </a:solidFill>
            <a:prstDash val="solid"/>
          </a:ln>
        </p:spPr>
      </p:sp>
      <p:sp>
        <p:nvSpPr>
          <p:cNvPr id="29" name="Text 27"/>
          <p:cNvSpPr/>
          <p:nvPr/>
        </p:nvSpPr>
        <p:spPr>
          <a:xfrm>
            <a:off x="3383280" y="2880360"/>
            <a:ext cx="1234440"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Combination</a:t>
            </a:r>
            <a:endParaRPr lang="en-US" sz="950" dirty="0"/>
          </a:p>
        </p:txBody>
      </p:sp>
      <p:sp>
        <p:nvSpPr>
          <p:cNvPr id="30" name="Text 28"/>
          <p:cNvSpPr/>
          <p:nvPr/>
        </p:nvSpPr>
        <p:spPr>
          <a:xfrm>
            <a:off x="3429000" y="3291840"/>
            <a:ext cx="1143000" cy="548640"/>
          </a:xfrm>
          <a:prstGeom prst="rect">
            <a:avLst/>
          </a:prstGeom>
          <a:noFill/>
          <a:ln/>
        </p:spPr>
        <p:txBody>
          <a:bodyPr wrap="square"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Code review, arch docs</a:t>
            </a:r>
            <a:endParaRPr lang="en-US" sz="850" dirty="0"/>
          </a:p>
        </p:txBody>
      </p:sp>
      <p:sp>
        <p:nvSpPr>
          <p:cNvPr id="31" name="Shape 29"/>
          <p:cNvSpPr/>
          <p:nvPr/>
        </p:nvSpPr>
        <p:spPr>
          <a:xfrm>
            <a:off x="4709160" y="2880360"/>
            <a:ext cx="1234440" cy="10515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2" name="Shape 30"/>
          <p:cNvSpPr/>
          <p:nvPr/>
        </p:nvSpPr>
        <p:spPr>
          <a:xfrm>
            <a:off x="4709160" y="2880360"/>
            <a:ext cx="1234440" cy="365760"/>
          </a:xfrm>
          <a:prstGeom prst="rect">
            <a:avLst/>
          </a:prstGeom>
          <a:solidFill>
            <a:srgbClr val="F59E0B"/>
          </a:solidFill>
          <a:ln w="12700">
            <a:solidFill>
              <a:srgbClr val="F59E0B"/>
            </a:solidFill>
            <a:prstDash val="solid"/>
          </a:ln>
        </p:spPr>
      </p:sp>
      <p:sp>
        <p:nvSpPr>
          <p:cNvPr id="33" name="Text 31"/>
          <p:cNvSpPr/>
          <p:nvPr/>
        </p:nvSpPr>
        <p:spPr>
          <a:xfrm>
            <a:off x="4709160" y="2880360"/>
            <a:ext cx="1234440"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Internalization</a:t>
            </a:r>
            <a:endParaRPr lang="en-US" sz="950" dirty="0"/>
          </a:p>
        </p:txBody>
      </p:sp>
      <p:sp>
        <p:nvSpPr>
          <p:cNvPr id="34" name="Text 32"/>
          <p:cNvSpPr/>
          <p:nvPr/>
        </p:nvSpPr>
        <p:spPr>
          <a:xfrm>
            <a:off x="4754880" y="3291840"/>
            <a:ext cx="1143000" cy="548640"/>
          </a:xfrm>
          <a:prstGeom prst="rect">
            <a:avLst/>
          </a:prstGeom>
          <a:noFill/>
          <a:ln/>
        </p:spPr>
        <p:txBody>
          <a:bodyPr wrap="square" rtlCol="0" anchor="ctr"/>
          <a:lstStyle/>
          <a:p>
            <a:pPr algn="ctr" indent="0" marL="0">
              <a:buNone/>
            </a:pPr>
            <a:r>
              <a:rPr lang="en-US" sz="850" dirty="0">
                <a:solidFill>
                  <a:srgbClr val="334155"/>
                </a:solidFill>
                <a:latin typeface="Calibri" pitchFamily="34" charset="0"/>
                <a:ea typeface="Calibri" pitchFamily="34" charset="-122"/>
                <a:cs typeface="Calibri" pitchFamily="34" charset="-120"/>
              </a:rPr>
              <a:t>Onboarding, mentorship</a:t>
            </a:r>
            <a:endParaRPr lang="en-US" sz="850" dirty="0"/>
          </a:p>
        </p:txBody>
      </p:sp>
      <p:sp>
        <p:nvSpPr>
          <p:cNvPr id="35" name="Shape 33"/>
          <p:cNvSpPr/>
          <p:nvPr/>
        </p:nvSpPr>
        <p:spPr>
          <a:xfrm>
            <a:off x="4050792" y="2395728"/>
            <a:ext cx="594360" cy="594360"/>
          </a:xfrm>
          <a:prstGeom prst="ellipse">
            <a:avLst/>
          </a:prstGeom>
          <a:solidFill>
            <a:srgbClr val="0D1F3C"/>
          </a:solidFill>
          <a:ln w="12700">
            <a:solidFill>
              <a:srgbClr val="0D1F3C"/>
            </a:solidFill>
            <a:prstDash val="solid"/>
          </a:ln>
        </p:spPr>
      </p:sp>
      <p:sp>
        <p:nvSpPr>
          <p:cNvPr id="36" name="Text 34"/>
          <p:cNvSpPr/>
          <p:nvPr/>
        </p:nvSpPr>
        <p:spPr>
          <a:xfrm>
            <a:off x="4050792" y="2395728"/>
            <a:ext cx="594360" cy="594360"/>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SECI</a:t>
            </a:r>
            <a:endParaRPr lang="en-US" sz="700" dirty="0"/>
          </a:p>
          <a:p>
            <a:pPr algn="ctr" indent="0" marL="0">
              <a:buNone/>
            </a:pPr>
            <a:r>
              <a:rPr lang="en-US" sz="700" b="1" dirty="0">
                <a:solidFill>
                  <a:srgbClr val="FFFFFF"/>
                </a:solidFill>
                <a:latin typeface="Calibri" pitchFamily="34" charset="0"/>
                <a:ea typeface="Calibri" pitchFamily="34" charset="-122"/>
                <a:cs typeface="Calibri" pitchFamily="34" charset="-120"/>
              </a:rPr>
              <a:t>Cycle</a:t>
            </a:r>
            <a:endParaRPr lang="en-US" sz="700" dirty="0"/>
          </a:p>
        </p:txBody>
      </p:sp>
      <p:sp>
        <p:nvSpPr>
          <p:cNvPr id="37" name="Text 35"/>
          <p:cNvSpPr/>
          <p:nvPr/>
        </p:nvSpPr>
        <p:spPr>
          <a:xfrm>
            <a:off x="6080760" y="1325880"/>
            <a:ext cx="2743200" cy="274320"/>
          </a:xfrm>
          <a:prstGeom prst="rect">
            <a:avLst/>
          </a:prstGeom>
          <a:noFill/>
          <a:ln/>
        </p:spPr>
        <p:txBody>
          <a:bodyPr wrap="square" rtlCol="0" anchor="ctr"/>
          <a:lstStyle/>
          <a:p>
            <a:pPr indent="0" marL="0">
              <a:buNone/>
            </a:pPr>
            <a:r>
              <a:rPr lang="en-US" sz="1200" b="1" dirty="0">
                <a:solidFill>
                  <a:srgbClr val="0D1F3C"/>
                </a:solidFill>
                <a:latin typeface="Calibri" pitchFamily="34" charset="0"/>
                <a:ea typeface="Calibri" pitchFamily="34" charset="-122"/>
                <a:cs typeface="Calibri" pitchFamily="34" charset="-120"/>
              </a:rPr>
              <a:t>Knowledge-Sharing Practices</a:t>
            </a:r>
            <a:endParaRPr lang="en-US" sz="1200" dirty="0"/>
          </a:p>
        </p:txBody>
      </p:sp>
      <p:sp>
        <p:nvSpPr>
          <p:cNvPr id="38" name="Shape 36"/>
          <p:cNvSpPr/>
          <p:nvPr/>
        </p:nvSpPr>
        <p:spPr>
          <a:xfrm>
            <a:off x="6080760" y="1691640"/>
            <a:ext cx="2743200" cy="512064"/>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9" name="Shape 37"/>
          <p:cNvSpPr/>
          <p:nvPr/>
        </p:nvSpPr>
        <p:spPr>
          <a:xfrm>
            <a:off x="6080760" y="1691640"/>
            <a:ext cx="73152" cy="512064"/>
          </a:xfrm>
          <a:prstGeom prst="rect">
            <a:avLst/>
          </a:prstGeom>
          <a:solidFill>
            <a:srgbClr val="0891B2"/>
          </a:solidFill>
          <a:ln w="12700">
            <a:solidFill>
              <a:srgbClr val="0891B2"/>
            </a:solidFill>
            <a:prstDash val="solid"/>
          </a:ln>
        </p:spPr>
      </p:sp>
      <p:sp>
        <p:nvSpPr>
          <p:cNvPr id="40" name="Text 38"/>
          <p:cNvSpPr/>
          <p:nvPr/>
        </p:nvSpPr>
        <p:spPr>
          <a:xfrm>
            <a:off x="6236208" y="1728216"/>
            <a:ext cx="1691640" cy="438912"/>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Pair Programming</a:t>
            </a:r>
            <a:endParaRPr lang="en-US" sz="950" dirty="0"/>
          </a:p>
        </p:txBody>
      </p:sp>
      <p:sp>
        <p:nvSpPr>
          <p:cNvPr id="41" name="Shape 39"/>
          <p:cNvSpPr/>
          <p:nvPr/>
        </p:nvSpPr>
        <p:spPr>
          <a:xfrm>
            <a:off x="7973568" y="1783080"/>
            <a:ext cx="777240" cy="274320"/>
          </a:xfrm>
          <a:prstGeom prst="rect">
            <a:avLst/>
          </a:prstGeom>
          <a:solidFill>
            <a:srgbClr val="EEF4FB"/>
          </a:solidFill>
          <a:ln w="12700">
            <a:solidFill>
              <a:srgbClr val="0891B2"/>
            </a:solidFill>
            <a:prstDash val="solid"/>
          </a:ln>
        </p:spPr>
      </p:sp>
      <p:sp>
        <p:nvSpPr>
          <p:cNvPr id="42" name="Text 40"/>
          <p:cNvSpPr/>
          <p:nvPr/>
        </p:nvSpPr>
        <p:spPr>
          <a:xfrm>
            <a:off x="7973568" y="1783080"/>
            <a:ext cx="777240" cy="274320"/>
          </a:xfrm>
          <a:prstGeom prst="rect">
            <a:avLst/>
          </a:prstGeom>
          <a:noFill/>
          <a:ln/>
        </p:spPr>
        <p:txBody>
          <a:bodyPr wrap="square" lIns="0" tIns="0" rIns="0" bIns="0" rtlCol="0" anchor="ctr"/>
          <a:lstStyle/>
          <a:p>
            <a:pPr algn="ctr" indent="0" marL="0">
              <a:buNone/>
            </a:pPr>
            <a:r>
              <a:rPr lang="en-US" sz="800" b="1" dirty="0">
                <a:solidFill>
                  <a:srgbClr val="0891B2"/>
                </a:solidFill>
                <a:latin typeface="Calibri" pitchFamily="34" charset="0"/>
                <a:ea typeface="Calibri" pitchFamily="34" charset="-122"/>
                <a:cs typeface="Calibri" pitchFamily="34" charset="-120"/>
              </a:rPr>
              <a:t>Tacit</a:t>
            </a:r>
            <a:endParaRPr lang="en-US" sz="800" dirty="0"/>
          </a:p>
        </p:txBody>
      </p:sp>
      <p:sp>
        <p:nvSpPr>
          <p:cNvPr id="43" name="Shape 41"/>
          <p:cNvSpPr/>
          <p:nvPr/>
        </p:nvSpPr>
        <p:spPr>
          <a:xfrm>
            <a:off x="6080760" y="2313432"/>
            <a:ext cx="2743200" cy="512064"/>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44" name="Shape 42"/>
          <p:cNvSpPr/>
          <p:nvPr/>
        </p:nvSpPr>
        <p:spPr>
          <a:xfrm>
            <a:off x="6080760" y="2313432"/>
            <a:ext cx="73152" cy="512064"/>
          </a:xfrm>
          <a:prstGeom prst="rect">
            <a:avLst/>
          </a:prstGeom>
          <a:solidFill>
            <a:srgbClr val="1A5296"/>
          </a:solidFill>
          <a:ln w="12700">
            <a:solidFill>
              <a:srgbClr val="1A5296"/>
            </a:solidFill>
            <a:prstDash val="solid"/>
          </a:ln>
        </p:spPr>
      </p:sp>
      <p:sp>
        <p:nvSpPr>
          <p:cNvPr id="45" name="Text 43"/>
          <p:cNvSpPr/>
          <p:nvPr/>
        </p:nvSpPr>
        <p:spPr>
          <a:xfrm>
            <a:off x="6236208" y="2350008"/>
            <a:ext cx="1691640" cy="438912"/>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Code Review (PRs)</a:t>
            </a:r>
            <a:endParaRPr lang="en-US" sz="950" dirty="0"/>
          </a:p>
        </p:txBody>
      </p:sp>
      <p:sp>
        <p:nvSpPr>
          <p:cNvPr id="46" name="Shape 44"/>
          <p:cNvSpPr/>
          <p:nvPr/>
        </p:nvSpPr>
        <p:spPr>
          <a:xfrm>
            <a:off x="7973568" y="2404872"/>
            <a:ext cx="777240" cy="274320"/>
          </a:xfrm>
          <a:prstGeom prst="rect">
            <a:avLst/>
          </a:prstGeom>
          <a:solidFill>
            <a:srgbClr val="EEF4FB"/>
          </a:solidFill>
          <a:ln w="12700">
            <a:solidFill>
              <a:srgbClr val="1A5296"/>
            </a:solidFill>
            <a:prstDash val="solid"/>
          </a:ln>
        </p:spPr>
      </p:sp>
      <p:sp>
        <p:nvSpPr>
          <p:cNvPr id="47" name="Text 45"/>
          <p:cNvSpPr/>
          <p:nvPr/>
        </p:nvSpPr>
        <p:spPr>
          <a:xfrm>
            <a:off x="7973568" y="2404872"/>
            <a:ext cx="777240" cy="274320"/>
          </a:xfrm>
          <a:prstGeom prst="rect">
            <a:avLst/>
          </a:prstGeom>
          <a:noFill/>
          <a:ln/>
        </p:spPr>
        <p:txBody>
          <a:bodyPr wrap="square" lIns="0" tIns="0" rIns="0" bIns="0" rtlCol="0" anchor="ctr"/>
          <a:lstStyle/>
          <a:p>
            <a:pPr algn="ctr" indent="0" marL="0">
              <a:buNone/>
            </a:pPr>
            <a:r>
              <a:rPr lang="en-US" sz="800" b="1" dirty="0">
                <a:solidFill>
                  <a:srgbClr val="1A5296"/>
                </a:solidFill>
                <a:latin typeface="Calibri" pitchFamily="34" charset="0"/>
                <a:ea typeface="Calibri" pitchFamily="34" charset="-122"/>
                <a:cs typeface="Calibri" pitchFamily="34" charset="-120"/>
              </a:rPr>
              <a:t>Explicit</a:t>
            </a:r>
            <a:endParaRPr lang="en-US" sz="800" dirty="0"/>
          </a:p>
        </p:txBody>
      </p:sp>
      <p:sp>
        <p:nvSpPr>
          <p:cNvPr id="48" name="Shape 46"/>
          <p:cNvSpPr/>
          <p:nvPr/>
        </p:nvSpPr>
        <p:spPr>
          <a:xfrm>
            <a:off x="6080760" y="2935224"/>
            <a:ext cx="2743200" cy="512064"/>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49" name="Shape 47"/>
          <p:cNvSpPr/>
          <p:nvPr/>
        </p:nvSpPr>
        <p:spPr>
          <a:xfrm>
            <a:off x="6080760" y="2935224"/>
            <a:ext cx="73152" cy="512064"/>
          </a:xfrm>
          <a:prstGeom prst="rect">
            <a:avLst/>
          </a:prstGeom>
          <a:solidFill>
            <a:srgbClr val="7C3AED"/>
          </a:solidFill>
          <a:ln w="12700">
            <a:solidFill>
              <a:srgbClr val="7C3AED"/>
            </a:solidFill>
            <a:prstDash val="solid"/>
          </a:ln>
        </p:spPr>
      </p:sp>
      <p:sp>
        <p:nvSpPr>
          <p:cNvPr id="50" name="Text 48"/>
          <p:cNvSpPr/>
          <p:nvPr/>
        </p:nvSpPr>
        <p:spPr>
          <a:xfrm>
            <a:off x="6236208" y="2971800"/>
            <a:ext cx="1691640" cy="438912"/>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Internal Wikis</a:t>
            </a:r>
            <a:endParaRPr lang="en-US" sz="950" dirty="0"/>
          </a:p>
        </p:txBody>
      </p:sp>
      <p:sp>
        <p:nvSpPr>
          <p:cNvPr id="51" name="Shape 49"/>
          <p:cNvSpPr/>
          <p:nvPr/>
        </p:nvSpPr>
        <p:spPr>
          <a:xfrm>
            <a:off x="7973568" y="3026664"/>
            <a:ext cx="777240" cy="274320"/>
          </a:xfrm>
          <a:prstGeom prst="rect">
            <a:avLst/>
          </a:prstGeom>
          <a:solidFill>
            <a:srgbClr val="EEF4FB"/>
          </a:solidFill>
          <a:ln w="12700">
            <a:solidFill>
              <a:srgbClr val="7C3AED"/>
            </a:solidFill>
            <a:prstDash val="solid"/>
          </a:ln>
        </p:spPr>
      </p:sp>
      <p:sp>
        <p:nvSpPr>
          <p:cNvPr id="52" name="Text 50"/>
          <p:cNvSpPr/>
          <p:nvPr/>
        </p:nvSpPr>
        <p:spPr>
          <a:xfrm>
            <a:off x="7973568" y="3026664"/>
            <a:ext cx="777240" cy="274320"/>
          </a:xfrm>
          <a:prstGeom prst="rect">
            <a:avLst/>
          </a:prstGeom>
          <a:noFill/>
          <a:ln/>
        </p:spPr>
        <p:txBody>
          <a:bodyPr wrap="square" lIns="0" tIns="0" rIns="0" bIns="0" rtlCol="0" anchor="ctr"/>
          <a:lstStyle/>
          <a:p>
            <a:pPr algn="ctr" indent="0" marL="0">
              <a:buNone/>
            </a:pPr>
            <a:r>
              <a:rPr lang="en-US" sz="800" b="1" dirty="0">
                <a:solidFill>
                  <a:srgbClr val="7C3AED"/>
                </a:solidFill>
                <a:latin typeface="Calibri" pitchFamily="34" charset="0"/>
                <a:ea typeface="Calibri" pitchFamily="34" charset="-122"/>
                <a:cs typeface="Calibri" pitchFamily="34" charset="-120"/>
              </a:rPr>
              <a:t>Explicit</a:t>
            </a:r>
            <a:endParaRPr lang="en-US" sz="800" dirty="0"/>
          </a:p>
        </p:txBody>
      </p:sp>
      <p:sp>
        <p:nvSpPr>
          <p:cNvPr id="53" name="Shape 51"/>
          <p:cNvSpPr/>
          <p:nvPr/>
        </p:nvSpPr>
        <p:spPr>
          <a:xfrm>
            <a:off x="6080760" y="3557016"/>
            <a:ext cx="2743200" cy="512064"/>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54" name="Shape 52"/>
          <p:cNvSpPr/>
          <p:nvPr/>
        </p:nvSpPr>
        <p:spPr>
          <a:xfrm>
            <a:off x="6080760" y="3557016"/>
            <a:ext cx="73152" cy="512064"/>
          </a:xfrm>
          <a:prstGeom prst="rect">
            <a:avLst/>
          </a:prstGeom>
          <a:solidFill>
            <a:srgbClr val="10B981"/>
          </a:solidFill>
          <a:ln w="12700">
            <a:solidFill>
              <a:srgbClr val="10B981"/>
            </a:solidFill>
            <a:prstDash val="solid"/>
          </a:ln>
        </p:spPr>
      </p:sp>
      <p:sp>
        <p:nvSpPr>
          <p:cNvPr id="55" name="Text 53"/>
          <p:cNvSpPr/>
          <p:nvPr/>
        </p:nvSpPr>
        <p:spPr>
          <a:xfrm>
            <a:off x="6236208" y="3593592"/>
            <a:ext cx="1691640" cy="438912"/>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Communities of</a:t>
            </a: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Practice/Guilds</a:t>
            </a:r>
            <a:endParaRPr lang="en-US" sz="950" dirty="0"/>
          </a:p>
        </p:txBody>
      </p:sp>
      <p:sp>
        <p:nvSpPr>
          <p:cNvPr id="56" name="Shape 54"/>
          <p:cNvSpPr/>
          <p:nvPr/>
        </p:nvSpPr>
        <p:spPr>
          <a:xfrm>
            <a:off x="7973568" y="3648456"/>
            <a:ext cx="777240" cy="274320"/>
          </a:xfrm>
          <a:prstGeom prst="rect">
            <a:avLst/>
          </a:prstGeom>
          <a:solidFill>
            <a:srgbClr val="EEF4FB"/>
          </a:solidFill>
          <a:ln w="12700">
            <a:solidFill>
              <a:srgbClr val="10B981"/>
            </a:solidFill>
            <a:prstDash val="solid"/>
          </a:ln>
        </p:spPr>
      </p:sp>
      <p:sp>
        <p:nvSpPr>
          <p:cNvPr id="57" name="Text 55"/>
          <p:cNvSpPr/>
          <p:nvPr/>
        </p:nvSpPr>
        <p:spPr>
          <a:xfrm>
            <a:off x="7973568" y="3648456"/>
            <a:ext cx="777240" cy="274320"/>
          </a:xfrm>
          <a:prstGeom prst="rect">
            <a:avLst/>
          </a:prstGeom>
          <a:noFill/>
          <a:ln/>
        </p:spPr>
        <p:txBody>
          <a:bodyPr wrap="square" lIns="0" tIns="0" rIns="0" bIns="0" rtlCol="0" anchor="ctr"/>
          <a:lstStyle/>
          <a:p>
            <a:pPr algn="ctr" indent="0" marL="0">
              <a:buNone/>
            </a:pPr>
            <a:r>
              <a:rPr lang="en-US" sz="800" b="1" dirty="0">
                <a:solidFill>
                  <a:srgbClr val="10B981"/>
                </a:solidFill>
                <a:latin typeface="Calibri" pitchFamily="34" charset="0"/>
                <a:ea typeface="Calibri" pitchFamily="34" charset="-122"/>
                <a:cs typeface="Calibri" pitchFamily="34" charset="-120"/>
              </a:rPr>
              <a:t>Both</a:t>
            </a:r>
            <a:endParaRPr lang="en-US" sz="800" dirty="0"/>
          </a:p>
        </p:txBody>
      </p:sp>
      <p:sp>
        <p:nvSpPr>
          <p:cNvPr id="58" name="Shape 56"/>
          <p:cNvSpPr/>
          <p:nvPr/>
        </p:nvSpPr>
        <p:spPr>
          <a:xfrm>
            <a:off x="6080760" y="4178808"/>
            <a:ext cx="2743200" cy="512064"/>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59" name="Shape 57"/>
          <p:cNvSpPr/>
          <p:nvPr/>
        </p:nvSpPr>
        <p:spPr>
          <a:xfrm>
            <a:off x="6080760" y="4178808"/>
            <a:ext cx="73152" cy="512064"/>
          </a:xfrm>
          <a:prstGeom prst="rect">
            <a:avLst/>
          </a:prstGeom>
          <a:solidFill>
            <a:srgbClr val="F59E0B"/>
          </a:solidFill>
          <a:ln w="12700">
            <a:solidFill>
              <a:srgbClr val="F59E0B"/>
            </a:solidFill>
            <a:prstDash val="solid"/>
          </a:ln>
        </p:spPr>
      </p:sp>
      <p:sp>
        <p:nvSpPr>
          <p:cNvPr id="60" name="Text 58"/>
          <p:cNvSpPr/>
          <p:nvPr/>
        </p:nvSpPr>
        <p:spPr>
          <a:xfrm>
            <a:off x="6236208" y="4215384"/>
            <a:ext cx="1691640" cy="438912"/>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Mentorship</a:t>
            </a:r>
            <a:endParaRPr lang="en-US" sz="950" dirty="0"/>
          </a:p>
        </p:txBody>
      </p:sp>
      <p:sp>
        <p:nvSpPr>
          <p:cNvPr id="61" name="Shape 59"/>
          <p:cNvSpPr/>
          <p:nvPr/>
        </p:nvSpPr>
        <p:spPr>
          <a:xfrm>
            <a:off x="7973568" y="4270248"/>
            <a:ext cx="777240" cy="274320"/>
          </a:xfrm>
          <a:prstGeom prst="rect">
            <a:avLst/>
          </a:prstGeom>
          <a:solidFill>
            <a:srgbClr val="EEF4FB"/>
          </a:solidFill>
          <a:ln w="12700">
            <a:solidFill>
              <a:srgbClr val="F59E0B"/>
            </a:solidFill>
            <a:prstDash val="solid"/>
          </a:ln>
        </p:spPr>
      </p:sp>
      <p:sp>
        <p:nvSpPr>
          <p:cNvPr id="62" name="Text 60"/>
          <p:cNvSpPr/>
          <p:nvPr/>
        </p:nvSpPr>
        <p:spPr>
          <a:xfrm>
            <a:off x="7973568" y="4270248"/>
            <a:ext cx="777240" cy="274320"/>
          </a:xfrm>
          <a:prstGeom prst="rect">
            <a:avLst/>
          </a:prstGeom>
          <a:noFill/>
          <a:ln/>
        </p:spPr>
        <p:txBody>
          <a:bodyPr wrap="square" lIns="0" tIns="0" rIns="0" bIns="0" rtlCol="0" anchor="ctr"/>
          <a:lstStyle/>
          <a:p>
            <a:pPr algn="ctr" indent="0" marL="0">
              <a:buNone/>
            </a:pPr>
            <a:r>
              <a:rPr lang="en-US" sz="800" b="1" dirty="0">
                <a:solidFill>
                  <a:srgbClr val="F59E0B"/>
                </a:solidFill>
                <a:latin typeface="Calibri" pitchFamily="34" charset="0"/>
                <a:ea typeface="Calibri" pitchFamily="34" charset="-122"/>
                <a:cs typeface="Calibri" pitchFamily="34" charset="-120"/>
              </a:rPr>
              <a:t>Tacit</a:t>
            </a:r>
            <a:endParaRPr lang="en-US" sz="800" dirty="0"/>
          </a:p>
        </p:txBody>
      </p:sp>
      <p:sp>
        <p:nvSpPr>
          <p:cNvPr id="63" name="Shape 61"/>
          <p:cNvSpPr/>
          <p:nvPr/>
        </p:nvSpPr>
        <p:spPr>
          <a:xfrm>
            <a:off x="6080760" y="4626864"/>
            <a:ext cx="2743200" cy="411480"/>
          </a:xfrm>
          <a:prstGeom prst="rect">
            <a:avLst/>
          </a:prstGeom>
          <a:solidFill>
            <a:srgbClr val="FEF2F2"/>
          </a:solidFill>
          <a:ln w="12700">
            <a:solidFill>
              <a:srgbClr val="FECACA"/>
            </a:solidFill>
            <a:prstDash val="solid"/>
          </a:ln>
        </p:spPr>
      </p:sp>
      <p:sp>
        <p:nvSpPr>
          <p:cNvPr id="64" name="Text 62"/>
          <p:cNvSpPr/>
          <p:nvPr/>
        </p:nvSpPr>
        <p:spPr>
          <a:xfrm>
            <a:off x="6126480" y="4645152"/>
            <a:ext cx="2651760" cy="365760"/>
          </a:xfrm>
          <a:prstGeom prst="rect">
            <a:avLst/>
          </a:prstGeom>
          <a:noFill/>
          <a:ln/>
        </p:spPr>
        <p:txBody>
          <a:bodyPr wrap="square" rtlCol="0" anchor="ctr"/>
          <a:lstStyle/>
          <a:p>
            <a:pPr indent="0" marL="0">
              <a:buNone/>
            </a:pPr>
            <a:r>
              <a:rPr lang="en-US" sz="850" dirty="0">
                <a:solidFill>
                  <a:srgbClr val="991B1B"/>
                </a:solidFill>
                <a:latin typeface="Calibri" pitchFamily="34" charset="0"/>
                <a:ea typeface="Calibri" pitchFamily="34" charset="-122"/>
                <a:cs typeface="Calibri" pitchFamily="34" charset="-120"/>
              </a:rPr>
              <a:t>⚠️  Bus Factor: Min people whose loss would cripple the project → Mitigate with cross-training &amp; docs</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Team Performance Measurement</a:t>
            </a:r>
            <a:endParaRPr lang="en-US" sz="3000" dirty="0"/>
          </a:p>
        </p:txBody>
      </p:sp>
      <p:sp>
        <p:nvSpPr>
          <p:cNvPr id="3" name="Text 1"/>
          <p:cNvSpPr/>
          <p:nvPr/>
        </p:nvSpPr>
        <p:spPr>
          <a:xfrm>
            <a:off x="457200" y="841248"/>
            <a:ext cx="8229600" cy="320040"/>
          </a:xfrm>
          <a:prstGeom prst="rect">
            <a:avLst/>
          </a:prstGeom>
          <a:noFill/>
          <a:ln/>
        </p:spPr>
        <p:txBody>
          <a:bodyPr wrap="square" rtlCol="0" anchor="ctr"/>
          <a:lstStyle/>
          <a:p>
            <a:pPr indent="0" marL="0">
              <a:buNone/>
            </a:pPr>
            <a:r>
              <a:rPr lang="en-US" sz="1400" dirty="0">
                <a:solidFill>
                  <a:srgbClr val="0891B2"/>
                </a:solidFill>
                <a:latin typeface="Calibri" pitchFamily="34" charset="0"/>
                <a:ea typeface="Calibri" pitchFamily="34" charset="-122"/>
                <a:cs typeface="Calibri" pitchFamily="34" charset="-120"/>
              </a:rPr>
              <a:t>DORA Metrics · Flow · Agile · OKRs — speed vs. stability balance</a:t>
            </a:r>
            <a:endParaRPr lang="en-US" sz="1400" dirty="0"/>
          </a:p>
        </p:txBody>
      </p:sp>
      <p:sp>
        <p:nvSpPr>
          <p:cNvPr id="4" name="Shape 2"/>
          <p:cNvSpPr/>
          <p:nvPr/>
        </p:nvSpPr>
        <p:spPr>
          <a:xfrm>
            <a:off x="457200" y="1143000"/>
            <a:ext cx="8229600" cy="22860"/>
          </a:xfrm>
          <a:prstGeom prst="rect">
            <a:avLst/>
          </a:prstGeom>
          <a:solidFill>
            <a:srgbClr val="0891B2"/>
          </a:solidFill>
          <a:ln w="12700">
            <a:solidFill>
              <a:srgbClr val="0891B2"/>
            </a:solidFill>
            <a:prstDash val="solid"/>
          </a:ln>
        </p:spPr>
      </p:sp>
      <p:sp>
        <p:nvSpPr>
          <p:cNvPr id="5" name="Text 3"/>
          <p:cNvSpPr/>
          <p:nvPr/>
        </p:nvSpPr>
        <p:spPr>
          <a:xfrm>
            <a:off x="347472" y="1325880"/>
            <a:ext cx="8449056" cy="256032"/>
          </a:xfrm>
          <a:prstGeom prst="rect">
            <a:avLst/>
          </a:prstGeom>
          <a:noFill/>
          <a:ln/>
        </p:spPr>
        <p:txBody>
          <a:bodyPr wrap="square" rtlCol="0" anchor="ctr"/>
          <a:lstStyle/>
          <a:p>
            <a:pPr indent="0" marL="0">
              <a:buNone/>
            </a:pPr>
            <a:r>
              <a:rPr lang="en-US" sz="1200" b="1" dirty="0">
                <a:solidFill>
                  <a:srgbClr val="0D1F3C"/>
                </a:solidFill>
                <a:latin typeface="Calibri" pitchFamily="34" charset="0"/>
                <a:ea typeface="Calibri" pitchFamily="34" charset="-122"/>
                <a:cs typeface="Calibri" pitchFamily="34" charset="-120"/>
              </a:rPr>
              <a:t>DORA Metrics — DevOps Research &amp; Assessment (Forsgren et al., 2018)</a:t>
            </a:r>
            <a:endParaRPr lang="en-US" sz="1200" dirty="0"/>
          </a:p>
        </p:txBody>
      </p:sp>
      <p:sp>
        <p:nvSpPr>
          <p:cNvPr id="6" name="Shape 4"/>
          <p:cNvSpPr/>
          <p:nvPr/>
        </p:nvSpPr>
        <p:spPr>
          <a:xfrm>
            <a:off x="347472" y="1664208"/>
            <a:ext cx="2011680" cy="19202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347472" y="1664208"/>
            <a:ext cx="2011680" cy="438912"/>
          </a:xfrm>
          <a:prstGeom prst="rect">
            <a:avLst/>
          </a:prstGeom>
          <a:solidFill>
            <a:srgbClr val="0891B2"/>
          </a:solidFill>
          <a:ln w="12700">
            <a:solidFill>
              <a:srgbClr val="0891B2"/>
            </a:solidFill>
            <a:prstDash val="solid"/>
          </a:ln>
        </p:spPr>
      </p:sp>
      <p:sp>
        <p:nvSpPr>
          <p:cNvPr id="8" name="Text 6"/>
          <p:cNvSpPr/>
          <p:nvPr/>
        </p:nvSpPr>
        <p:spPr>
          <a:xfrm>
            <a:off x="347472" y="1664208"/>
            <a:ext cx="201168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Lead Time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for Changes</a:t>
            </a:r>
            <a:endParaRPr lang="en-US" sz="1000" dirty="0"/>
          </a:p>
        </p:txBody>
      </p:sp>
      <p:sp>
        <p:nvSpPr>
          <p:cNvPr id="9" name="Shape 7"/>
          <p:cNvSpPr/>
          <p:nvPr/>
        </p:nvSpPr>
        <p:spPr>
          <a:xfrm>
            <a:off x="694944" y="2212848"/>
            <a:ext cx="1316736" cy="292608"/>
          </a:xfrm>
          <a:prstGeom prst="rect">
            <a:avLst/>
          </a:prstGeom>
          <a:solidFill>
            <a:srgbClr val="D1FAE5"/>
          </a:solidFill>
          <a:ln w="12700">
            <a:solidFill>
              <a:srgbClr val="10B981"/>
            </a:solidFill>
            <a:prstDash val="solid"/>
          </a:ln>
        </p:spPr>
      </p:sp>
      <p:sp>
        <p:nvSpPr>
          <p:cNvPr id="10" name="Text 8"/>
          <p:cNvSpPr/>
          <p:nvPr/>
        </p:nvSpPr>
        <p:spPr>
          <a:xfrm>
            <a:off x="694944" y="2212848"/>
            <a:ext cx="1316736" cy="292608"/>
          </a:xfrm>
          <a:prstGeom prst="rect">
            <a:avLst/>
          </a:prstGeom>
          <a:noFill/>
          <a:ln/>
        </p:spPr>
        <p:txBody>
          <a:bodyPr wrap="square" lIns="0" tIns="0" rIns="0" bIns="0" rtlCol="0" anchor="ctr"/>
          <a:lstStyle/>
          <a:p>
            <a:pPr algn="ctr" indent="0" marL="0">
              <a:buNone/>
            </a:pPr>
            <a:r>
              <a:rPr lang="en-US" sz="900" b="1" dirty="0">
                <a:solidFill>
                  <a:srgbClr val="10B981"/>
                </a:solidFill>
                <a:latin typeface="Calibri" pitchFamily="34" charset="0"/>
                <a:ea typeface="Calibri" pitchFamily="34" charset="-122"/>
                <a:cs typeface="Calibri" pitchFamily="34" charset="-120"/>
              </a:rPr>
              <a:t>Elite: &lt; 1 hour</a:t>
            </a:r>
            <a:endParaRPr lang="en-US" sz="900" dirty="0"/>
          </a:p>
        </p:txBody>
      </p:sp>
      <p:sp>
        <p:nvSpPr>
          <p:cNvPr id="11" name="Text 9"/>
          <p:cNvSpPr/>
          <p:nvPr/>
        </p:nvSpPr>
        <p:spPr>
          <a:xfrm>
            <a:off x="438912" y="2578608"/>
            <a:ext cx="1828800" cy="914400"/>
          </a:xfrm>
          <a:prstGeom prst="rect">
            <a:avLst/>
          </a:prstGeom>
          <a:noFill/>
          <a:ln/>
        </p:spPr>
        <p:txBody>
          <a:bodyPr wrap="square" rtlCol="0" anchor="ctr"/>
          <a:lstStyle/>
          <a:p>
            <a:pPr algn="ctr" indent="0" marL="0">
              <a:buNone/>
            </a:pPr>
            <a:r>
              <a:rPr lang="en-US" sz="900" dirty="0">
                <a:solidFill>
                  <a:srgbClr val="334155"/>
                </a:solidFill>
                <a:latin typeface="Calibri" pitchFamily="34" charset="0"/>
                <a:ea typeface="Calibri" pitchFamily="34" charset="-122"/>
                <a:cs typeface="Calibri" pitchFamily="34" charset="-120"/>
              </a:rPr>
              <a:t>Speed from commit to production. Measures team responsiveness.</a:t>
            </a:r>
            <a:endParaRPr lang="en-US" sz="900" dirty="0"/>
          </a:p>
        </p:txBody>
      </p:sp>
      <p:sp>
        <p:nvSpPr>
          <p:cNvPr id="12" name="Shape 10"/>
          <p:cNvSpPr/>
          <p:nvPr/>
        </p:nvSpPr>
        <p:spPr>
          <a:xfrm>
            <a:off x="2496312" y="1664208"/>
            <a:ext cx="2011680" cy="19202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3" name="Shape 11"/>
          <p:cNvSpPr/>
          <p:nvPr/>
        </p:nvSpPr>
        <p:spPr>
          <a:xfrm>
            <a:off x="2496312" y="1664208"/>
            <a:ext cx="2011680" cy="438912"/>
          </a:xfrm>
          <a:prstGeom prst="rect">
            <a:avLst/>
          </a:prstGeom>
          <a:solidFill>
            <a:srgbClr val="1A5296"/>
          </a:solidFill>
          <a:ln w="12700">
            <a:solidFill>
              <a:srgbClr val="1A5296"/>
            </a:solidFill>
            <a:prstDash val="solid"/>
          </a:ln>
        </p:spPr>
      </p:sp>
      <p:sp>
        <p:nvSpPr>
          <p:cNvPr id="14" name="Text 12"/>
          <p:cNvSpPr/>
          <p:nvPr/>
        </p:nvSpPr>
        <p:spPr>
          <a:xfrm>
            <a:off x="2496312" y="1664208"/>
            <a:ext cx="201168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Deployment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Frequency</a:t>
            </a:r>
            <a:endParaRPr lang="en-US" sz="1000" dirty="0"/>
          </a:p>
        </p:txBody>
      </p:sp>
      <p:sp>
        <p:nvSpPr>
          <p:cNvPr id="15" name="Shape 13"/>
          <p:cNvSpPr/>
          <p:nvPr/>
        </p:nvSpPr>
        <p:spPr>
          <a:xfrm>
            <a:off x="2843784" y="2212848"/>
            <a:ext cx="1316736" cy="292608"/>
          </a:xfrm>
          <a:prstGeom prst="rect">
            <a:avLst/>
          </a:prstGeom>
          <a:solidFill>
            <a:srgbClr val="D1FAE5"/>
          </a:solidFill>
          <a:ln w="12700">
            <a:solidFill>
              <a:srgbClr val="10B981"/>
            </a:solidFill>
            <a:prstDash val="solid"/>
          </a:ln>
        </p:spPr>
      </p:sp>
      <p:sp>
        <p:nvSpPr>
          <p:cNvPr id="16" name="Text 14"/>
          <p:cNvSpPr/>
          <p:nvPr/>
        </p:nvSpPr>
        <p:spPr>
          <a:xfrm>
            <a:off x="2843784" y="2212848"/>
            <a:ext cx="1316736" cy="292608"/>
          </a:xfrm>
          <a:prstGeom prst="rect">
            <a:avLst/>
          </a:prstGeom>
          <a:noFill/>
          <a:ln/>
        </p:spPr>
        <p:txBody>
          <a:bodyPr wrap="square" lIns="0" tIns="0" rIns="0" bIns="0" rtlCol="0" anchor="ctr"/>
          <a:lstStyle/>
          <a:p>
            <a:pPr algn="ctr" indent="0" marL="0">
              <a:buNone/>
            </a:pPr>
            <a:r>
              <a:rPr lang="en-US" sz="900" b="1" dirty="0">
                <a:solidFill>
                  <a:srgbClr val="10B981"/>
                </a:solidFill>
                <a:latin typeface="Calibri" pitchFamily="34" charset="0"/>
                <a:ea typeface="Calibri" pitchFamily="34" charset="-122"/>
                <a:cs typeface="Calibri" pitchFamily="34" charset="-120"/>
              </a:rPr>
              <a:t>Elite: Multiple/day</a:t>
            </a:r>
            <a:endParaRPr lang="en-US" sz="900" dirty="0"/>
          </a:p>
        </p:txBody>
      </p:sp>
      <p:sp>
        <p:nvSpPr>
          <p:cNvPr id="17" name="Text 15"/>
          <p:cNvSpPr/>
          <p:nvPr/>
        </p:nvSpPr>
        <p:spPr>
          <a:xfrm>
            <a:off x="2587752" y="2578608"/>
            <a:ext cx="1828800" cy="914400"/>
          </a:xfrm>
          <a:prstGeom prst="rect">
            <a:avLst/>
          </a:prstGeom>
          <a:noFill/>
          <a:ln/>
        </p:spPr>
        <p:txBody>
          <a:bodyPr wrap="square" rtlCol="0" anchor="ctr"/>
          <a:lstStyle/>
          <a:p>
            <a:pPr algn="ctr" indent="0" marL="0">
              <a:buNone/>
            </a:pPr>
            <a:r>
              <a:rPr lang="en-US" sz="900" dirty="0">
                <a:solidFill>
                  <a:srgbClr val="334155"/>
                </a:solidFill>
                <a:latin typeface="Calibri" pitchFamily="34" charset="0"/>
                <a:ea typeface="Calibri" pitchFamily="34" charset="-122"/>
                <a:cs typeface="Calibri" pitchFamily="34" charset="-120"/>
              </a:rPr>
              <a:t>How often value is delivered. High frequency = low-risk deploys.</a:t>
            </a:r>
            <a:endParaRPr lang="en-US" sz="900" dirty="0"/>
          </a:p>
        </p:txBody>
      </p:sp>
      <p:sp>
        <p:nvSpPr>
          <p:cNvPr id="18" name="Shape 16"/>
          <p:cNvSpPr/>
          <p:nvPr/>
        </p:nvSpPr>
        <p:spPr>
          <a:xfrm>
            <a:off x="4645152" y="1664208"/>
            <a:ext cx="2011680" cy="19202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4645152" y="1664208"/>
            <a:ext cx="2011680" cy="438912"/>
          </a:xfrm>
          <a:prstGeom prst="rect">
            <a:avLst/>
          </a:prstGeom>
          <a:solidFill>
            <a:srgbClr val="10B981"/>
          </a:solidFill>
          <a:ln w="12700">
            <a:solidFill>
              <a:srgbClr val="10B981"/>
            </a:solidFill>
            <a:prstDash val="solid"/>
          </a:ln>
        </p:spPr>
      </p:sp>
      <p:sp>
        <p:nvSpPr>
          <p:cNvPr id="20" name="Text 18"/>
          <p:cNvSpPr/>
          <p:nvPr/>
        </p:nvSpPr>
        <p:spPr>
          <a:xfrm>
            <a:off x="4645152" y="1664208"/>
            <a:ext cx="201168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Change Failure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Rate</a:t>
            </a:r>
            <a:endParaRPr lang="en-US" sz="1000" dirty="0"/>
          </a:p>
        </p:txBody>
      </p:sp>
      <p:sp>
        <p:nvSpPr>
          <p:cNvPr id="21" name="Shape 19"/>
          <p:cNvSpPr/>
          <p:nvPr/>
        </p:nvSpPr>
        <p:spPr>
          <a:xfrm>
            <a:off x="4992624" y="2212848"/>
            <a:ext cx="1316736" cy="292608"/>
          </a:xfrm>
          <a:prstGeom prst="rect">
            <a:avLst/>
          </a:prstGeom>
          <a:solidFill>
            <a:srgbClr val="D1FAE5"/>
          </a:solidFill>
          <a:ln w="12700">
            <a:solidFill>
              <a:srgbClr val="10B981"/>
            </a:solidFill>
            <a:prstDash val="solid"/>
          </a:ln>
        </p:spPr>
      </p:sp>
      <p:sp>
        <p:nvSpPr>
          <p:cNvPr id="22" name="Text 20"/>
          <p:cNvSpPr/>
          <p:nvPr/>
        </p:nvSpPr>
        <p:spPr>
          <a:xfrm>
            <a:off x="4992624" y="2212848"/>
            <a:ext cx="1316736" cy="292608"/>
          </a:xfrm>
          <a:prstGeom prst="rect">
            <a:avLst/>
          </a:prstGeom>
          <a:noFill/>
          <a:ln/>
        </p:spPr>
        <p:txBody>
          <a:bodyPr wrap="square" lIns="0" tIns="0" rIns="0" bIns="0" rtlCol="0" anchor="ctr"/>
          <a:lstStyle/>
          <a:p>
            <a:pPr algn="ctr" indent="0" marL="0">
              <a:buNone/>
            </a:pPr>
            <a:r>
              <a:rPr lang="en-US" sz="900" b="1" dirty="0">
                <a:solidFill>
                  <a:srgbClr val="10B981"/>
                </a:solidFill>
                <a:latin typeface="Calibri" pitchFamily="34" charset="0"/>
                <a:ea typeface="Calibri" pitchFamily="34" charset="-122"/>
                <a:cs typeface="Calibri" pitchFamily="34" charset="-120"/>
              </a:rPr>
              <a:t>Elite: &lt; 15%</a:t>
            </a:r>
            <a:endParaRPr lang="en-US" sz="900" dirty="0"/>
          </a:p>
        </p:txBody>
      </p:sp>
      <p:sp>
        <p:nvSpPr>
          <p:cNvPr id="23" name="Text 21"/>
          <p:cNvSpPr/>
          <p:nvPr/>
        </p:nvSpPr>
        <p:spPr>
          <a:xfrm>
            <a:off x="4736592" y="2578608"/>
            <a:ext cx="1828800" cy="914400"/>
          </a:xfrm>
          <a:prstGeom prst="rect">
            <a:avLst/>
          </a:prstGeom>
          <a:noFill/>
          <a:ln/>
        </p:spPr>
        <p:txBody>
          <a:bodyPr wrap="square" rtlCol="0" anchor="ctr"/>
          <a:lstStyle/>
          <a:p>
            <a:pPr algn="ctr" indent="0" marL="0">
              <a:buNone/>
            </a:pPr>
            <a:r>
              <a:rPr lang="en-US" sz="900" dirty="0">
                <a:solidFill>
                  <a:srgbClr val="334155"/>
                </a:solidFill>
                <a:latin typeface="Calibri" pitchFamily="34" charset="0"/>
                <a:ea typeface="Calibri" pitchFamily="34" charset="-122"/>
                <a:cs typeface="Calibri" pitchFamily="34" charset="-120"/>
              </a:rPr>
              <a:t>Quality proxy. What % of changes cause production issues.</a:t>
            </a:r>
            <a:endParaRPr lang="en-US" sz="900" dirty="0"/>
          </a:p>
        </p:txBody>
      </p:sp>
      <p:sp>
        <p:nvSpPr>
          <p:cNvPr id="24" name="Shape 22"/>
          <p:cNvSpPr/>
          <p:nvPr/>
        </p:nvSpPr>
        <p:spPr>
          <a:xfrm>
            <a:off x="6793992" y="1664208"/>
            <a:ext cx="2011680" cy="19202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6793992" y="1664208"/>
            <a:ext cx="2011680" cy="438912"/>
          </a:xfrm>
          <a:prstGeom prst="rect">
            <a:avLst/>
          </a:prstGeom>
          <a:solidFill>
            <a:srgbClr val="7C3AED"/>
          </a:solidFill>
          <a:ln w="12700">
            <a:solidFill>
              <a:srgbClr val="7C3AED"/>
            </a:solidFill>
            <a:prstDash val="solid"/>
          </a:ln>
        </p:spPr>
      </p:sp>
      <p:sp>
        <p:nvSpPr>
          <p:cNvPr id="26" name="Text 24"/>
          <p:cNvSpPr/>
          <p:nvPr/>
        </p:nvSpPr>
        <p:spPr>
          <a:xfrm>
            <a:off x="6793992" y="1664208"/>
            <a:ext cx="201168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Mean Time to</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Recover</a:t>
            </a:r>
            <a:endParaRPr lang="en-US" sz="1000" dirty="0"/>
          </a:p>
        </p:txBody>
      </p:sp>
      <p:sp>
        <p:nvSpPr>
          <p:cNvPr id="27" name="Shape 25"/>
          <p:cNvSpPr/>
          <p:nvPr/>
        </p:nvSpPr>
        <p:spPr>
          <a:xfrm>
            <a:off x="7141464" y="2212848"/>
            <a:ext cx="1316736" cy="292608"/>
          </a:xfrm>
          <a:prstGeom prst="rect">
            <a:avLst/>
          </a:prstGeom>
          <a:solidFill>
            <a:srgbClr val="D1FAE5"/>
          </a:solidFill>
          <a:ln w="12700">
            <a:solidFill>
              <a:srgbClr val="10B981"/>
            </a:solidFill>
            <a:prstDash val="solid"/>
          </a:ln>
        </p:spPr>
      </p:sp>
      <p:sp>
        <p:nvSpPr>
          <p:cNvPr id="28" name="Text 26"/>
          <p:cNvSpPr/>
          <p:nvPr/>
        </p:nvSpPr>
        <p:spPr>
          <a:xfrm>
            <a:off x="7141464" y="2212848"/>
            <a:ext cx="1316736" cy="292608"/>
          </a:xfrm>
          <a:prstGeom prst="rect">
            <a:avLst/>
          </a:prstGeom>
          <a:noFill/>
          <a:ln/>
        </p:spPr>
        <p:txBody>
          <a:bodyPr wrap="square" lIns="0" tIns="0" rIns="0" bIns="0" rtlCol="0" anchor="ctr"/>
          <a:lstStyle/>
          <a:p>
            <a:pPr algn="ctr" indent="0" marL="0">
              <a:buNone/>
            </a:pPr>
            <a:r>
              <a:rPr lang="en-US" sz="900" b="1" dirty="0">
                <a:solidFill>
                  <a:srgbClr val="10B981"/>
                </a:solidFill>
                <a:latin typeface="Calibri" pitchFamily="34" charset="0"/>
                <a:ea typeface="Calibri" pitchFamily="34" charset="-122"/>
                <a:cs typeface="Calibri" pitchFamily="34" charset="-120"/>
              </a:rPr>
              <a:t>Elite: &lt; 1 hour</a:t>
            </a:r>
            <a:endParaRPr lang="en-US" sz="900" dirty="0"/>
          </a:p>
        </p:txBody>
      </p:sp>
      <p:sp>
        <p:nvSpPr>
          <p:cNvPr id="29" name="Text 27"/>
          <p:cNvSpPr/>
          <p:nvPr/>
        </p:nvSpPr>
        <p:spPr>
          <a:xfrm>
            <a:off x="6885432" y="2578608"/>
            <a:ext cx="1828800" cy="914400"/>
          </a:xfrm>
          <a:prstGeom prst="rect">
            <a:avLst/>
          </a:prstGeom>
          <a:noFill/>
          <a:ln/>
        </p:spPr>
        <p:txBody>
          <a:bodyPr wrap="square" rtlCol="0" anchor="ctr"/>
          <a:lstStyle/>
          <a:p>
            <a:pPr algn="ctr" indent="0" marL="0">
              <a:buNone/>
            </a:pPr>
            <a:r>
              <a:rPr lang="en-US" sz="900" dirty="0">
                <a:solidFill>
                  <a:srgbClr val="334155"/>
                </a:solidFill>
                <a:latin typeface="Calibri" pitchFamily="34" charset="0"/>
                <a:ea typeface="Calibri" pitchFamily="34" charset="-122"/>
                <a:cs typeface="Calibri" pitchFamily="34" charset="-120"/>
              </a:rPr>
              <a:t>Resilience. How fast the team restores service after failure.</a:t>
            </a:r>
            <a:endParaRPr lang="en-US" sz="900" dirty="0"/>
          </a:p>
        </p:txBody>
      </p:sp>
      <p:sp>
        <p:nvSpPr>
          <p:cNvPr id="30" name="Text 28"/>
          <p:cNvSpPr/>
          <p:nvPr/>
        </p:nvSpPr>
        <p:spPr>
          <a:xfrm>
            <a:off x="347472" y="3675888"/>
            <a:ext cx="2743200" cy="256032"/>
          </a:xfrm>
          <a:prstGeom prst="rect">
            <a:avLst/>
          </a:prstGeom>
          <a:noFill/>
          <a:ln/>
        </p:spPr>
        <p:txBody>
          <a:bodyPr wrap="square" rtlCol="0" anchor="ctr"/>
          <a:lstStyle/>
          <a:p>
            <a:pPr indent="0" marL="0">
              <a:buNone/>
            </a:pPr>
            <a:r>
              <a:rPr lang="en-US" sz="1100" b="1" dirty="0">
                <a:solidFill>
                  <a:srgbClr val="0D1F3C"/>
                </a:solidFill>
                <a:latin typeface="Calibri" pitchFamily="34" charset="0"/>
                <a:ea typeface="Calibri" pitchFamily="34" charset="-122"/>
                <a:cs typeface="Calibri" pitchFamily="34" charset="-120"/>
              </a:rPr>
              <a:t>Additional Frameworks</a:t>
            </a:r>
            <a:endParaRPr lang="en-US" sz="1100" dirty="0"/>
          </a:p>
        </p:txBody>
      </p:sp>
      <p:sp>
        <p:nvSpPr>
          <p:cNvPr id="31" name="Shape 29"/>
          <p:cNvSpPr/>
          <p:nvPr/>
        </p:nvSpPr>
        <p:spPr>
          <a:xfrm>
            <a:off x="347472" y="3977640"/>
            <a:ext cx="2697480" cy="74980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2" name="Shape 30"/>
          <p:cNvSpPr/>
          <p:nvPr/>
        </p:nvSpPr>
        <p:spPr>
          <a:xfrm>
            <a:off x="347472" y="3977640"/>
            <a:ext cx="73152" cy="749808"/>
          </a:xfrm>
          <a:prstGeom prst="rect">
            <a:avLst/>
          </a:prstGeom>
          <a:solidFill>
            <a:srgbClr val="F59E0B"/>
          </a:solidFill>
          <a:ln w="12700">
            <a:solidFill>
              <a:srgbClr val="F59E0B"/>
            </a:solidFill>
            <a:prstDash val="solid"/>
          </a:ln>
        </p:spPr>
      </p:sp>
      <p:sp>
        <p:nvSpPr>
          <p:cNvPr id="33" name="Text 31"/>
          <p:cNvSpPr/>
          <p:nvPr/>
        </p:nvSpPr>
        <p:spPr>
          <a:xfrm>
            <a:off x="484632" y="4041648"/>
            <a:ext cx="2468880" cy="256032"/>
          </a:xfrm>
          <a:prstGeom prst="rect">
            <a:avLst/>
          </a:prstGeom>
          <a:noFill/>
          <a:ln/>
        </p:spPr>
        <p:txBody>
          <a:bodyPr wrap="square"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Flow Metrics</a:t>
            </a:r>
            <a:endParaRPr lang="en-US" sz="1100" dirty="0"/>
          </a:p>
        </p:txBody>
      </p:sp>
      <p:sp>
        <p:nvSpPr>
          <p:cNvPr id="34" name="Text 32"/>
          <p:cNvSpPr/>
          <p:nvPr/>
        </p:nvSpPr>
        <p:spPr>
          <a:xfrm>
            <a:off x="484632" y="4315968"/>
            <a:ext cx="2514600" cy="384048"/>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Velocity · Efficiency · Load · Distribution → Lean VSM optimization</a:t>
            </a:r>
            <a:endParaRPr lang="en-US" sz="900" dirty="0"/>
          </a:p>
        </p:txBody>
      </p:sp>
      <p:sp>
        <p:nvSpPr>
          <p:cNvPr id="35" name="Shape 33"/>
          <p:cNvSpPr/>
          <p:nvPr/>
        </p:nvSpPr>
        <p:spPr>
          <a:xfrm>
            <a:off x="3200400" y="3977640"/>
            <a:ext cx="2697480" cy="74980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6" name="Shape 34"/>
          <p:cNvSpPr/>
          <p:nvPr/>
        </p:nvSpPr>
        <p:spPr>
          <a:xfrm>
            <a:off x="3200400" y="3977640"/>
            <a:ext cx="73152" cy="749808"/>
          </a:xfrm>
          <a:prstGeom prst="rect">
            <a:avLst/>
          </a:prstGeom>
          <a:solidFill>
            <a:srgbClr val="EF4444"/>
          </a:solidFill>
          <a:ln w="12700">
            <a:solidFill>
              <a:srgbClr val="EF4444"/>
            </a:solidFill>
            <a:prstDash val="solid"/>
          </a:ln>
        </p:spPr>
      </p:sp>
      <p:sp>
        <p:nvSpPr>
          <p:cNvPr id="37" name="Text 35"/>
          <p:cNvSpPr/>
          <p:nvPr/>
        </p:nvSpPr>
        <p:spPr>
          <a:xfrm>
            <a:off x="3337560" y="4041648"/>
            <a:ext cx="2468880" cy="256032"/>
          </a:xfrm>
          <a:prstGeom prst="rect">
            <a:avLst/>
          </a:prstGeom>
          <a:noFill/>
          <a:ln/>
        </p:spPr>
        <p:txBody>
          <a:bodyPr wrap="square"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Agile Metrics</a:t>
            </a:r>
            <a:endParaRPr lang="en-US" sz="1100" dirty="0"/>
          </a:p>
        </p:txBody>
      </p:sp>
      <p:sp>
        <p:nvSpPr>
          <p:cNvPr id="38" name="Text 36"/>
          <p:cNvSpPr/>
          <p:nvPr/>
        </p:nvSpPr>
        <p:spPr>
          <a:xfrm>
            <a:off x="3337560" y="4315968"/>
            <a:ext cx="2514600" cy="384048"/>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Sprint velocity · Burndown · Predictability · Defect escape rate</a:t>
            </a:r>
            <a:endParaRPr lang="en-US" sz="900" dirty="0"/>
          </a:p>
        </p:txBody>
      </p:sp>
      <p:sp>
        <p:nvSpPr>
          <p:cNvPr id="39" name="Shape 37"/>
          <p:cNvSpPr/>
          <p:nvPr/>
        </p:nvSpPr>
        <p:spPr>
          <a:xfrm>
            <a:off x="6053328" y="3977640"/>
            <a:ext cx="2697480" cy="74980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40" name="Shape 38"/>
          <p:cNvSpPr/>
          <p:nvPr/>
        </p:nvSpPr>
        <p:spPr>
          <a:xfrm>
            <a:off x="6053328" y="3977640"/>
            <a:ext cx="73152" cy="749808"/>
          </a:xfrm>
          <a:prstGeom prst="rect">
            <a:avLst/>
          </a:prstGeom>
          <a:solidFill>
            <a:srgbClr val="7C3AED"/>
          </a:solidFill>
          <a:ln w="12700">
            <a:solidFill>
              <a:srgbClr val="7C3AED"/>
            </a:solidFill>
            <a:prstDash val="solid"/>
          </a:ln>
        </p:spPr>
      </p:sp>
      <p:sp>
        <p:nvSpPr>
          <p:cNvPr id="41" name="Text 39"/>
          <p:cNvSpPr/>
          <p:nvPr/>
        </p:nvSpPr>
        <p:spPr>
          <a:xfrm>
            <a:off x="6190488" y="4041648"/>
            <a:ext cx="2468880" cy="256032"/>
          </a:xfrm>
          <a:prstGeom prst="rect">
            <a:avLst/>
          </a:prstGeom>
          <a:noFill/>
          <a:ln/>
        </p:spPr>
        <p:txBody>
          <a:bodyPr wrap="square"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OKRs</a:t>
            </a:r>
            <a:endParaRPr lang="en-US" sz="1100" dirty="0"/>
          </a:p>
        </p:txBody>
      </p:sp>
      <p:sp>
        <p:nvSpPr>
          <p:cNvPr id="42" name="Text 40"/>
          <p:cNvSpPr/>
          <p:nvPr/>
        </p:nvSpPr>
        <p:spPr>
          <a:xfrm>
            <a:off x="6190488" y="4315968"/>
            <a:ext cx="2514600" cy="384048"/>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Objectives + Key Results → Quarterly alignment, team ↔ org strategy</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DevOps · Platform Engineering · AI-Assisted Teams</a:t>
            </a:r>
            <a:endParaRPr lang="en-US" sz="3000" dirty="0"/>
          </a:p>
        </p:txBody>
      </p:sp>
      <p:sp>
        <p:nvSpPr>
          <p:cNvPr id="3" name="Text 1"/>
          <p:cNvSpPr/>
          <p:nvPr/>
        </p:nvSpPr>
        <p:spPr>
          <a:xfrm>
            <a:off x="457200" y="841248"/>
            <a:ext cx="8229600" cy="320040"/>
          </a:xfrm>
          <a:prstGeom prst="rect">
            <a:avLst/>
          </a:prstGeom>
          <a:noFill/>
          <a:ln/>
        </p:spPr>
        <p:txBody>
          <a:bodyPr wrap="square" rtlCol="0" anchor="ctr"/>
          <a:lstStyle/>
          <a:p>
            <a:pPr indent="0" marL="0">
              <a:buNone/>
            </a:pPr>
            <a:r>
              <a:rPr lang="en-US" sz="1400" dirty="0">
                <a:solidFill>
                  <a:srgbClr val="0891B2"/>
                </a:solidFill>
                <a:latin typeface="Calibri" pitchFamily="34" charset="0"/>
                <a:ea typeface="Calibri" pitchFamily="34" charset="-122"/>
                <a:cs typeface="Calibri" pitchFamily="34" charset="-120"/>
              </a:rPr>
              <a:t>Three converging forces reshaping the software team model</a:t>
            </a:r>
            <a:endParaRPr lang="en-US" sz="1400" dirty="0"/>
          </a:p>
        </p:txBody>
      </p:sp>
      <p:sp>
        <p:nvSpPr>
          <p:cNvPr id="4" name="Shape 2"/>
          <p:cNvSpPr/>
          <p:nvPr/>
        </p:nvSpPr>
        <p:spPr>
          <a:xfrm>
            <a:off x="457200" y="1143000"/>
            <a:ext cx="8229600" cy="22860"/>
          </a:xfrm>
          <a:prstGeom prst="rect">
            <a:avLst/>
          </a:prstGeom>
          <a:solidFill>
            <a:srgbClr val="0891B2"/>
          </a:solidFill>
          <a:ln w="12700">
            <a:solidFill>
              <a:srgbClr val="0891B2"/>
            </a:solidFill>
            <a:prstDash val="solid"/>
          </a:ln>
        </p:spPr>
      </p:sp>
      <p:sp>
        <p:nvSpPr>
          <p:cNvPr id="5" name="Shape 3"/>
          <p:cNvSpPr/>
          <p:nvPr/>
        </p:nvSpPr>
        <p:spPr>
          <a:xfrm>
            <a:off x="347472" y="1325880"/>
            <a:ext cx="2651760" cy="3429000"/>
          </a:xfrm>
          <a:prstGeom prst="rect">
            <a:avLst/>
          </a:prstGeom>
          <a:solidFill>
            <a:srgbClr val="F0FDF4"/>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347472" y="1325880"/>
            <a:ext cx="73152" cy="3429000"/>
          </a:xfrm>
          <a:prstGeom prst="rect">
            <a:avLst/>
          </a:prstGeom>
          <a:solidFill>
            <a:srgbClr val="10B981"/>
          </a:solidFill>
          <a:ln w="12700">
            <a:solidFill>
              <a:srgbClr val="10B981"/>
            </a:solidFill>
            <a:prstDash val="solid"/>
          </a:ln>
        </p:spPr>
      </p:sp>
      <p:sp>
        <p:nvSpPr>
          <p:cNvPr id="7" name="Shape 5"/>
          <p:cNvSpPr/>
          <p:nvPr/>
        </p:nvSpPr>
        <p:spPr>
          <a:xfrm>
            <a:off x="347472" y="1325880"/>
            <a:ext cx="2651760" cy="411480"/>
          </a:xfrm>
          <a:prstGeom prst="rect">
            <a:avLst/>
          </a:prstGeom>
          <a:solidFill>
            <a:srgbClr val="10B981"/>
          </a:solidFill>
          <a:ln w="12700">
            <a:solidFill>
              <a:srgbClr val="10B981"/>
            </a:solidFill>
            <a:prstDash val="solid"/>
          </a:ln>
        </p:spPr>
      </p:sp>
      <p:sp>
        <p:nvSpPr>
          <p:cNvPr id="8" name="Text 6"/>
          <p:cNvSpPr/>
          <p:nvPr/>
        </p:nvSpPr>
        <p:spPr>
          <a:xfrm>
            <a:off x="347472" y="1325880"/>
            <a:ext cx="265176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DEVOPS</a:t>
            </a:r>
            <a:endParaRPr lang="en-US" sz="1300" dirty="0"/>
          </a:p>
        </p:txBody>
      </p:sp>
      <p:sp>
        <p:nvSpPr>
          <p:cNvPr id="9" name="Text 7"/>
          <p:cNvSpPr/>
          <p:nvPr/>
        </p:nvSpPr>
        <p:spPr>
          <a:xfrm>
            <a:off x="457200" y="1828800"/>
            <a:ext cx="2423160" cy="2834640"/>
          </a:xfrm>
          <a:prstGeom prst="rect">
            <a:avLst/>
          </a:prstGeom>
          <a:noFill/>
          <a:ln/>
        </p:spPr>
        <p:txBody>
          <a:bodyPr wrap="square" rtlCol="0" anchor="ctr"/>
          <a:lstStyle/>
          <a:p>
            <a:pPr indent="0" marL="0">
              <a:buNone/>
            </a:pPr>
            <a:r>
              <a:rPr lang="en-US" sz="950" b="1" dirty="0">
                <a:solidFill>
                  <a:srgbClr val="10B981"/>
                </a:solidFill>
                <a:latin typeface="Calibri" pitchFamily="34" charset="0"/>
                <a:ea typeface="Calibri" pitchFamily="34" charset="-122"/>
                <a:cs typeface="Calibri" pitchFamily="34" charset="-120"/>
              </a:rPr>
              <a:t>Three Ways:
</a:t>
            </a:r>
            <a:pPr indent="0" marL="0">
              <a:buNone/>
            </a:pPr>
            <a:r>
              <a:rPr lang="en-US" sz="950" dirty="0">
                <a:solidFill>
                  <a:srgbClr val="334155"/>
                </a:solidFill>
                <a:latin typeface="Calibri" pitchFamily="34" charset="0"/>
                <a:ea typeface="Calibri" pitchFamily="34" charset="-122"/>
                <a:cs typeface="Calibri" pitchFamily="34" charset="-120"/>
              </a:rPr>
              <a:t>① Fast Flow: dev → production
② Rapid Feedback: prod → dev
③ Continuous Learning
</a:t>
            </a:r>
            <a:pPr indent="0" marL="0">
              <a:buNone/>
            </a:pPr>
            <a:r>
              <a:rPr lang="en-US" sz="950" b="1" dirty="0">
                <a:solidFill>
                  <a:srgbClr val="10B981"/>
                </a:solidFill>
                <a:latin typeface="Calibri" pitchFamily="34" charset="0"/>
                <a:ea typeface="Calibri" pitchFamily="34" charset="-122"/>
                <a:cs typeface="Calibri" pitchFamily="34" charset="-120"/>
              </a:rPr>
              <a:t>Models:
</a:t>
            </a:r>
            <a:pPr indent="0" marL="0">
              <a:buNone/>
            </a:pPr>
            <a:r>
              <a:rPr lang="en-US" sz="950" dirty="0">
                <a:solidFill>
                  <a:srgbClr val="334155"/>
                </a:solidFill>
                <a:latin typeface="Calibri" pitchFamily="34" charset="0"/>
                <a:ea typeface="Calibri" pitchFamily="34" charset="-122"/>
                <a:cs typeface="Calibri" pitchFamily="34" charset="-120"/>
              </a:rPr>
              <a:t>• You Build It, You Run It (Netflix)</a:t>
            </a:r>
            <a:endParaRPr lang="en-US" sz="950" dirty="0"/>
          </a:p>
          <a:p>
            <a:pPr indent="0" marL="0">
              <a:buNone/>
            </a:pPr>
            <a:r>
              <a:rPr lang="en-US" sz="950" dirty="0">
                <a:solidFill>
                  <a:srgbClr val="334155"/>
                </a:solidFill>
                <a:latin typeface="Calibri" pitchFamily="34" charset="0"/>
                <a:ea typeface="Calibri" pitchFamily="34" charset="-122"/>
                <a:cs typeface="Calibri" pitchFamily="34" charset="-120"/>
              </a:rPr>
              <a:t>• SRE embedded teams (Google)</a:t>
            </a:r>
            <a:endParaRPr lang="en-US" sz="950" dirty="0"/>
          </a:p>
          <a:p>
            <a:pPr indent="0" marL="0">
              <a:buNone/>
            </a:pPr>
            <a:r>
              <a:rPr lang="en-US" sz="950" dirty="0">
                <a:solidFill>
                  <a:srgbClr val="334155"/>
                </a:solidFill>
                <a:latin typeface="Calibri" pitchFamily="34" charset="0"/>
                <a:ea typeface="Calibri" pitchFamily="34" charset="-122"/>
                <a:cs typeface="Calibri" pitchFamily="34" charset="-120"/>
              </a:rPr>
              <a:t>• DevSecOps (financial services)</a:t>
            </a:r>
            <a:endParaRPr lang="en-US" sz="950" dirty="0"/>
          </a:p>
          <a:p>
            <a:pPr indent="0" marL="0">
              <a:buNone/>
            </a:pPr>
            <a:r>
              <a:rPr lang="en-US" sz="950" dirty="0">
                <a:solidFill>
                  <a:srgbClr val="334155"/>
                </a:solidFill>
                <a:latin typeface="Calibri" pitchFamily="34" charset="0"/>
                <a:ea typeface="Calibri" pitchFamily="34" charset="-122"/>
                <a:cs typeface="Calibri" pitchFamily="34" charset="-120"/>
              </a:rPr>
              <a:t>• Platform + Stream Teams</a:t>
            </a:r>
            <a:endParaRPr lang="en-US" sz="950" dirty="0"/>
          </a:p>
        </p:txBody>
      </p:sp>
      <p:sp>
        <p:nvSpPr>
          <p:cNvPr id="10" name="Shape 8"/>
          <p:cNvSpPr/>
          <p:nvPr/>
        </p:nvSpPr>
        <p:spPr>
          <a:xfrm>
            <a:off x="3154680" y="1325880"/>
            <a:ext cx="2651760" cy="3429000"/>
          </a:xfrm>
          <a:prstGeom prst="rect">
            <a:avLst/>
          </a:prstGeom>
          <a:solidFill>
            <a:srgbClr val="EFF6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3154680" y="1325880"/>
            <a:ext cx="73152" cy="3429000"/>
          </a:xfrm>
          <a:prstGeom prst="rect">
            <a:avLst/>
          </a:prstGeom>
          <a:solidFill>
            <a:srgbClr val="1A5296"/>
          </a:solidFill>
          <a:ln w="12700">
            <a:solidFill>
              <a:srgbClr val="1A5296"/>
            </a:solidFill>
            <a:prstDash val="solid"/>
          </a:ln>
        </p:spPr>
      </p:sp>
      <p:sp>
        <p:nvSpPr>
          <p:cNvPr id="12" name="Shape 10"/>
          <p:cNvSpPr/>
          <p:nvPr/>
        </p:nvSpPr>
        <p:spPr>
          <a:xfrm>
            <a:off x="3154680" y="1325880"/>
            <a:ext cx="2651760" cy="411480"/>
          </a:xfrm>
          <a:prstGeom prst="rect">
            <a:avLst/>
          </a:prstGeom>
          <a:solidFill>
            <a:srgbClr val="1A5296"/>
          </a:solidFill>
          <a:ln w="12700">
            <a:solidFill>
              <a:srgbClr val="1A5296"/>
            </a:solidFill>
            <a:prstDash val="solid"/>
          </a:ln>
        </p:spPr>
      </p:sp>
      <p:sp>
        <p:nvSpPr>
          <p:cNvPr id="13" name="Text 11"/>
          <p:cNvSpPr/>
          <p:nvPr/>
        </p:nvSpPr>
        <p:spPr>
          <a:xfrm>
            <a:off x="3154680" y="1325880"/>
            <a:ext cx="265176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PLATFORM ENG.</a:t>
            </a:r>
            <a:endParaRPr lang="en-US" sz="1300" dirty="0"/>
          </a:p>
        </p:txBody>
      </p:sp>
      <p:sp>
        <p:nvSpPr>
          <p:cNvPr id="14" name="Text 12"/>
          <p:cNvSpPr/>
          <p:nvPr/>
        </p:nvSpPr>
        <p:spPr>
          <a:xfrm>
            <a:off x="3264408" y="1828800"/>
            <a:ext cx="2423160" cy="2834640"/>
          </a:xfrm>
          <a:prstGeom prst="rect">
            <a:avLst/>
          </a:prstGeom>
          <a:noFill/>
          <a:ln/>
        </p:spPr>
        <p:txBody>
          <a:bodyPr wrap="square" rtlCol="0" anchor="ctr"/>
          <a:lstStyle/>
          <a:p>
            <a:pPr indent="0" marL="0">
              <a:buNone/>
            </a:pPr>
            <a:r>
              <a:rPr lang="en-US" sz="950" b="1" dirty="0">
                <a:solidFill>
                  <a:srgbClr val="1A5296"/>
                </a:solidFill>
                <a:latin typeface="Calibri" pitchFamily="34" charset="0"/>
                <a:ea typeface="Calibri" pitchFamily="34" charset="-122"/>
                <a:cs typeface="Calibri" pitchFamily="34" charset="-120"/>
              </a:rPr>
              <a:t>Goal:
</a:t>
            </a:r>
            <a:pPr indent="0" marL="0">
              <a:buNone/>
            </a:pPr>
            <a:r>
              <a:rPr lang="en-US" sz="950" dirty="0">
                <a:solidFill>
                  <a:srgbClr val="334155"/>
                </a:solidFill>
                <a:latin typeface="Calibri" pitchFamily="34" charset="0"/>
                <a:ea typeface="Calibri" pitchFamily="34" charset="-122"/>
                <a:cs typeface="Calibri" pitchFamily="34" charset="-120"/>
              </a:rPr>
              <a:t>Reduce cognitive load on stream-aligned teams via self-service tooling
</a:t>
            </a:r>
            <a:pPr indent="0" marL="0">
              <a:buNone/>
            </a:pPr>
            <a:r>
              <a:rPr lang="en-US" sz="950" b="1" dirty="0">
                <a:solidFill>
                  <a:srgbClr val="1A5296"/>
                </a:solidFill>
                <a:latin typeface="Calibri" pitchFamily="34" charset="0"/>
                <a:ea typeface="Calibri" pitchFamily="34" charset="-122"/>
                <a:cs typeface="Calibri" pitchFamily="34" charset="-120"/>
              </a:rPr>
              <a:t>Platform-as-a-Product:
</a:t>
            </a:r>
            <a:pPr indent="0" marL="0">
              <a:buNone/>
            </a:pPr>
            <a:r>
              <a:rPr lang="en-US" sz="950" dirty="0">
                <a:solidFill>
                  <a:srgbClr val="334155"/>
                </a:solidFill>
                <a:latin typeface="Calibri" pitchFamily="34" charset="0"/>
                <a:ea typeface="Calibri" pitchFamily="34" charset="-122"/>
                <a:cs typeface="Calibri" pitchFamily="34" charset="-120"/>
              </a:rPr>
              <a:t>• Treat internal teams as customers</a:t>
            </a:r>
            <a:endParaRPr lang="en-US" sz="950" dirty="0"/>
          </a:p>
          <a:p>
            <a:pPr indent="0" marL="0">
              <a:buNone/>
            </a:pPr>
            <a:r>
              <a:rPr lang="en-US" sz="950" dirty="0">
                <a:solidFill>
                  <a:srgbClr val="334155"/>
                </a:solidFill>
                <a:latin typeface="Calibri" pitchFamily="34" charset="0"/>
                <a:ea typeface="Calibri" pitchFamily="34" charset="-122"/>
                <a:cs typeface="Calibri" pitchFamily="34" charset="-120"/>
              </a:rPr>
              <a:t>• Maintain SLOs for platform services</a:t>
            </a:r>
            <a:endParaRPr lang="en-US" sz="950" dirty="0"/>
          </a:p>
          <a:p>
            <a:pPr indent="0" marL="0">
              <a:buNone/>
            </a:pPr>
            <a:r>
              <a:rPr lang="en-US" sz="950" dirty="0">
                <a:solidFill>
                  <a:srgbClr val="334155"/>
                </a:solidFill>
                <a:latin typeface="Calibri" pitchFamily="34" charset="0"/>
                <a:ea typeface="Calibri" pitchFamily="34" charset="-122"/>
                <a:cs typeface="Calibri" pitchFamily="34" charset="-120"/>
              </a:rPr>
              <a:t>• Gather usage feedback</a:t>
            </a:r>
            <a:endParaRPr lang="en-US" sz="950" dirty="0"/>
          </a:p>
          <a:p>
            <a:pPr indent="0" marL="0">
              <a:buNone/>
            </a:pPr>
            <a:r>
              <a:rPr lang="en-US" sz="950" dirty="0">
                <a:solidFill>
                  <a:srgbClr val="334155"/>
                </a:solidFill>
                <a:latin typeface="Calibri" pitchFamily="34" charset="0"/>
                <a:ea typeface="Calibri" pitchFamily="34" charset="-122"/>
                <a:cs typeface="Calibri" pitchFamily="34" charset="-120"/>
              </a:rPr>
              <a:t>• Iterate based on dev surveys</a:t>
            </a:r>
            <a:endParaRPr lang="en-US" sz="950" dirty="0"/>
          </a:p>
          <a:p>
            <a:pPr indent="0" marL="0">
              <a:buNone/>
            </a:pPr>
            <a:endParaRPr lang="en-US" sz="950" dirty="0"/>
          </a:p>
          <a:p>
            <a:pPr indent="0" marL="0">
              <a:buNone/>
            </a:pPr>
            <a:r>
              <a:rPr lang="en-US" sz="950" dirty="0">
                <a:solidFill>
                  <a:srgbClr val="334155"/>
                </a:solidFill>
                <a:latin typeface="Calibri" pitchFamily="34" charset="0"/>
                <a:ea typeface="Calibri" pitchFamily="34" charset="-122"/>
                <a:cs typeface="Calibri" pitchFamily="34" charset="-120"/>
              </a:rPr>
              <a:t>Examples:</a:t>
            </a:r>
            <a:endParaRPr lang="en-US" sz="950" dirty="0"/>
          </a:p>
          <a:p>
            <a:pPr indent="0" marL="0">
              <a:buNone/>
            </a:pPr>
            <a:r>
              <a:rPr lang="en-US" sz="950" dirty="0">
                <a:solidFill>
                  <a:srgbClr val="334155"/>
                </a:solidFill>
                <a:latin typeface="Calibri" pitchFamily="34" charset="0"/>
                <a:ea typeface="Calibri" pitchFamily="34" charset="-122"/>
                <a:cs typeface="Calibri" pitchFamily="34" charset="-120"/>
              </a:rPr>
              <a:t>Microsoft 1ES · Atlassian IDP</a:t>
            </a:r>
            <a:endParaRPr lang="en-US" sz="950" dirty="0"/>
          </a:p>
        </p:txBody>
      </p:sp>
      <p:sp>
        <p:nvSpPr>
          <p:cNvPr id="15" name="Shape 13"/>
          <p:cNvSpPr/>
          <p:nvPr/>
        </p:nvSpPr>
        <p:spPr>
          <a:xfrm>
            <a:off x="5961888" y="1325880"/>
            <a:ext cx="2834640" cy="3429000"/>
          </a:xfrm>
          <a:prstGeom prst="rect">
            <a:avLst/>
          </a:prstGeom>
          <a:solidFill>
            <a:srgbClr val="FAF5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5961888" y="1325880"/>
            <a:ext cx="73152" cy="3429000"/>
          </a:xfrm>
          <a:prstGeom prst="rect">
            <a:avLst/>
          </a:prstGeom>
          <a:solidFill>
            <a:srgbClr val="7C3AED"/>
          </a:solidFill>
          <a:ln w="12700">
            <a:solidFill>
              <a:srgbClr val="7C3AED"/>
            </a:solidFill>
            <a:prstDash val="solid"/>
          </a:ln>
        </p:spPr>
      </p:sp>
      <p:sp>
        <p:nvSpPr>
          <p:cNvPr id="17" name="Shape 15"/>
          <p:cNvSpPr/>
          <p:nvPr/>
        </p:nvSpPr>
        <p:spPr>
          <a:xfrm>
            <a:off x="5961888" y="1325880"/>
            <a:ext cx="2834640" cy="411480"/>
          </a:xfrm>
          <a:prstGeom prst="rect">
            <a:avLst/>
          </a:prstGeom>
          <a:solidFill>
            <a:srgbClr val="7C3AED"/>
          </a:solidFill>
          <a:ln w="12700">
            <a:solidFill>
              <a:srgbClr val="7C3AED"/>
            </a:solidFill>
            <a:prstDash val="solid"/>
          </a:ln>
        </p:spPr>
      </p:sp>
      <p:sp>
        <p:nvSpPr>
          <p:cNvPr id="18" name="Text 16"/>
          <p:cNvSpPr/>
          <p:nvPr/>
        </p:nvSpPr>
        <p:spPr>
          <a:xfrm>
            <a:off x="5961888" y="1325880"/>
            <a:ext cx="28346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AI-ASSISTED</a:t>
            </a:r>
            <a:endParaRPr lang="en-US" sz="1300" dirty="0"/>
          </a:p>
        </p:txBody>
      </p:sp>
      <p:sp>
        <p:nvSpPr>
          <p:cNvPr id="19" name="Text 17"/>
          <p:cNvSpPr/>
          <p:nvPr/>
        </p:nvSpPr>
        <p:spPr>
          <a:xfrm>
            <a:off x="6080760" y="1828800"/>
            <a:ext cx="2606040" cy="201168"/>
          </a:xfrm>
          <a:prstGeom prst="rect">
            <a:avLst/>
          </a:prstGeom>
          <a:noFill/>
          <a:ln/>
        </p:spPr>
        <p:txBody>
          <a:bodyPr wrap="square" rtlCol="0" anchor="ctr"/>
          <a:lstStyle/>
          <a:p>
            <a:pPr indent="0" marL="0">
              <a:buNone/>
            </a:pPr>
            <a:r>
              <a:rPr lang="en-US" sz="950" b="1" dirty="0">
                <a:solidFill>
                  <a:srgbClr val="10B981"/>
                </a:solidFill>
                <a:latin typeface="Calibri" pitchFamily="34" charset="0"/>
                <a:ea typeface="Calibri" pitchFamily="34" charset="-122"/>
                <a:cs typeface="Calibri" pitchFamily="34" charset="-120"/>
              </a:rPr>
              <a:t>Benefits:</a:t>
            </a:r>
            <a:endParaRPr lang="en-US" sz="950" dirty="0"/>
          </a:p>
        </p:txBody>
      </p:sp>
      <p:sp>
        <p:nvSpPr>
          <p:cNvPr id="20" name="Text 18"/>
          <p:cNvSpPr/>
          <p:nvPr/>
        </p:nvSpPr>
        <p:spPr>
          <a:xfrm>
            <a:off x="6080760" y="2029968"/>
            <a:ext cx="2606040" cy="621792"/>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 +10.6% PR throughput (Copilot)</a:t>
            </a:r>
            <a:endParaRPr lang="en-US" sz="900" dirty="0"/>
          </a:p>
          <a:p>
            <a:pPr indent="0" marL="0">
              <a:buNone/>
            </a:pPr>
            <a:r>
              <a:rPr lang="en-US" sz="900" dirty="0">
                <a:solidFill>
                  <a:srgbClr val="334155"/>
                </a:solidFill>
                <a:latin typeface="Calibri" pitchFamily="34" charset="0"/>
                <a:ea typeface="Calibri" pitchFamily="34" charset="-122"/>
                <a:cs typeface="Calibri" pitchFamily="34" charset="-120"/>
              </a:rPr>
              <a:t>• -3.5 hrs cycle time</a:t>
            </a:r>
            <a:endParaRPr lang="en-US" sz="900" dirty="0"/>
          </a:p>
          <a:p>
            <a:pPr indent="0" marL="0">
              <a:buNone/>
            </a:pPr>
            <a:r>
              <a:rPr lang="en-US" sz="900" dirty="0">
                <a:solidFill>
                  <a:srgbClr val="334155"/>
                </a:solidFill>
                <a:latin typeface="Calibri" pitchFamily="34" charset="0"/>
                <a:ea typeface="Calibri" pitchFamily="34" charset="-122"/>
                <a:cs typeface="Calibri" pitchFamily="34" charset="-120"/>
              </a:rPr>
              <a:t>• Faster docs &amp; test generation</a:t>
            </a:r>
            <a:endParaRPr lang="en-US" sz="900" dirty="0"/>
          </a:p>
        </p:txBody>
      </p:sp>
      <p:sp>
        <p:nvSpPr>
          <p:cNvPr id="21" name="Text 19"/>
          <p:cNvSpPr/>
          <p:nvPr/>
        </p:nvSpPr>
        <p:spPr>
          <a:xfrm>
            <a:off x="6080760" y="2706624"/>
            <a:ext cx="2606040" cy="201168"/>
          </a:xfrm>
          <a:prstGeom prst="rect">
            <a:avLst/>
          </a:prstGeom>
          <a:noFill/>
          <a:ln/>
        </p:spPr>
        <p:txBody>
          <a:bodyPr wrap="square" rtlCol="0" anchor="ctr"/>
          <a:lstStyle/>
          <a:p>
            <a:pPr indent="0" marL="0">
              <a:buNone/>
            </a:pPr>
            <a:r>
              <a:rPr lang="en-US" sz="950" b="1" dirty="0">
                <a:solidFill>
                  <a:srgbClr val="EF4444"/>
                </a:solidFill>
                <a:latin typeface="Calibri" pitchFamily="34" charset="0"/>
                <a:ea typeface="Calibri" pitchFamily="34" charset="-122"/>
                <a:cs typeface="Calibri" pitchFamily="34" charset="-120"/>
              </a:rPr>
              <a:t>Risks:</a:t>
            </a:r>
            <a:endParaRPr lang="en-US" sz="950" dirty="0"/>
          </a:p>
        </p:txBody>
      </p:sp>
      <p:sp>
        <p:nvSpPr>
          <p:cNvPr id="22" name="Text 20"/>
          <p:cNvSpPr/>
          <p:nvPr/>
        </p:nvSpPr>
        <p:spPr>
          <a:xfrm>
            <a:off x="6080760" y="2907792"/>
            <a:ext cx="2606040" cy="640080"/>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 Hallucinations &amp; logic errors</a:t>
            </a:r>
            <a:endParaRPr lang="en-US" sz="900" dirty="0"/>
          </a:p>
          <a:p>
            <a:pPr indent="0" marL="0">
              <a:buNone/>
            </a:pPr>
            <a:r>
              <a:rPr lang="en-US" sz="900" dirty="0">
                <a:solidFill>
                  <a:srgbClr val="334155"/>
                </a:solidFill>
                <a:latin typeface="Calibri" pitchFamily="34" charset="0"/>
                <a:ea typeface="Calibri" pitchFamily="34" charset="-122"/>
                <a:cs typeface="Calibri" pitchFamily="34" charset="-120"/>
              </a:rPr>
              <a:t>• Security vulnerabilities</a:t>
            </a:r>
            <a:endParaRPr lang="en-US" sz="900" dirty="0"/>
          </a:p>
          <a:p>
            <a:pPr indent="0" marL="0">
              <a:buNone/>
            </a:pPr>
            <a:r>
              <a:rPr lang="en-US" sz="900" dirty="0">
                <a:solidFill>
                  <a:srgbClr val="334155"/>
                </a:solidFill>
                <a:latin typeface="Calibri" pitchFamily="34" charset="0"/>
                <a:ea typeface="Calibri" pitchFamily="34" charset="-122"/>
                <a:cs typeface="Calibri" pitchFamily="34" charset="-120"/>
              </a:rPr>
              <a:t>• Context mismatches</a:t>
            </a:r>
            <a:endParaRPr lang="en-US" sz="900" dirty="0"/>
          </a:p>
          <a:p>
            <a:pPr indent="0" marL="0">
              <a:buNone/>
            </a:pPr>
            <a:r>
              <a:rPr lang="en-US" sz="900" dirty="0">
                <a:solidFill>
                  <a:srgbClr val="334155"/>
                </a:solidFill>
                <a:latin typeface="Calibri" pitchFamily="34" charset="0"/>
                <a:ea typeface="Calibri" pitchFamily="34" charset="-122"/>
                <a:cs typeface="Calibri" pitchFamily="34" charset="-120"/>
              </a:rPr>
              <a:t>• Skill atrophy risk</a:t>
            </a:r>
            <a:endParaRPr lang="en-US" sz="900" dirty="0"/>
          </a:p>
        </p:txBody>
      </p:sp>
      <p:sp>
        <p:nvSpPr>
          <p:cNvPr id="23" name="Text 21"/>
          <p:cNvSpPr/>
          <p:nvPr/>
        </p:nvSpPr>
        <p:spPr>
          <a:xfrm>
            <a:off x="6080760" y="3602736"/>
            <a:ext cx="2606040" cy="201168"/>
          </a:xfrm>
          <a:prstGeom prst="rect">
            <a:avLst/>
          </a:prstGeom>
          <a:noFill/>
          <a:ln/>
        </p:spPr>
        <p:txBody>
          <a:bodyPr wrap="square" rtlCol="0" anchor="ctr"/>
          <a:lstStyle/>
          <a:p>
            <a:pPr indent="0" marL="0">
              <a:buNone/>
            </a:pPr>
            <a:r>
              <a:rPr lang="en-US" sz="950" b="1" dirty="0">
                <a:solidFill>
                  <a:srgbClr val="7C3AED"/>
                </a:solidFill>
                <a:latin typeface="Calibri" pitchFamily="34" charset="0"/>
                <a:ea typeface="Calibri" pitchFamily="34" charset="-122"/>
                <a:cs typeface="Calibri" pitchFamily="34" charset="-120"/>
              </a:rPr>
              <a:t>Best Practices:</a:t>
            </a:r>
            <a:endParaRPr lang="en-US" sz="950" dirty="0"/>
          </a:p>
        </p:txBody>
      </p:sp>
      <p:sp>
        <p:nvSpPr>
          <p:cNvPr id="24" name="Text 22"/>
          <p:cNvSpPr/>
          <p:nvPr/>
        </p:nvSpPr>
        <p:spPr>
          <a:xfrm>
            <a:off x="6080760" y="3803904"/>
            <a:ext cx="2606040" cy="548640"/>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 Phased adoption</a:t>
            </a:r>
            <a:endParaRPr lang="en-US" sz="900" dirty="0"/>
          </a:p>
          <a:p>
            <a:pPr indent="0" marL="0">
              <a:buNone/>
            </a:pPr>
            <a:r>
              <a:rPr lang="en-US" sz="900" dirty="0">
                <a:solidFill>
                  <a:srgbClr val="334155"/>
                </a:solidFill>
                <a:latin typeface="Calibri" pitchFamily="34" charset="0"/>
                <a:ea typeface="Calibri" pitchFamily="34" charset="-122"/>
                <a:cs typeface="Calibri" pitchFamily="34" charset="-120"/>
              </a:rPr>
              <a:t>• Human-in-the-loop review</a:t>
            </a:r>
            <a:endParaRPr lang="en-US" sz="900" dirty="0"/>
          </a:p>
          <a:p>
            <a:pPr indent="0" marL="0">
              <a:buNone/>
            </a:pPr>
            <a:r>
              <a:rPr lang="en-US" sz="900" dirty="0">
                <a:solidFill>
                  <a:srgbClr val="334155"/>
                </a:solidFill>
                <a:latin typeface="Calibri" pitchFamily="34" charset="0"/>
                <a:ea typeface="Calibri" pitchFamily="34" charset="-122"/>
                <a:cs typeface="Calibri" pitchFamily="34" charset="-120"/>
              </a:rPr>
              <a:t>• Prompt engineering training</a:t>
            </a:r>
            <a:endParaRPr lang="en-US" sz="900" dirty="0"/>
          </a:p>
        </p:txBody>
      </p:sp>
      <p:sp>
        <p:nvSpPr>
          <p:cNvPr id="25" name="Shape 23"/>
          <p:cNvSpPr/>
          <p:nvPr/>
        </p:nvSpPr>
        <p:spPr>
          <a:xfrm>
            <a:off x="347472" y="4828032"/>
            <a:ext cx="8449056" cy="274320"/>
          </a:xfrm>
          <a:prstGeom prst="rect">
            <a:avLst/>
          </a:prstGeom>
          <a:solidFill>
            <a:srgbClr val="E2E8F0"/>
          </a:solidFill>
          <a:ln w="12700">
            <a:solidFill>
              <a:srgbClr val="CBD5E1"/>
            </a:solidFill>
            <a:prstDash val="solid"/>
          </a:ln>
        </p:spPr>
      </p:sp>
      <p:sp>
        <p:nvSpPr>
          <p:cNvPr id="26" name="Text 24"/>
          <p:cNvSpPr/>
          <p:nvPr/>
        </p:nvSpPr>
        <p:spPr>
          <a:xfrm>
            <a:off x="438912" y="4846320"/>
            <a:ext cx="8266176" cy="237744"/>
          </a:xfrm>
          <a:prstGeom prst="rect">
            <a:avLst/>
          </a:prstGeom>
          <a:noFill/>
          <a:ln/>
        </p:spPr>
        <p:txBody>
          <a:bodyPr wrap="square" rtlCol="0" anchor="ctr"/>
          <a:lstStyle/>
          <a:p>
            <a:pPr indent="0" marL="0">
              <a:buNone/>
            </a:pPr>
            <a:r>
              <a:rPr lang="en-US" sz="850" i="1" dirty="0">
                <a:solidFill>
                  <a:srgbClr val="334155"/>
                </a:solidFill>
                <a:latin typeface="Calibri" pitchFamily="34" charset="0"/>
                <a:ea typeface="Calibri" pitchFamily="34" charset="-122"/>
                <a:cs typeface="Calibri" pitchFamily="34" charset="-120"/>
              </a:rPr>
              <a:t>DORA research: AI tooling without process changes can paradoxically increase batch sizes and lead times. Adopt thoughtfully with corresponding process redesign.</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F3C"/>
        </a:solidFill>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Future Trends &amp; Key Recommendations</a:t>
            </a:r>
            <a:endParaRPr lang="en-US" sz="2800" dirty="0"/>
          </a:p>
        </p:txBody>
      </p:sp>
      <p:sp>
        <p:nvSpPr>
          <p:cNvPr id="3" name="Shape 1"/>
          <p:cNvSpPr/>
          <p:nvPr/>
        </p:nvSpPr>
        <p:spPr>
          <a:xfrm>
            <a:off x="457200" y="804672"/>
            <a:ext cx="8229600" cy="27432"/>
          </a:xfrm>
          <a:prstGeom prst="rect">
            <a:avLst/>
          </a:prstGeom>
          <a:solidFill>
            <a:srgbClr val="0891B2"/>
          </a:solidFill>
          <a:ln w="12700">
            <a:solidFill>
              <a:srgbClr val="0891B2"/>
            </a:solidFill>
            <a:prstDash val="solid"/>
          </a:ln>
        </p:spPr>
      </p:sp>
      <p:sp>
        <p:nvSpPr>
          <p:cNvPr id="4" name="Text 2"/>
          <p:cNvSpPr/>
          <p:nvPr/>
        </p:nvSpPr>
        <p:spPr>
          <a:xfrm>
            <a:off x="347472" y="960120"/>
            <a:ext cx="3931920" cy="274320"/>
          </a:xfrm>
          <a:prstGeom prst="rect">
            <a:avLst/>
          </a:prstGeom>
          <a:noFill/>
          <a:ln/>
        </p:spPr>
        <p:txBody>
          <a:bodyPr wrap="square"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Future Trends</a:t>
            </a:r>
            <a:endParaRPr lang="en-US" sz="1400" dirty="0"/>
          </a:p>
        </p:txBody>
      </p:sp>
      <p:sp>
        <p:nvSpPr>
          <p:cNvPr id="5" name="Shape 3"/>
          <p:cNvSpPr/>
          <p:nvPr/>
        </p:nvSpPr>
        <p:spPr>
          <a:xfrm>
            <a:off x="347472" y="1417320"/>
            <a:ext cx="457200" cy="457200"/>
          </a:xfrm>
          <a:prstGeom prst="ellipse">
            <a:avLst/>
          </a:prstGeom>
          <a:solidFill>
            <a:srgbClr val="1A5296"/>
          </a:solidFill>
          <a:ln w="12700">
            <a:solidFill>
              <a:srgbClr val="1A5296"/>
            </a:solidFill>
            <a:prstDash val="solid"/>
          </a:ln>
        </p:spPr>
      </p:sp>
      <p:sp>
        <p:nvSpPr>
          <p:cNvPr id="6" name="Text 4"/>
          <p:cNvSpPr/>
          <p:nvPr/>
        </p:nvSpPr>
        <p:spPr>
          <a:xfrm>
            <a:off x="347472" y="1435608"/>
            <a:ext cx="457200" cy="402336"/>
          </a:xfrm>
          <a:prstGeom prst="rect">
            <a:avLst/>
          </a:prstGeom>
          <a:noFill/>
          <a:ln/>
        </p:spPr>
        <p:txBody>
          <a:bodyPr wrap="square"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868680" y="1417320"/>
            <a:ext cx="3383280" cy="256032"/>
          </a:xfrm>
          <a:prstGeom prst="rect">
            <a:avLst/>
          </a:prstGeom>
          <a:noFill/>
          <a:ln/>
        </p:spPr>
        <p:txBody>
          <a:bodyPr wrap="square" rtlCol="0" anchor="ctr"/>
          <a:lstStyle/>
          <a:p>
            <a:pPr indent="0" marL="0">
              <a:buNone/>
            </a:pPr>
            <a:r>
              <a:rPr lang="en-US" sz="1100" b="1" dirty="0">
                <a:solidFill>
                  <a:srgbClr val="0891B2"/>
                </a:solidFill>
                <a:latin typeface="Calibri" pitchFamily="34" charset="0"/>
                <a:ea typeface="Calibri" pitchFamily="34" charset="-122"/>
                <a:cs typeface="Calibri" pitchFamily="34" charset="-120"/>
              </a:rPr>
              <a:t>Remote-First by Design</a:t>
            </a:r>
            <a:endParaRPr lang="en-US" sz="1100" dirty="0"/>
          </a:p>
        </p:txBody>
      </p:sp>
      <p:sp>
        <p:nvSpPr>
          <p:cNvPr id="8" name="Text 6"/>
          <p:cNvSpPr/>
          <p:nvPr/>
        </p:nvSpPr>
        <p:spPr>
          <a:xfrm>
            <a:off x="868680" y="1673352"/>
            <a:ext cx="3383280" cy="438912"/>
          </a:xfrm>
          <a:prstGeom prst="rect">
            <a:avLst/>
          </a:prstGeom>
          <a:noFill/>
          <a:ln/>
        </p:spPr>
        <p:txBody>
          <a:bodyPr wrap="square" rtlCol="0" anchor="ctr"/>
          <a:lstStyle/>
          <a:p>
            <a:pPr indent="0" marL="0">
              <a:buNone/>
            </a:pPr>
            <a:r>
              <a:rPr lang="en-US" sz="950" dirty="0">
                <a:solidFill>
                  <a:srgbClr val="94B8D6"/>
                </a:solidFill>
                <a:latin typeface="Calibri" pitchFamily="34" charset="0"/>
                <a:ea typeface="Calibri" pitchFamily="34" charset="-122"/>
                <a:cs typeface="Calibri" pitchFamily="34" charset="-120"/>
              </a:rPr>
              <a:t>Async infrastructure, documentation culture &amp; distributed social norms as default, not exception</a:t>
            </a:r>
            <a:endParaRPr lang="en-US" sz="950" dirty="0"/>
          </a:p>
        </p:txBody>
      </p:sp>
      <p:sp>
        <p:nvSpPr>
          <p:cNvPr id="9" name="Shape 7"/>
          <p:cNvSpPr/>
          <p:nvPr/>
        </p:nvSpPr>
        <p:spPr>
          <a:xfrm>
            <a:off x="347472" y="2295144"/>
            <a:ext cx="457200" cy="457200"/>
          </a:xfrm>
          <a:prstGeom prst="ellipse">
            <a:avLst/>
          </a:prstGeom>
          <a:solidFill>
            <a:srgbClr val="1A5296"/>
          </a:solidFill>
          <a:ln w="12700">
            <a:solidFill>
              <a:srgbClr val="1A5296"/>
            </a:solidFill>
            <a:prstDash val="solid"/>
          </a:ln>
        </p:spPr>
      </p:sp>
      <p:sp>
        <p:nvSpPr>
          <p:cNvPr id="10" name="Text 8"/>
          <p:cNvSpPr/>
          <p:nvPr/>
        </p:nvSpPr>
        <p:spPr>
          <a:xfrm>
            <a:off x="347472" y="2313432"/>
            <a:ext cx="457200" cy="402336"/>
          </a:xfrm>
          <a:prstGeom prst="rect">
            <a:avLst/>
          </a:prstGeom>
          <a:noFill/>
          <a:ln/>
        </p:spPr>
        <p:txBody>
          <a:bodyPr wrap="square"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11" name="Text 9"/>
          <p:cNvSpPr/>
          <p:nvPr/>
        </p:nvSpPr>
        <p:spPr>
          <a:xfrm>
            <a:off x="868680" y="2295144"/>
            <a:ext cx="3383280" cy="256032"/>
          </a:xfrm>
          <a:prstGeom prst="rect">
            <a:avLst/>
          </a:prstGeom>
          <a:noFill/>
          <a:ln/>
        </p:spPr>
        <p:txBody>
          <a:bodyPr wrap="square" rtlCol="0" anchor="ctr"/>
          <a:lstStyle/>
          <a:p>
            <a:pPr indent="0" marL="0">
              <a:buNone/>
            </a:pPr>
            <a:r>
              <a:rPr lang="en-US" sz="1100" b="1" dirty="0">
                <a:solidFill>
                  <a:srgbClr val="0891B2"/>
                </a:solidFill>
                <a:latin typeface="Calibri" pitchFamily="34" charset="0"/>
                <a:ea typeface="Calibri" pitchFamily="34" charset="-122"/>
                <a:cs typeface="Calibri" pitchFamily="34" charset="-120"/>
              </a:rPr>
              <a:t>AI-Augmented Roles</a:t>
            </a:r>
            <a:endParaRPr lang="en-US" sz="1100" dirty="0"/>
          </a:p>
        </p:txBody>
      </p:sp>
      <p:sp>
        <p:nvSpPr>
          <p:cNvPr id="12" name="Text 10"/>
          <p:cNvSpPr/>
          <p:nvPr/>
        </p:nvSpPr>
        <p:spPr>
          <a:xfrm>
            <a:off x="868680" y="2551176"/>
            <a:ext cx="3383280" cy="438912"/>
          </a:xfrm>
          <a:prstGeom prst="rect">
            <a:avLst/>
          </a:prstGeom>
          <a:noFill/>
          <a:ln/>
        </p:spPr>
        <p:txBody>
          <a:bodyPr wrap="square" rtlCol="0" anchor="ctr"/>
          <a:lstStyle/>
          <a:p>
            <a:pPr indent="0" marL="0">
              <a:buNone/>
            </a:pPr>
            <a:r>
              <a:rPr lang="en-US" sz="950" dirty="0">
                <a:solidFill>
                  <a:srgbClr val="94B8D6"/>
                </a:solidFill>
                <a:latin typeface="Calibri" pitchFamily="34" charset="0"/>
                <a:ea typeface="Calibri" pitchFamily="34" charset="-122"/>
                <a:cs typeface="Calibri" pitchFamily="34" charset="-120"/>
              </a:rPr>
              <a:t>Policy frameworks for AI collaboration, review standards, prompt engineering as a core skill</a:t>
            </a:r>
            <a:endParaRPr lang="en-US" sz="950" dirty="0"/>
          </a:p>
        </p:txBody>
      </p:sp>
      <p:sp>
        <p:nvSpPr>
          <p:cNvPr id="13" name="Shape 11"/>
          <p:cNvSpPr/>
          <p:nvPr/>
        </p:nvSpPr>
        <p:spPr>
          <a:xfrm>
            <a:off x="347472" y="3172968"/>
            <a:ext cx="457200" cy="457200"/>
          </a:xfrm>
          <a:prstGeom prst="ellipse">
            <a:avLst/>
          </a:prstGeom>
          <a:solidFill>
            <a:srgbClr val="1A5296"/>
          </a:solidFill>
          <a:ln w="12700">
            <a:solidFill>
              <a:srgbClr val="1A5296"/>
            </a:solidFill>
            <a:prstDash val="solid"/>
          </a:ln>
        </p:spPr>
      </p:sp>
      <p:sp>
        <p:nvSpPr>
          <p:cNvPr id="14" name="Text 12"/>
          <p:cNvSpPr/>
          <p:nvPr/>
        </p:nvSpPr>
        <p:spPr>
          <a:xfrm>
            <a:off x="347472" y="3191256"/>
            <a:ext cx="457200" cy="402336"/>
          </a:xfrm>
          <a:prstGeom prst="rect">
            <a:avLst/>
          </a:prstGeom>
          <a:noFill/>
          <a:ln/>
        </p:spPr>
        <p:txBody>
          <a:bodyPr wrap="square"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15" name="Text 13"/>
          <p:cNvSpPr/>
          <p:nvPr/>
        </p:nvSpPr>
        <p:spPr>
          <a:xfrm>
            <a:off x="868680" y="3172968"/>
            <a:ext cx="3383280" cy="256032"/>
          </a:xfrm>
          <a:prstGeom prst="rect">
            <a:avLst/>
          </a:prstGeom>
          <a:noFill/>
          <a:ln/>
        </p:spPr>
        <p:txBody>
          <a:bodyPr wrap="square" rtlCol="0" anchor="ctr"/>
          <a:lstStyle/>
          <a:p>
            <a:pPr indent="0" marL="0">
              <a:buNone/>
            </a:pPr>
            <a:r>
              <a:rPr lang="en-US" sz="1100" b="1" dirty="0">
                <a:solidFill>
                  <a:srgbClr val="0891B2"/>
                </a:solidFill>
                <a:latin typeface="Calibri" pitchFamily="34" charset="0"/>
                <a:ea typeface="Calibri" pitchFamily="34" charset="-122"/>
                <a:cs typeface="Calibri" pitchFamily="34" charset="-120"/>
              </a:rPr>
              <a:t>Diversity &amp; Inclusion</a:t>
            </a:r>
            <a:endParaRPr lang="en-US" sz="1100" dirty="0"/>
          </a:p>
        </p:txBody>
      </p:sp>
      <p:sp>
        <p:nvSpPr>
          <p:cNvPr id="16" name="Text 14"/>
          <p:cNvSpPr/>
          <p:nvPr/>
        </p:nvSpPr>
        <p:spPr>
          <a:xfrm>
            <a:off x="868680" y="3429000"/>
            <a:ext cx="3383280" cy="438912"/>
          </a:xfrm>
          <a:prstGeom prst="rect">
            <a:avLst/>
          </a:prstGeom>
          <a:noFill/>
          <a:ln/>
        </p:spPr>
        <p:txBody>
          <a:bodyPr wrap="square" rtlCol="0" anchor="ctr"/>
          <a:lstStyle/>
          <a:p>
            <a:pPr indent="0" marL="0">
              <a:buNone/>
            </a:pPr>
            <a:r>
              <a:rPr lang="en-US" sz="950" dirty="0">
                <a:solidFill>
                  <a:srgbClr val="94B8D6"/>
                </a:solidFill>
                <a:latin typeface="Calibri" pitchFamily="34" charset="0"/>
                <a:ea typeface="Calibri" pitchFamily="34" charset="-122"/>
                <a:cs typeface="Calibri" pitchFamily="34" charset="-120"/>
              </a:rPr>
              <a:t>Diverse teams + psychological safety = higher creative output; requires intentional sponsorship</a:t>
            </a:r>
            <a:endParaRPr lang="en-US" sz="950" dirty="0"/>
          </a:p>
        </p:txBody>
      </p:sp>
      <p:sp>
        <p:nvSpPr>
          <p:cNvPr id="17" name="Shape 15"/>
          <p:cNvSpPr/>
          <p:nvPr/>
        </p:nvSpPr>
        <p:spPr>
          <a:xfrm>
            <a:off x="347472" y="4050792"/>
            <a:ext cx="457200" cy="457200"/>
          </a:xfrm>
          <a:prstGeom prst="ellipse">
            <a:avLst/>
          </a:prstGeom>
          <a:solidFill>
            <a:srgbClr val="1A5296"/>
          </a:solidFill>
          <a:ln w="12700">
            <a:solidFill>
              <a:srgbClr val="1A5296"/>
            </a:solidFill>
            <a:prstDash val="solid"/>
          </a:ln>
        </p:spPr>
      </p:sp>
      <p:sp>
        <p:nvSpPr>
          <p:cNvPr id="18" name="Text 16"/>
          <p:cNvSpPr/>
          <p:nvPr/>
        </p:nvSpPr>
        <p:spPr>
          <a:xfrm>
            <a:off x="347472" y="4069080"/>
            <a:ext cx="457200" cy="402336"/>
          </a:xfrm>
          <a:prstGeom prst="rect">
            <a:avLst/>
          </a:prstGeom>
          <a:noFill/>
          <a:ln/>
        </p:spPr>
        <p:txBody>
          <a:bodyPr wrap="square"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19" name="Text 17"/>
          <p:cNvSpPr/>
          <p:nvPr/>
        </p:nvSpPr>
        <p:spPr>
          <a:xfrm>
            <a:off x="868680" y="4050792"/>
            <a:ext cx="3383280" cy="256032"/>
          </a:xfrm>
          <a:prstGeom prst="rect">
            <a:avLst/>
          </a:prstGeom>
          <a:noFill/>
          <a:ln/>
        </p:spPr>
        <p:txBody>
          <a:bodyPr wrap="square" rtlCol="0" anchor="ctr"/>
          <a:lstStyle/>
          <a:p>
            <a:pPr indent="0" marL="0">
              <a:buNone/>
            </a:pPr>
            <a:r>
              <a:rPr lang="en-US" sz="1100" b="1" dirty="0">
                <a:solidFill>
                  <a:srgbClr val="0891B2"/>
                </a:solidFill>
                <a:latin typeface="Calibri" pitchFamily="34" charset="0"/>
                <a:ea typeface="Calibri" pitchFamily="34" charset="-122"/>
                <a:cs typeface="Calibri" pitchFamily="34" charset="-120"/>
              </a:rPr>
              <a:t>Continuous OKR Alignment</a:t>
            </a:r>
            <a:endParaRPr lang="en-US" sz="1100" dirty="0"/>
          </a:p>
        </p:txBody>
      </p:sp>
      <p:sp>
        <p:nvSpPr>
          <p:cNvPr id="20" name="Text 18"/>
          <p:cNvSpPr/>
          <p:nvPr/>
        </p:nvSpPr>
        <p:spPr>
          <a:xfrm>
            <a:off x="868680" y="4306824"/>
            <a:ext cx="3383280" cy="438912"/>
          </a:xfrm>
          <a:prstGeom prst="rect">
            <a:avLst/>
          </a:prstGeom>
          <a:noFill/>
          <a:ln/>
        </p:spPr>
        <p:txBody>
          <a:bodyPr wrap="square" rtlCol="0" anchor="ctr"/>
          <a:lstStyle/>
          <a:p>
            <a:pPr indent="0" marL="0">
              <a:buNone/>
            </a:pPr>
            <a:r>
              <a:rPr lang="en-US" sz="950" dirty="0">
                <a:solidFill>
                  <a:srgbClr val="94B8D6"/>
                </a:solidFill>
                <a:latin typeface="Calibri" pitchFamily="34" charset="0"/>
                <a:ea typeface="Calibri" pitchFamily="34" charset="-122"/>
                <a:cs typeface="Calibri" pitchFamily="34" charset="-120"/>
              </a:rPr>
              <a:t>Quarterly OKR cadences replace annual planning; team goals continuously connected to org strategy</a:t>
            </a:r>
            <a:endParaRPr lang="en-US" sz="950" dirty="0"/>
          </a:p>
        </p:txBody>
      </p:sp>
      <p:sp>
        <p:nvSpPr>
          <p:cNvPr id="21" name="Shape 19"/>
          <p:cNvSpPr/>
          <p:nvPr/>
        </p:nvSpPr>
        <p:spPr>
          <a:xfrm>
            <a:off x="4526280" y="960120"/>
            <a:ext cx="36576" cy="3931920"/>
          </a:xfrm>
          <a:prstGeom prst="rect">
            <a:avLst/>
          </a:prstGeom>
          <a:solidFill>
            <a:srgbClr val="1A5296"/>
          </a:solidFill>
          <a:ln w="12700">
            <a:solidFill>
              <a:srgbClr val="1A5296"/>
            </a:solidFill>
            <a:prstDash val="solid"/>
          </a:ln>
        </p:spPr>
      </p:sp>
      <p:sp>
        <p:nvSpPr>
          <p:cNvPr id="22" name="Text 20"/>
          <p:cNvSpPr/>
          <p:nvPr/>
        </p:nvSpPr>
        <p:spPr>
          <a:xfrm>
            <a:off x="4681728" y="960120"/>
            <a:ext cx="4114800" cy="274320"/>
          </a:xfrm>
          <a:prstGeom prst="rect">
            <a:avLst/>
          </a:prstGeom>
          <a:noFill/>
          <a:ln/>
        </p:spPr>
        <p:txBody>
          <a:bodyPr wrap="square" rtlCol="0" anchor="ctr"/>
          <a:lstStyle/>
          <a:p>
            <a:pPr indent="0" marL="0">
              <a:buNone/>
            </a:pPr>
            <a:r>
              <a:rPr lang="en-US" sz="1200" b="1" dirty="0">
                <a:solidFill>
                  <a:srgbClr val="CADCFC"/>
                </a:solidFill>
                <a:latin typeface="Calibri" pitchFamily="34" charset="0"/>
                <a:ea typeface="Calibri" pitchFamily="34" charset="-122"/>
                <a:cs typeface="Calibri" pitchFamily="34" charset="-120"/>
              </a:rPr>
              <a:t>Recommendations for Engineering Managers</a:t>
            </a:r>
            <a:endParaRPr lang="en-US" sz="1200" dirty="0"/>
          </a:p>
        </p:txBody>
      </p:sp>
      <p:sp>
        <p:nvSpPr>
          <p:cNvPr id="23" name="Shape 21"/>
          <p:cNvSpPr/>
          <p:nvPr/>
        </p:nvSpPr>
        <p:spPr>
          <a:xfrm>
            <a:off x="4681728" y="1362456"/>
            <a:ext cx="347472" cy="347472"/>
          </a:xfrm>
          <a:prstGeom prst="ellipse">
            <a:avLst/>
          </a:prstGeom>
          <a:solidFill>
            <a:srgbClr val="0891B2"/>
          </a:solidFill>
          <a:ln w="12700">
            <a:solidFill>
              <a:srgbClr val="0891B2"/>
            </a:solidFill>
            <a:prstDash val="solid"/>
          </a:ln>
        </p:spPr>
      </p:sp>
      <p:sp>
        <p:nvSpPr>
          <p:cNvPr id="24" name="Text 22"/>
          <p:cNvSpPr/>
          <p:nvPr/>
        </p:nvSpPr>
        <p:spPr>
          <a:xfrm>
            <a:off x="4681728" y="1371600"/>
            <a:ext cx="347472" cy="329184"/>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01</a:t>
            </a:r>
            <a:endParaRPr lang="en-US" sz="900" dirty="0"/>
          </a:p>
        </p:txBody>
      </p:sp>
      <p:sp>
        <p:nvSpPr>
          <p:cNvPr id="25" name="Text 23"/>
          <p:cNvSpPr/>
          <p:nvPr/>
        </p:nvSpPr>
        <p:spPr>
          <a:xfrm>
            <a:off x="5084064" y="1362456"/>
            <a:ext cx="3657600" cy="201168"/>
          </a:xfrm>
          <a:prstGeom prst="rect">
            <a:avLst/>
          </a:prstGeom>
          <a:noFill/>
          <a:ln/>
        </p:spPr>
        <p:txBody>
          <a:bodyPr wrap="square" rtlCol="0" anchor="ctr"/>
          <a:lstStyle/>
          <a:p>
            <a:pPr indent="0" marL="0">
              <a:buNone/>
            </a:pPr>
            <a:r>
              <a:rPr lang="en-US" sz="950" b="1" dirty="0">
                <a:solidFill>
                  <a:srgbClr val="CADCFC"/>
                </a:solidFill>
                <a:latin typeface="Calibri" pitchFamily="34" charset="0"/>
                <a:ea typeface="Calibri" pitchFamily="34" charset="-122"/>
                <a:cs typeface="Calibri" pitchFamily="34" charset="-120"/>
              </a:rPr>
              <a:t>Build Psychological Safety</a:t>
            </a:r>
            <a:endParaRPr lang="en-US" sz="950" dirty="0"/>
          </a:p>
        </p:txBody>
      </p:sp>
      <p:sp>
        <p:nvSpPr>
          <p:cNvPr id="26" name="Text 24"/>
          <p:cNvSpPr/>
          <p:nvPr/>
        </p:nvSpPr>
        <p:spPr>
          <a:xfrm>
            <a:off x="5084064" y="1563624"/>
            <a:ext cx="3657600" cy="201168"/>
          </a:xfrm>
          <a:prstGeom prst="rect">
            <a:avLst/>
          </a:prstGeom>
          <a:noFill/>
          <a:ln/>
        </p:spPr>
        <p:txBody>
          <a:bodyPr wrap="square" rtlCol="0" anchor="ctr"/>
          <a:lstStyle/>
          <a:p>
            <a:pPr indent="0" marL="0">
              <a:buNone/>
            </a:pPr>
            <a:r>
              <a:rPr lang="en-US" sz="800" dirty="0">
                <a:solidFill>
                  <a:srgbClr val="7EA8C9"/>
                </a:solidFill>
                <a:latin typeface="Calibri" pitchFamily="34" charset="0"/>
                <a:ea typeface="Calibri" pitchFamily="34" charset="-122"/>
                <a:cs typeface="Calibri" pitchFamily="34" charset="-120"/>
              </a:rPr>
              <a:t>Model vulnerability; blameless culture; inclusive facilitation</a:t>
            </a:r>
            <a:endParaRPr lang="en-US" sz="800" dirty="0"/>
          </a:p>
        </p:txBody>
      </p:sp>
      <p:sp>
        <p:nvSpPr>
          <p:cNvPr id="27" name="Shape 25"/>
          <p:cNvSpPr/>
          <p:nvPr/>
        </p:nvSpPr>
        <p:spPr>
          <a:xfrm>
            <a:off x="4681728" y="1865376"/>
            <a:ext cx="347472" cy="347472"/>
          </a:xfrm>
          <a:prstGeom prst="ellipse">
            <a:avLst/>
          </a:prstGeom>
          <a:solidFill>
            <a:srgbClr val="0891B2"/>
          </a:solidFill>
          <a:ln w="12700">
            <a:solidFill>
              <a:srgbClr val="0891B2"/>
            </a:solidFill>
            <a:prstDash val="solid"/>
          </a:ln>
        </p:spPr>
      </p:sp>
      <p:sp>
        <p:nvSpPr>
          <p:cNvPr id="28" name="Text 26"/>
          <p:cNvSpPr/>
          <p:nvPr/>
        </p:nvSpPr>
        <p:spPr>
          <a:xfrm>
            <a:off x="4681728" y="1874520"/>
            <a:ext cx="347472" cy="329184"/>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02</a:t>
            </a:r>
            <a:endParaRPr lang="en-US" sz="900" dirty="0"/>
          </a:p>
        </p:txBody>
      </p:sp>
      <p:sp>
        <p:nvSpPr>
          <p:cNvPr id="29" name="Text 27"/>
          <p:cNvSpPr/>
          <p:nvPr/>
        </p:nvSpPr>
        <p:spPr>
          <a:xfrm>
            <a:off x="5084064" y="1865376"/>
            <a:ext cx="3657600" cy="201168"/>
          </a:xfrm>
          <a:prstGeom prst="rect">
            <a:avLst/>
          </a:prstGeom>
          <a:noFill/>
          <a:ln/>
        </p:spPr>
        <p:txBody>
          <a:bodyPr wrap="square" rtlCol="0" anchor="ctr"/>
          <a:lstStyle/>
          <a:p>
            <a:pPr indent="0" marL="0">
              <a:buNone/>
            </a:pPr>
            <a:r>
              <a:rPr lang="en-US" sz="950" b="1" dirty="0">
                <a:solidFill>
                  <a:srgbClr val="CADCFC"/>
                </a:solidFill>
                <a:latin typeface="Calibri" pitchFamily="34" charset="0"/>
                <a:ea typeface="Calibri" pitchFamily="34" charset="-122"/>
                <a:cs typeface="Calibri" pitchFamily="34" charset="-120"/>
              </a:rPr>
              <a:t>Adopt Servant Leadership</a:t>
            </a:r>
            <a:endParaRPr lang="en-US" sz="950" dirty="0"/>
          </a:p>
        </p:txBody>
      </p:sp>
      <p:sp>
        <p:nvSpPr>
          <p:cNvPr id="30" name="Text 28"/>
          <p:cNvSpPr/>
          <p:nvPr/>
        </p:nvSpPr>
        <p:spPr>
          <a:xfrm>
            <a:off x="5084064" y="2066544"/>
            <a:ext cx="3657600" cy="201168"/>
          </a:xfrm>
          <a:prstGeom prst="rect">
            <a:avLst/>
          </a:prstGeom>
          <a:noFill/>
          <a:ln/>
        </p:spPr>
        <p:txBody>
          <a:bodyPr wrap="square" rtlCol="0" anchor="ctr"/>
          <a:lstStyle/>
          <a:p>
            <a:pPr indent="0" marL="0">
              <a:buNone/>
            </a:pPr>
            <a:r>
              <a:rPr lang="en-US" sz="800" dirty="0">
                <a:solidFill>
                  <a:srgbClr val="7EA8C9"/>
                </a:solidFill>
                <a:latin typeface="Calibri" pitchFamily="34" charset="0"/>
                <a:ea typeface="Calibri" pitchFamily="34" charset="-122"/>
                <a:cs typeface="Calibri" pitchFamily="34" charset="-120"/>
              </a:rPr>
              <a:t>Remove blockers; mentor not supervise; set clear goals</a:t>
            </a:r>
            <a:endParaRPr lang="en-US" sz="800" dirty="0"/>
          </a:p>
        </p:txBody>
      </p:sp>
      <p:sp>
        <p:nvSpPr>
          <p:cNvPr id="31" name="Shape 29"/>
          <p:cNvSpPr/>
          <p:nvPr/>
        </p:nvSpPr>
        <p:spPr>
          <a:xfrm>
            <a:off x="4681728" y="2368296"/>
            <a:ext cx="347472" cy="347472"/>
          </a:xfrm>
          <a:prstGeom prst="ellipse">
            <a:avLst/>
          </a:prstGeom>
          <a:solidFill>
            <a:srgbClr val="0891B2"/>
          </a:solidFill>
          <a:ln w="12700">
            <a:solidFill>
              <a:srgbClr val="0891B2"/>
            </a:solidFill>
            <a:prstDash val="solid"/>
          </a:ln>
        </p:spPr>
      </p:sp>
      <p:sp>
        <p:nvSpPr>
          <p:cNvPr id="32" name="Text 30"/>
          <p:cNvSpPr/>
          <p:nvPr/>
        </p:nvSpPr>
        <p:spPr>
          <a:xfrm>
            <a:off x="4681728" y="2377440"/>
            <a:ext cx="347472" cy="329184"/>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03</a:t>
            </a:r>
            <a:endParaRPr lang="en-US" sz="900" dirty="0"/>
          </a:p>
        </p:txBody>
      </p:sp>
      <p:sp>
        <p:nvSpPr>
          <p:cNvPr id="33" name="Text 31"/>
          <p:cNvSpPr/>
          <p:nvPr/>
        </p:nvSpPr>
        <p:spPr>
          <a:xfrm>
            <a:off x="5084064" y="2368296"/>
            <a:ext cx="3657600" cy="201168"/>
          </a:xfrm>
          <a:prstGeom prst="rect">
            <a:avLst/>
          </a:prstGeom>
          <a:noFill/>
          <a:ln/>
        </p:spPr>
        <p:txBody>
          <a:bodyPr wrap="square" rtlCol="0" anchor="ctr"/>
          <a:lstStyle/>
          <a:p>
            <a:pPr indent="0" marL="0">
              <a:buNone/>
            </a:pPr>
            <a:r>
              <a:rPr lang="en-US" sz="950" b="1" dirty="0">
                <a:solidFill>
                  <a:srgbClr val="CADCFC"/>
                </a:solidFill>
                <a:latin typeface="Calibri" pitchFamily="34" charset="0"/>
                <a:ea typeface="Calibri" pitchFamily="34" charset="-122"/>
                <a:cs typeface="Calibri" pitchFamily="34" charset="-120"/>
              </a:rPr>
              <a:t>Align Structure to Architecture</a:t>
            </a:r>
            <a:endParaRPr lang="en-US" sz="950" dirty="0"/>
          </a:p>
        </p:txBody>
      </p:sp>
      <p:sp>
        <p:nvSpPr>
          <p:cNvPr id="34" name="Text 32"/>
          <p:cNvSpPr/>
          <p:nvPr/>
        </p:nvSpPr>
        <p:spPr>
          <a:xfrm>
            <a:off x="5084064" y="2569464"/>
            <a:ext cx="3657600" cy="201168"/>
          </a:xfrm>
          <a:prstGeom prst="rect">
            <a:avLst/>
          </a:prstGeom>
          <a:noFill/>
          <a:ln/>
        </p:spPr>
        <p:txBody>
          <a:bodyPr wrap="square" rtlCol="0" anchor="ctr"/>
          <a:lstStyle/>
          <a:p>
            <a:pPr indent="0" marL="0">
              <a:buNone/>
            </a:pPr>
            <a:r>
              <a:rPr lang="en-US" sz="800" dirty="0">
                <a:solidFill>
                  <a:srgbClr val="7EA8C9"/>
                </a:solidFill>
                <a:latin typeface="Calibri" pitchFamily="34" charset="0"/>
                <a:ea typeface="Calibri" pitchFamily="34" charset="-122"/>
                <a:cs typeface="Calibri" pitchFamily="34" charset="-120"/>
              </a:rPr>
              <a:t>Apply Team Topologies + Inverse Conway Maneuver</a:t>
            </a:r>
            <a:endParaRPr lang="en-US" sz="800" dirty="0"/>
          </a:p>
        </p:txBody>
      </p:sp>
      <p:sp>
        <p:nvSpPr>
          <p:cNvPr id="35" name="Shape 33"/>
          <p:cNvSpPr/>
          <p:nvPr/>
        </p:nvSpPr>
        <p:spPr>
          <a:xfrm>
            <a:off x="4681728" y="2871216"/>
            <a:ext cx="347472" cy="347472"/>
          </a:xfrm>
          <a:prstGeom prst="ellipse">
            <a:avLst/>
          </a:prstGeom>
          <a:solidFill>
            <a:srgbClr val="0891B2"/>
          </a:solidFill>
          <a:ln w="12700">
            <a:solidFill>
              <a:srgbClr val="0891B2"/>
            </a:solidFill>
            <a:prstDash val="solid"/>
          </a:ln>
        </p:spPr>
      </p:sp>
      <p:sp>
        <p:nvSpPr>
          <p:cNvPr id="36" name="Text 34"/>
          <p:cNvSpPr/>
          <p:nvPr/>
        </p:nvSpPr>
        <p:spPr>
          <a:xfrm>
            <a:off x="4681728" y="2880360"/>
            <a:ext cx="347472" cy="329184"/>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04</a:t>
            </a:r>
            <a:endParaRPr lang="en-US" sz="900" dirty="0"/>
          </a:p>
        </p:txBody>
      </p:sp>
      <p:sp>
        <p:nvSpPr>
          <p:cNvPr id="37" name="Text 35"/>
          <p:cNvSpPr/>
          <p:nvPr/>
        </p:nvSpPr>
        <p:spPr>
          <a:xfrm>
            <a:off x="5084064" y="2871216"/>
            <a:ext cx="3657600" cy="201168"/>
          </a:xfrm>
          <a:prstGeom prst="rect">
            <a:avLst/>
          </a:prstGeom>
          <a:noFill/>
          <a:ln/>
        </p:spPr>
        <p:txBody>
          <a:bodyPr wrap="square" rtlCol="0" anchor="ctr"/>
          <a:lstStyle/>
          <a:p>
            <a:pPr indent="0" marL="0">
              <a:buNone/>
            </a:pPr>
            <a:r>
              <a:rPr lang="en-US" sz="950" b="1" dirty="0">
                <a:solidFill>
                  <a:srgbClr val="CADCFC"/>
                </a:solidFill>
                <a:latin typeface="Calibri" pitchFamily="34" charset="0"/>
                <a:ea typeface="Calibri" pitchFamily="34" charset="-122"/>
                <a:cs typeface="Calibri" pitchFamily="34" charset="-120"/>
              </a:rPr>
              <a:t>Engineer Knowledge Sharing</a:t>
            </a:r>
            <a:endParaRPr lang="en-US" sz="950" dirty="0"/>
          </a:p>
        </p:txBody>
      </p:sp>
      <p:sp>
        <p:nvSpPr>
          <p:cNvPr id="38" name="Text 36"/>
          <p:cNvSpPr/>
          <p:nvPr/>
        </p:nvSpPr>
        <p:spPr>
          <a:xfrm>
            <a:off x="5084064" y="3072384"/>
            <a:ext cx="3657600" cy="201168"/>
          </a:xfrm>
          <a:prstGeom prst="rect">
            <a:avLst/>
          </a:prstGeom>
          <a:noFill/>
          <a:ln/>
        </p:spPr>
        <p:txBody>
          <a:bodyPr wrap="square" rtlCol="0" anchor="ctr"/>
          <a:lstStyle/>
          <a:p>
            <a:pPr indent="0" marL="0">
              <a:buNone/>
            </a:pPr>
            <a:r>
              <a:rPr lang="en-US" sz="800" dirty="0">
                <a:solidFill>
                  <a:srgbClr val="7EA8C9"/>
                </a:solidFill>
                <a:latin typeface="Calibri" pitchFamily="34" charset="0"/>
                <a:ea typeface="Calibri" pitchFamily="34" charset="-122"/>
                <a:cs typeface="Calibri" pitchFamily="34" charset="-120"/>
              </a:rPr>
              <a:t>Build docs &amp; CoPs into workflow, not afterthoughts</a:t>
            </a:r>
            <a:endParaRPr lang="en-US" sz="800" dirty="0"/>
          </a:p>
        </p:txBody>
      </p:sp>
      <p:sp>
        <p:nvSpPr>
          <p:cNvPr id="39" name="Shape 37"/>
          <p:cNvSpPr/>
          <p:nvPr/>
        </p:nvSpPr>
        <p:spPr>
          <a:xfrm>
            <a:off x="4681728" y="3374136"/>
            <a:ext cx="347472" cy="347472"/>
          </a:xfrm>
          <a:prstGeom prst="ellipse">
            <a:avLst/>
          </a:prstGeom>
          <a:solidFill>
            <a:srgbClr val="0891B2"/>
          </a:solidFill>
          <a:ln w="12700">
            <a:solidFill>
              <a:srgbClr val="0891B2"/>
            </a:solidFill>
            <a:prstDash val="solid"/>
          </a:ln>
        </p:spPr>
      </p:sp>
      <p:sp>
        <p:nvSpPr>
          <p:cNvPr id="40" name="Text 38"/>
          <p:cNvSpPr/>
          <p:nvPr/>
        </p:nvSpPr>
        <p:spPr>
          <a:xfrm>
            <a:off x="4681728" y="3383280"/>
            <a:ext cx="347472" cy="329184"/>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05</a:t>
            </a:r>
            <a:endParaRPr lang="en-US" sz="900" dirty="0"/>
          </a:p>
        </p:txBody>
      </p:sp>
      <p:sp>
        <p:nvSpPr>
          <p:cNvPr id="41" name="Text 39"/>
          <p:cNvSpPr/>
          <p:nvPr/>
        </p:nvSpPr>
        <p:spPr>
          <a:xfrm>
            <a:off x="5084064" y="3374136"/>
            <a:ext cx="3657600" cy="201168"/>
          </a:xfrm>
          <a:prstGeom prst="rect">
            <a:avLst/>
          </a:prstGeom>
          <a:noFill/>
          <a:ln/>
        </p:spPr>
        <p:txBody>
          <a:bodyPr wrap="square" rtlCol="0" anchor="ctr"/>
          <a:lstStyle/>
          <a:p>
            <a:pPr indent="0" marL="0">
              <a:buNone/>
            </a:pPr>
            <a:r>
              <a:rPr lang="en-US" sz="950" b="1" dirty="0">
                <a:solidFill>
                  <a:srgbClr val="CADCFC"/>
                </a:solidFill>
                <a:latin typeface="Calibri" pitchFamily="34" charset="0"/>
                <a:ea typeface="Calibri" pitchFamily="34" charset="-122"/>
                <a:cs typeface="Calibri" pitchFamily="34" charset="-120"/>
              </a:rPr>
              <a:t>Use DORA as Your Compass</a:t>
            </a:r>
            <a:endParaRPr lang="en-US" sz="950" dirty="0"/>
          </a:p>
        </p:txBody>
      </p:sp>
      <p:sp>
        <p:nvSpPr>
          <p:cNvPr id="42" name="Text 40"/>
          <p:cNvSpPr/>
          <p:nvPr/>
        </p:nvSpPr>
        <p:spPr>
          <a:xfrm>
            <a:off x="5084064" y="3575304"/>
            <a:ext cx="3657600" cy="201168"/>
          </a:xfrm>
          <a:prstGeom prst="rect">
            <a:avLst/>
          </a:prstGeom>
          <a:noFill/>
          <a:ln/>
        </p:spPr>
        <p:txBody>
          <a:bodyPr wrap="square" rtlCol="0" anchor="ctr"/>
          <a:lstStyle/>
          <a:p>
            <a:pPr indent="0" marL="0">
              <a:buNone/>
            </a:pPr>
            <a:r>
              <a:rPr lang="en-US" sz="800" dirty="0">
                <a:solidFill>
                  <a:srgbClr val="7EA8C9"/>
                </a:solidFill>
                <a:latin typeface="Calibri" pitchFamily="34" charset="0"/>
                <a:ea typeface="Calibri" pitchFamily="34" charset="-122"/>
                <a:cs typeface="Calibri" pitchFamily="34" charset="-120"/>
              </a:rPr>
              <a:t>Supplement with team health measures; resist gaming</a:t>
            </a:r>
            <a:endParaRPr lang="en-US" sz="800" dirty="0"/>
          </a:p>
        </p:txBody>
      </p:sp>
      <p:sp>
        <p:nvSpPr>
          <p:cNvPr id="43" name="Shape 41"/>
          <p:cNvSpPr/>
          <p:nvPr/>
        </p:nvSpPr>
        <p:spPr>
          <a:xfrm>
            <a:off x="4681728" y="3877056"/>
            <a:ext cx="347472" cy="347472"/>
          </a:xfrm>
          <a:prstGeom prst="ellipse">
            <a:avLst/>
          </a:prstGeom>
          <a:solidFill>
            <a:srgbClr val="0891B2"/>
          </a:solidFill>
          <a:ln w="12700">
            <a:solidFill>
              <a:srgbClr val="0891B2"/>
            </a:solidFill>
            <a:prstDash val="solid"/>
          </a:ln>
        </p:spPr>
      </p:sp>
      <p:sp>
        <p:nvSpPr>
          <p:cNvPr id="44" name="Text 42"/>
          <p:cNvSpPr/>
          <p:nvPr/>
        </p:nvSpPr>
        <p:spPr>
          <a:xfrm>
            <a:off x="4681728" y="3886200"/>
            <a:ext cx="347472" cy="329184"/>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06</a:t>
            </a:r>
            <a:endParaRPr lang="en-US" sz="900" dirty="0"/>
          </a:p>
        </p:txBody>
      </p:sp>
      <p:sp>
        <p:nvSpPr>
          <p:cNvPr id="45" name="Text 43"/>
          <p:cNvSpPr/>
          <p:nvPr/>
        </p:nvSpPr>
        <p:spPr>
          <a:xfrm>
            <a:off x="5084064" y="3877056"/>
            <a:ext cx="3657600" cy="201168"/>
          </a:xfrm>
          <a:prstGeom prst="rect">
            <a:avLst/>
          </a:prstGeom>
          <a:noFill/>
          <a:ln/>
        </p:spPr>
        <p:txBody>
          <a:bodyPr wrap="square" rtlCol="0" anchor="ctr"/>
          <a:lstStyle/>
          <a:p>
            <a:pPr indent="0" marL="0">
              <a:buNone/>
            </a:pPr>
            <a:r>
              <a:rPr lang="en-US" sz="950" b="1" dirty="0">
                <a:solidFill>
                  <a:srgbClr val="CADCFC"/>
                </a:solidFill>
                <a:latin typeface="Calibri" pitchFamily="34" charset="0"/>
                <a:ea typeface="Calibri" pitchFamily="34" charset="-122"/>
                <a:cs typeface="Calibri" pitchFamily="34" charset="-120"/>
              </a:rPr>
              <a:t>Introduce AI Responsibly</a:t>
            </a:r>
            <a:endParaRPr lang="en-US" sz="950" dirty="0"/>
          </a:p>
        </p:txBody>
      </p:sp>
      <p:sp>
        <p:nvSpPr>
          <p:cNvPr id="46" name="Text 44"/>
          <p:cNvSpPr/>
          <p:nvPr/>
        </p:nvSpPr>
        <p:spPr>
          <a:xfrm>
            <a:off x="5084064" y="4078224"/>
            <a:ext cx="3657600" cy="201168"/>
          </a:xfrm>
          <a:prstGeom prst="rect">
            <a:avLst/>
          </a:prstGeom>
          <a:noFill/>
          <a:ln/>
        </p:spPr>
        <p:txBody>
          <a:bodyPr wrap="square" rtlCol="0" anchor="ctr"/>
          <a:lstStyle/>
          <a:p>
            <a:pPr indent="0" marL="0">
              <a:buNone/>
            </a:pPr>
            <a:r>
              <a:rPr lang="en-US" sz="800" dirty="0">
                <a:solidFill>
                  <a:srgbClr val="7EA8C9"/>
                </a:solidFill>
                <a:latin typeface="Calibri" pitchFamily="34" charset="0"/>
                <a:ea typeface="Calibri" pitchFamily="34" charset="-122"/>
                <a:cs typeface="Calibri" pitchFamily="34" charset="-120"/>
              </a:rPr>
              <a:t>Phased adoption; mandatory human review; security policy</a:t>
            </a:r>
            <a:endParaRPr lang="en-US" sz="800" dirty="0"/>
          </a:p>
        </p:txBody>
      </p:sp>
      <p:sp>
        <p:nvSpPr>
          <p:cNvPr id="47" name="Shape 45"/>
          <p:cNvSpPr/>
          <p:nvPr/>
        </p:nvSpPr>
        <p:spPr>
          <a:xfrm>
            <a:off x="4681728" y="4379976"/>
            <a:ext cx="347472" cy="347472"/>
          </a:xfrm>
          <a:prstGeom prst="ellipse">
            <a:avLst/>
          </a:prstGeom>
          <a:solidFill>
            <a:srgbClr val="0891B2"/>
          </a:solidFill>
          <a:ln w="12700">
            <a:solidFill>
              <a:srgbClr val="0891B2"/>
            </a:solidFill>
            <a:prstDash val="solid"/>
          </a:ln>
        </p:spPr>
      </p:sp>
      <p:sp>
        <p:nvSpPr>
          <p:cNvPr id="48" name="Text 46"/>
          <p:cNvSpPr/>
          <p:nvPr/>
        </p:nvSpPr>
        <p:spPr>
          <a:xfrm>
            <a:off x="4681728" y="4389120"/>
            <a:ext cx="347472" cy="329184"/>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07</a:t>
            </a:r>
            <a:endParaRPr lang="en-US" sz="900" dirty="0"/>
          </a:p>
        </p:txBody>
      </p:sp>
      <p:sp>
        <p:nvSpPr>
          <p:cNvPr id="49" name="Text 47"/>
          <p:cNvSpPr/>
          <p:nvPr/>
        </p:nvSpPr>
        <p:spPr>
          <a:xfrm>
            <a:off x="5084064" y="4379976"/>
            <a:ext cx="3657600" cy="201168"/>
          </a:xfrm>
          <a:prstGeom prst="rect">
            <a:avLst/>
          </a:prstGeom>
          <a:noFill/>
          <a:ln/>
        </p:spPr>
        <p:txBody>
          <a:bodyPr wrap="square" rtlCol="0" anchor="ctr"/>
          <a:lstStyle/>
          <a:p>
            <a:pPr indent="0" marL="0">
              <a:buNone/>
            </a:pPr>
            <a:r>
              <a:rPr lang="en-US" sz="950" b="1" dirty="0">
                <a:solidFill>
                  <a:srgbClr val="CADCFC"/>
                </a:solidFill>
                <a:latin typeface="Calibri" pitchFamily="34" charset="0"/>
                <a:ea typeface="Calibri" pitchFamily="34" charset="-122"/>
                <a:cs typeface="Calibri" pitchFamily="34" charset="-120"/>
              </a:rPr>
              <a:t>Invest in Continuous Learning</a:t>
            </a:r>
            <a:endParaRPr lang="en-US" sz="950" dirty="0"/>
          </a:p>
        </p:txBody>
      </p:sp>
      <p:sp>
        <p:nvSpPr>
          <p:cNvPr id="50" name="Text 48"/>
          <p:cNvSpPr/>
          <p:nvPr/>
        </p:nvSpPr>
        <p:spPr>
          <a:xfrm>
            <a:off x="5084064" y="4581144"/>
            <a:ext cx="3657600" cy="201168"/>
          </a:xfrm>
          <a:prstGeom prst="rect">
            <a:avLst/>
          </a:prstGeom>
          <a:noFill/>
          <a:ln/>
        </p:spPr>
        <p:txBody>
          <a:bodyPr wrap="square" rtlCol="0" anchor="ctr"/>
          <a:lstStyle/>
          <a:p>
            <a:pPr indent="0" marL="0">
              <a:buNone/>
            </a:pPr>
            <a:r>
              <a:rPr lang="en-US" sz="800" dirty="0">
                <a:solidFill>
                  <a:srgbClr val="7EA8C9"/>
                </a:solidFill>
                <a:latin typeface="Calibri" pitchFamily="34" charset="0"/>
                <a:ea typeface="Calibri" pitchFamily="34" charset="-122"/>
                <a:cs typeface="Calibri" pitchFamily="34" charset="-120"/>
              </a:rPr>
              <a:t>Retrospectives; guilds; protected time for development</a:t>
            </a:r>
            <a:endParaRPr lang="en-US" sz="800" dirty="0"/>
          </a:p>
        </p:txBody>
      </p:sp>
      <p:sp>
        <p:nvSpPr>
          <p:cNvPr id="51" name="Shape 49"/>
          <p:cNvSpPr/>
          <p:nvPr/>
        </p:nvSpPr>
        <p:spPr>
          <a:xfrm>
            <a:off x="347472" y="4773168"/>
            <a:ext cx="8449056" cy="347472"/>
          </a:xfrm>
          <a:prstGeom prst="rect">
            <a:avLst/>
          </a:prstGeom>
          <a:solidFill>
            <a:srgbClr val="0891B2"/>
          </a:solidFill>
          <a:ln w="12700">
            <a:solidFill>
              <a:srgbClr val="0891B2"/>
            </a:solidFill>
            <a:prstDash val="solid"/>
          </a:ln>
        </p:spPr>
      </p:sp>
      <p:sp>
        <p:nvSpPr>
          <p:cNvPr id="52" name="Text 50"/>
          <p:cNvSpPr/>
          <p:nvPr/>
        </p:nvSpPr>
        <p:spPr>
          <a:xfrm>
            <a:off x="457200" y="4791456"/>
            <a:ext cx="8229600" cy="292608"/>
          </a:xfrm>
          <a:prstGeom prst="rect">
            <a:avLst/>
          </a:prstGeom>
          <a:noFill/>
          <a:ln/>
        </p:spPr>
        <p:txBody>
          <a:bodyPr wrap="square" rtlCol="0" anchor="ctr"/>
          <a:lstStyle/>
          <a:p>
            <a:pPr algn="ctr" indent="0" marL="0">
              <a:buNone/>
            </a:pPr>
            <a:r>
              <a:rPr lang="en-US" sz="1000" b="1" i="1" dirty="0">
                <a:solidFill>
                  <a:srgbClr val="FFFFFF"/>
                </a:solidFill>
                <a:latin typeface="Calibri" pitchFamily="34" charset="0"/>
                <a:ea typeface="Calibri" pitchFamily="34" charset="-122"/>
                <a:cs typeface="Calibri" pitchFamily="34" charset="-120"/>
              </a:rPr>
              <a:t>High-performing software teams are built not on tooling alone, but on psychological safety, structural clarity, servant leadership, and a culture of continuous learning.</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91630"/>
        </a:solidFill>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0891B2"/>
          </a:solidFill>
          <a:ln w="12700">
            <a:solidFill>
              <a:srgbClr val="0891B2"/>
            </a:solidFill>
            <a:prstDash val="solid"/>
          </a:ln>
        </p:spPr>
      </p:sp>
      <p:sp>
        <p:nvSpPr>
          <p:cNvPr id="3" name="Text 1"/>
          <p:cNvSpPr/>
          <p:nvPr/>
        </p:nvSpPr>
        <p:spPr>
          <a:xfrm>
            <a:off x="640080" y="182880"/>
            <a:ext cx="822960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References</a:t>
            </a:r>
            <a:endParaRPr lang="en-US" sz="2800" dirty="0"/>
          </a:p>
        </p:txBody>
      </p:sp>
      <p:sp>
        <p:nvSpPr>
          <p:cNvPr id="4" name="Shape 2"/>
          <p:cNvSpPr/>
          <p:nvPr/>
        </p:nvSpPr>
        <p:spPr>
          <a:xfrm>
            <a:off x="640080" y="731520"/>
            <a:ext cx="8229600" cy="27432"/>
          </a:xfrm>
          <a:prstGeom prst="rect">
            <a:avLst/>
          </a:prstGeom>
          <a:solidFill>
            <a:srgbClr val="1A5296"/>
          </a:solidFill>
          <a:ln w="12700">
            <a:solidFill>
              <a:srgbClr val="1A5296"/>
            </a:solidFill>
            <a:prstDash val="solid"/>
          </a:ln>
        </p:spPr>
      </p:sp>
      <p:sp>
        <p:nvSpPr>
          <p:cNvPr id="5" name="Text 3"/>
          <p:cNvSpPr/>
          <p:nvPr/>
        </p:nvSpPr>
        <p:spPr>
          <a:xfrm>
            <a:off x="640080" y="868680"/>
            <a:ext cx="4069080" cy="256032"/>
          </a:xfrm>
          <a:prstGeom prst="rect">
            <a:avLst/>
          </a:prstGeom>
          <a:noFill/>
          <a:ln/>
        </p:spPr>
        <p:txBody>
          <a:bodyPr wrap="square" rtlCol="0" anchor="ctr"/>
          <a:lstStyle/>
          <a:p>
            <a:pPr indent="0" marL="0">
              <a:buNone/>
            </a:pPr>
            <a:r>
              <a:rPr lang="en-US" sz="750" dirty="0">
                <a:solidFill>
                  <a:srgbClr val="94B8D6"/>
                </a:solidFill>
                <a:latin typeface="Calibri" pitchFamily="34" charset="0"/>
                <a:ea typeface="Calibri" pitchFamily="34" charset="-122"/>
                <a:cs typeface="Calibri" pitchFamily="34" charset="-120"/>
              </a:rPr>
              <a:t>Atlassian. (n.d.-a). Think globally, code locally: The secret to distributed and remote teams. https://www.atlassian.com/agile/teams/remote-teams</a:t>
            </a:r>
            <a:endParaRPr lang="en-US" sz="750" dirty="0"/>
          </a:p>
        </p:txBody>
      </p:sp>
      <p:sp>
        <p:nvSpPr>
          <p:cNvPr id="6" name="Text 4"/>
          <p:cNvSpPr/>
          <p:nvPr/>
        </p:nvSpPr>
        <p:spPr>
          <a:xfrm>
            <a:off x="640080" y="1152144"/>
            <a:ext cx="4069080" cy="256032"/>
          </a:xfrm>
          <a:prstGeom prst="rect">
            <a:avLst/>
          </a:prstGeom>
          <a:noFill/>
          <a:ln/>
        </p:spPr>
        <p:txBody>
          <a:bodyPr wrap="square" rtlCol="0" anchor="ctr"/>
          <a:lstStyle/>
          <a:p>
            <a:pPr indent="0" marL="0">
              <a:buNone/>
            </a:pPr>
            <a:r>
              <a:rPr lang="en-US" sz="750" dirty="0">
                <a:solidFill>
                  <a:srgbClr val="94B8D6"/>
                </a:solidFill>
                <a:latin typeface="Calibri" pitchFamily="34" charset="0"/>
                <a:ea typeface="Calibri" pitchFamily="34" charset="-122"/>
                <a:cs typeface="Calibri" pitchFamily="34" charset="-120"/>
              </a:rPr>
              <a:t>Atlassian. (n.d.-b). 4 key DevOps metrics to know. https://www.atlassian.com/devops/frameworks/devops-metrics</a:t>
            </a:r>
            <a:endParaRPr lang="en-US" sz="750" dirty="0"/>
          </a:p>
        </p:txBody>
      </p:sp>
      <p:sp>
        <p:nvSpPr>
          <p:cNvPr id="7" name="Text 5"/>
          <p:cNvSpPr/>
          <p:nvPr/>
        </p:nvSpPr>
        <p:spPr>
          <a:xfrm>
            <a:off x="640080" y="1435608"/>
            <a:ext cx="4069080" cy="256032"/>
          </a:xfrm>
          <a:prstGeom prst="rect">
            <a:avLst/>
          </a:prstGeom>
          <a:noFill/>
          <a:ln/>
        </p:spPr>
        <p:txBody>
          <a:bodyPr wrap="square" rtlCol="0" anchor="ctr"/>
          <a:lstStyle/>
          <a:p>
            <a:pPr indent="0" marL="0">
              <a:buNone/>
            </a:pPr>
            <a:r>
              <a:rPr lang="en-US" sz="750" dirty="0">
                <a:solidFill>
                  <a:srgbClr val="94B8D6"/>
                </a:solidFill>
                <a:latin typeface="Calibri" pitchFamily="34" charset="0"/>
                <a:ea typeface="Calibri" pitchFamily="34" charset="-122"/>
                <a:cs typeface="Calibri" pitchFamily="34" charset="-120"/>
              </a:rPr>
              <a:t>Atlassian. (2021). Engineering handbook: A guide for autonomous teams. https://www.atlassian.com/engineering/handbook</a:t>
            </a:r>
            <a:endParaRPr lang="en-US" sz="750" dirty="0"/>
          </a:p>
        </p:txBody>
      </p:sp>
      <p:sp>
        <p:nvSpPr>
          <p:cNvPr id="8" name="Text 6"/>
          <p:cNvSpPr/>
          <p:nvPr/>
        </p:nvSpPr>
        <p:spPr>
          <a:xfrm>
            <a:off x="640080" y="1719072"/>
            <a:ext cx="4069080" cy="256032"/>
          </a:xfrm>
          <a:prstGeom prst="rect">
            <a:avLst/>
          </a:prstGeom>
          <a:noFill/>
          <a:ln/>
        </p:spPr>
        <p:txBody>
          <a:bodyPr wrap="square" rtlCol="0" anchor="ctr"/>
          <a:lstStyle/>
          <a:p>
            <a:pPr indent="0" marL="0">
              <a:buNone/>
            </a:pPr>
            <a:r>
              <a:rPr lang="en-US" sz="750" dirty="0">
                <a:solidFill>
                  <a:srgbClr val="94B8D6"/>
                </a:solidFill>
                <a:latin typeface="Calibri" pitchFamily="34" charset="0"/>
                <a:ea typeface="Calibri" pitchFamily="34" charset="-122"/>
                <a:cs typeface="Calibri" pitchFamily="34" charset="-120"/>
              </a:rPr>
              <a:t>DeMarco, T., &amp; Lister, T. (1987). Peopleware: Productive projects and teams. Dorset House.</a:t>
            </a:r>
            <a:endParaRPr lang="en-US" sz="750" dirty="0"/>
          </a:p>
        </p:txBody>
      </p:sp>
      <p:sp>
        <p:nvSpPr>
          <p:cNvPr id="9" name="Text 7"/>
          <p:cNvSpPr/>
          <p:nvPr/>
        </p:nvSpPr>
        <p:spPr>
          <a:xfrm>
            <a:off x="640080" y="2002536"/>
            <a:ext cx="4069080" cy="256032"/>
          </a:xfrm>
          <a:prstGeom prst="rect">
            <a:avLst/>
          </a:prstGeom>
          <a:noFill/>
          <a:ln/>
        </p:spPr>
        <p:txBody>
          <a:bodyPr wrap="square" rtlCol="0" anchor="ctr"/>
          <a:lstStyle/>
          <a:p>
            <a:pPr indent="0" marL="0">
              <a:buNone/>
            </a:pPr>
            <a:r>
              <a:rPr lang="en-US" sz="750" dirty="0">
                <a:solidFill>
                  <a:srgbClr val="94B8D6"/>
                </a:solidFill>
                <a:latin typeface="Calibri" pitchFamily="34" charset="0"/>
                <a:ea typeface="Calibri" pitchFamily="34" charset="-122"/>
                <a:cs typeface="Calibri" pitchFamily="34" charset="-120"/>
              </a:rPr>
              <a:t>Edmondson, A. C. (2018). The fearless organization. Wiley.</a:t>
            </a:r>
            <a:endParaRPr lang="en-US" sz="750" dirty="0"/>
          </a:p>
        </p:txBody>
      </p:sp>
      <p:sp>
        <p:nvSpPr>
          <p:cNvPr id="10" name="Text 8"/>
          <p:cNvSpPr/>
          <p:nvPr/>
        </p:nvSpPr>
        <p:spPr>
          <a:xfrm>
            <a:off x="640080" y="2286000"/>
            <a:ext cx="4069080" cy="256032"/>
          </a:xfrm>
          <a:prstGeom prst="rect">
            <a:avLst/>
          </a:prstGeom>
          <a:noFill/>
          <a:ln/>
        </p:spPr>
        <p:txBody>
          <a:bodyPr wrap="square" rtlCol="0" anchor="ctr"/>
          <a:lstStyle/>
          <a:p>
            <a:pPr indent="0" marL="0">
              <a:buNone/>
            </a:pPr>
            <a:r>
              <a:rPr lang="en-US" sz="750" dirty="0">
                <a:solidFill>
                  <a:srgbClr val="94B8D6"/>
                </a:solidFill>
                <a:latin typeface="Calibri" pitchFamily="34" charset="0"/>
                <a:ea typeface="Calibri" pitchFamily="34" charset="-122"/>
                <a:cs typeface="Calibri" pitchFamily="34" charset="-120"/>
              </a:rPr>
              <a:t>Forsgren, N., Humble, J., &amp; Kim, G. (2018). Accelerate: The science of lean software and DevOps. IT Revolution Press.</a:t>
            </a:r>
            <a:endParaRPr lang="en-US" sz="750" dirty="0"/>
          </a:p>
        </p:txBody>
      </p:sp>
      <p:sp>
        <p:nvSpPr>
          <p:cNvPr id="11" name="Text 9"/>
          <p:cNvSpPr/>
          <p:nvPr/>
        </p:nvSpPr>
        <p:spPr>
          <a:xfrm>
            <a:off x="640080" y="2569464"/>
            <a:ext cx="4069080" cy="256032"/>
          </a:xfrm>
          <a:prstGeom prst="rect">
            <a:avLst/>
          </a:prstGeom>
          <a:noFill/>
          <a:ln/>
        </p:spPr>
        <p:txBody>
          <a:bodyPr wrap="square" rtlCol="0" anchor="ctr"/>
          <a:lstStyle/>
          <a:p>
            <a:pPr indent="0" marL="0">
              <a:buNone/>
            </a:pPr>
            <a:r>
              <a:rPr lang="en-US" sz="750" dirty="0">
                <a:solidFill>
                  <a:srgbClr val="94B8D6"/>
                </a:solidFill>
                <a:latin typeface="Calibri" pitchFamily="34" charset="0"/>
                <a:ea typeface="Calibri" pitchFamily="34" charset="-122"/>
                <a:cs typeface="Calibri" pitchFamily="34" charset="-120"/>
              </a:rPr>
              <a:t>Fowler, M. (2023). Team Topologies. https://martinfowler.com/bliki/TeamTopologies.html</a:t>
            </a:r>
            <a:endParaRPr lang="en-US" sz="750" dirty="0"/>
          </a:p>
        </p:txBody>
      </p:sp>
      <p:sp>
        <p:nvSpPr>
          <p:cNvPr id="12" name="Text 10"/>
          <p:cNvSpPr/>
          <p:nvPr/>
        </p:nvSpPr>
        <p:spPr>
          <a:xfrm>
            <a:off x="640080" y="2852928"/>
            <a:ext cx="4069080" cy="256032"/>
          </a:xfrm>
          <a:prstGeom prst="rect">
            <a:avLst/>
          </a:prstGeom>
          <a:noFill/>
          <a:ln/>
        </p:spPr>
        <p:txBody>
          <a:bodyPr wrap="square" rtlCol="0" anchor="ctr"/>
          <a:lstStyle/>
          <a:p>
            <a:pPr indent="0" marL="0">
              <a:buNone/>
            </a:pPr>
            <a:r>
              <a:rPr lang="en-US" sz="750" dirty="0">
                <a:solidFill>
                  <a:srgbClr val="94B8D6"/>
                </a:solidFill>
                <a:latin typeface="Calibri" pitchFamily="34" charset="0"/>
                <a:ea typeface="Calibri" pitchFamily="34" charset="-122"/>
                <a:cs typeface="Calibri" pitchFamily="34" charset="-120"/>
              </a:rPr>
              <a:t>Google re:Work. (n.d.). Project Aristotle: Understand team effectiveness. https://rework.withgoogle.com/</a:t>
            </a:r>
            <a:endParaRPr lang="en-US" sz="750" dirty="0"/>
          </a:p>
        </p:txBody>
      </p:sp>
      <p:sp>
        <p:nvSpPr>
          <p:cNvPr id="13" name="Text 11"/>
          <p:cNvSpPr/>
          <p:nvPr/>
        </p:nvSpPr>
        <p:spPr>
          <a:xfrm>
            <a:off x="4846320" y="868680"/>
            <a:ext cx="4069080" cy="256032"/>
          </a:xfrm>
          <a:prstGeom prst="rect">
            <a:avLst/>
          </a:prstGeom>
          <a:noFill/>
          <a:ln/>
        </p:spPr>
        <p:txBody>
          <a:bodyPr wrap="square" rtlCol="0" anchor="ctr"/>
          <a:lstStyle/>
          <a:p>
            <a:pPr indent="0" marL="0">
              <a:buNone/>
            </a:pPr>
            <a:r>
              <a:rPr lang="en-US" sz="750" dirty="0">
                <a:solidFill>
                  <a:srgbClr val="94B8D6"/>
                </a:solidFill>
                <a:latin typeface="Calibri" pitchFamily="34" charset="0"/>
                <a:ea typeface="Calibri" pitchFamily="34" charset="-122"/>
                <a:cs typeface="Calibri" pitchFamily="34" charset="-120"/>
              </a:rPr>
              <a:t>Kim, G., Humble, J., Debois, P., &amp; Willis, J. (2016). The DevOps handbook. IT Revolution Press.</a:t>
            </a:r>
            <a:endParaRPr lang="en-US" sz="750" dirty="0"/>
          </a:p>
        </p:txBody>
      </p:sp>
      <p:sp>
        <p:nvSpPr>
          <p:cNvPr id="14" name="Text 12"/>
          <p:cNvSpPr/>
          <p:nvPr/>
        </p:nvSpPr>
        <p:spPr>
          <a:xfrm>
            <a:off x="4846320" y="1152144"/>
            <a:ext cx="4069080" cy="256032"/>
          </a:xfrm>
          <a:prstGeom prst="rect">
            <a:avLst/>
          </a:prstGeom>
          <a:noFill/>
          <a:ln/>
        </p:spPr>
        <p:txBody>
          <a:bodyPr wrap="square" rtlCol="0" anchor="ctr"/>
          <a:lstStyle/>
          <a:p>
            <a:pPr indent="0" marL="0">
              <a:buNone/>
            </a:pPr>
            <a:r>
              <a:rPr lang="en-US" sz="750" dirty="0">
                <a:solidFill>
                  <a:srgbClr val="94B8D6"/>
                </a:solidFill>
                <a:latin typeface="Calibri" pitchFamily="34" charset="0"/>
                <a:ea typeface="Calibri" pitchFamily="34" charset="-122"/>
                <a:cs typeface="Calibri" pitchFamily="34" charset="-120"/>
              </a:rPr>
              <a:t>Kniberg, H., &amp; Ivarsson, A. (2012). Scaling agile @ Spotify: Tribes, squads, chapters &amp; guilds. Crisp.</a:t>
            </a:r>
            <a:endParaRPr lang="en-US" sz="750" dirty="0"/>
          </a:p>
        </p:txBody>
      </p:sp>
      <p:sp>
        <p:nvSpPr>
          <p:cNvPr id="15" name="Text 13"/>
          <p:cNvSpPr/>
          <p:nvPr/>
        </p:nvSpPr>
        <p:spPr>
          <a:xfrm>
            <a:off x="4846320" y="1435608"/>
            <a:ext cx="4069080" cy="256032"/>
          </a:xfrm>
          <a:prstGeom prst="rect">
            <a:avLst/>
          </a:prstGeom>
          <a:noFill/>
          <a:ln/>
        </p:spPr>
        <p:txBody>
          <a:bodyPr wrap="square" rtlCol="0" anchor="ctr"/>
          <a:lstStyle/>
          <a:p>
            <a:pPr indent="0" marL="0">
              <a:buNone/>
            </a:pPr>
            <a:r>
              <a:rPr lang="en-US" sz="750" dirty="0">
                <a:solidFill>
                  <a:srgbClr val="94B8D6"/>
                </a:solidFill>
                <a:latin typeface="Calibri" pitchFamily="34" charset="0"/>
                <a:ea typeface="Calibri" pitchFamily="34" charset="-122"/>
                <a:cs typeface="Calibri" pitchFamily="34" charset="-120"/>
              </a:rPr>
              <a:t>Nonaka, I., &amp; Takeuchi, H. (1995). The knowledge-creating company. Oxford University Press.</a:t>
            </a:r>
            <a:endParaRPr lang="en-US" sz="750" dirty="0"/>
          </a:p>
        </p:txBody>
      </p:sp>
      <p:sp>
        <p:nvSpPr>
          <p:cNvPr id="16" name="Text 14"/>
          <p:cNvSpPr/>
          <p:nvPr/>
        </p:nvSpPr>
        <p:spPr>
          <a:xfrm>
            <a:off x="4846320" y="1719072"/>
            <a:ext cx="4069080" cy="256032"/>
          </a:xfrm>
          <a:prstGeom prst="rect">
            <a:avLst/>
          </a:prstGeom>
          <a:noFill/>
          <a:ln/>
        </p:spPr>
        <p:txBody>
          <a:bodyPr wrap="square" rtlCol="0" anchor="ctr"/>
          <a:lstStyle/>
          <a:p>
            <a:pPr indent="0" marL="0">
              <a:buNone/>
            </a:pPr>
            <a:r>
              <a:rPr lang="en-US" sz="750" dirty="0">
                <a:solidFill>
                  <a:srgbClr val="94B8D6"/>
                </a:solidFill>
                <a:latin typeface="Calibri" pitchFamily="34" charset="0"/>
                <a:ea typeface="Calibri" pitchFamily="34" charset="-122"/>
                <a:cs typeface="Calibri" pitchFamily="34" charset="-120"/>
              </a:rPr>
              <a:t>Noor, N. (2025). Generative AI-assisted software development teams (Master's thesis). LUT University.</a:t>
            </a:r>
            <a:endParaRPr lang="en-US" sz="750" dirty="0"/>
          </a:p>
        </p:txBody>
      </p:sp>
      <p:sp>
        <p:nvSpPr>
          <p:cNvPr id="17" name="Text 15"/>
          <p:cNvSpPr/>
          <p:nvPr/>
        </p:nvSpPr>
        <p:spPr>
          <a:xfrm>
            <a:off x="4846320" y="2002536"/>
            <a:ext cx="4069080" cy="256032"/>
          </a:xfrm>
          <a:prstGeom prst="rect">
            <a:avLst/>
          </a:prstGeom>
          <a:noFill/>
          <a:ln/>
        </p:spPr>
        <p:txBody>
          <a:bodyPr wrap="square" rtlCol="0" anchor="ctr"/>
          <a:lstStyle/>
          <a:p>
            <a:pPr indent="0" marL="0">
              <a:buNone/>
            </a:pPr>
            <a:r>
              <a:rPr lang="en-US" sz="750" dirty="0">
                <a:solidFill>
                  <a:srgbClr val="94B8D6"/>
                </a:solidFill>
                <a:latin typeface="Calibri" pitchFamily="34" charset="0"/>
                <a:ea typeface="Calibri" pitchFamily="34" charset="-122"/>
                <a:cs typeface="Calibri" pitchFamily="34" charset="-120"/>
              </a:rPr>
              <a:t>Raghavan, Y. (2023). The impact of GitHub Copilot on developer productivity: A case study. Harness.</a:t>
            </a:r>
            <a:endParaRPr lang="en-US" sz="750" dirty="0"/>
          </a:p>
        </p:txBody>
      </p:sp>
      <p:sp>
        <p:nvSpPr>
          <p:cNvPr id="18" name="Text 16"/>
          <p:cNvSpPr/>
          <p:nvPr/>
        </p:nvSpPr>
        <p:spPr>
          <a:xfrm>
            <a:off x="4846320" y="2286000"/>
            <a:ext cx="4069080" cy="256032"/>
          </a:xfrm>
          <a:prstGeom prst="rect">
            <a:avLst/>
          </a:prstGeom>
          <a:noFill/>
          <a:ln/>
        </p:spPr>
        <p:txBody>
          <a:bodyPr wrap="square" rtlCol="0" anchor="ctr"/>
          <a:lstStyle/>
          <a:p>
            <a:pPr indent="0" marL="0">
              <a:buNone/>
            </a:pPr>
            <a:r>
              <a:rPr lang="en-US" sz="750" dirty="0">
                <a:solidFill>
                  <a:srgbClr val="94B8D6"/>
                </a:solidFill>
                <a:latin typeface="Calibri" pitchFamily="34" charset="0"/>
                <a:ea typeface="Calibri" pitchFamily="34" charset="-122"/>
                <a:cs typeface="Calibri" pitchFamily="34" charset="-120"/>
              </a:rPr>
              <a:t>Skelton, M., &amp; Pais, M. (2019). Team topologies: Organizing business and technology teams for fast flow. IT Revolution Press.</a:t>
            </a:r>
            <a:endParaRPr lang="en-US" sz="750" dirty="0"/>
          </a:p>
        </p:txBody>
      </p:sp>
      <p:sp>
        <p:nvSpPr>
          <p:cNvPr id="19" name="Text 17"/>
          <p:cNvSpPr/>
          <p:nvPr/>
        </p:nvSpPr>
        <p:spPr>
          <a:xfrm>
            <a:off x="4846320" y="2569464"/>
            <a:ext cx="4069080" cy="256032"/>
          </a:xfrm>
          <a:prstGeom prst="rect">
            <a:avLst/>
          </a:prstGeom>
          <a:noFill/>
          <a:ln/>
        </p:spPr>
        <p:txBody>
          <a:bodyPr wrap="square" rtlCol="0" anchor="ctr"/>
          <a:lstStyle/>
          <a:p>
            <a:pPr indent="0" marL="0">
              <a:buNone/>
            </a:pPr>
            <a:r>
              <a:rPr lang="en-US" sz="750" dirty="0">
                <a:solidFill>
                  <a:srgbClr val="94B8D6"/>
                </a:solidFill>
                <a:latin typeface="Calibri" pitchFamily="34" charset="0"/>
                <a:ea typeface="Calibri" pitchFamily="34" charset="-122"/>
                <a:cs typeface="Calibri" pitchFamily="34" charset="-120"/>
              </a:rPr>
              <a:t>Sutherland, J., &amp; Schwaber, K. (2020). The Scrum Guide. Scrum.org. https://scrumguides.org/</a:t>
            </a:r>
            <a:endParaRPr lang="en-US" sz="750" dirty="0"/>
          </a:p>
        </p:txBody>
      </p:sp>
      <p:sp>
        <p:nvSpPr>
          <p:cNvPr id="20" name="Text 18"/>
          <p:cNvSpPr/>
          <p:nvPr/>
        </p:nvSpPr>
        <p:spPr>
          <a:xfrm>
            <a:off x="4846320" y="2852928"/>
            <a:ext cx="4069080" cy="256032"/>
          </a:xfrm>
          <a:prstGeom prst="rect">
            <a:avLst/>
          </a:prstGeom>
          <a:noFill/>
          <a:ln/>
        </p:spPr>
        <p:txBody>
          <a:bodyPr wrap="square" rtlCol="0" anchor="ctr"/>
          <a:lstStyle/>
          <a:p>
            <a:pPr indent="0" marL="0">
              <a:buNone/>
            </a:pPr>
            <a:r>
              <a:rPr lang="en-US" sz="750" dirty="0">
                <a:solidFill>
                  <a:srgbClr val="94B8D6"/>
                </a:solidFill>
                <a:latin typeface="Calibri" pitchFamily="34" charset="0"/>
                <a:ea typeface="Calibri" pitchFamily="34" charset="-122"/>
                <a:cs typeface="Calibri" pitchFamily="34" charset="-120"/>
              </a:rPr>
              <a:t>Winters, T., Manshreck, T., &amp; Wright, H. (2020). Software engineering at Google. O'Reilly.</a:t>
            </a:r>
            <a:endParaRPr lang="en-US" sz="750" dirty="0"/>
          </a:p>
        </p:txBody>
      </p:sp>
      <p:sp>
        <p:nvSpPr>
          <p:cNvPr id="21" name="Text 19"/>
          <p:cNvSpPr/>
          <p:nvPr/>
        </p:nvSpPr>
        <p:spPr>
          <a:xfrm>
            <a:off x="640080" y="4828032"/>
            <a:ext cx="8229600" cy="256032"/>
          </a:xfrm>
          <a:prstGeom prst="rect">
            <a:avLst/>
          </a:prstGeom>
          <a:noFill/>
          <a:ln/>
        </p:spPr>
        <p:txBody>
          <a:bodyPr wrap="square" rtlCol="0" anchor="ctr"/>
          <a:lstStyle/>
          <a:p>
            <a:pPr algn="ctr" indent="0" marL="0">
              <a:buNone/>
            </a:pPr>
            <a:r>
              <a:rPr lang="en-US" sz="900" i="1" dirty="0">
                <a:solidFill>
                  <a:srgbClr val="3A5A7A"/>
                </a:solidFill>
                <a:latin typeface="Calibri" pitchFamily="34" charset="0"/>
                <a:ea typeface="Calibri" pitchFamily="34" charset="-122"/>
                <a:cs typeface="Calibri" pitchFamily="34" charset="-120"/>
              </a:rPr>
              <a:t>APA 7th Edition Format  ·  Full references available in the submitted report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Management in Engineered Software Development</dc:title>
  <dc:subject>PptxGenJS Presentation</dc:subject>
  <dc:creator>Abdallah Yasser Assaker</dc:creator>
  <cp:lastModifiedBy>Abdallah Yasser Assaker</cp:lastModifiedBy>
  <cp:revision>1</cp:revision>
  <dcterms:created xsi:type="dcterms:W3CDTF">2026-05-24T09:40:49Z</dcterms:created>
  <dcterms:modified xsi:type="dcterms:W3CDTF">2026-05-24T09:40:49Z</dcterms:modified>
</cp:coreProperties>
</file>